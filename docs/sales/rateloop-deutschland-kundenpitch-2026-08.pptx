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f0ba4596d42d1" /><Relationship Type="http://schemas.openxmlformats.org/officeDocument/2006/relationships/extended-properties" Target="/docProps/app.xml" Id="R3faf601eda6b48ed" /><Relationship Type="http://schemas.openxmlformats.org/officeDocument/2006/relationships/officeDocument" Target="/ppt/presentation.xml" Id="R59c00255e757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ca20eeba9a482f"/>
  </p:sldMasterIdLst>
  <p:notesMasterIdLst>
    <p:notesMasterId xmlns:r="http://schemas.openxmlformats.org/officeDocument/2006/relationships" r:id="R7be372fb86974c16"/>
  </p:notesMasterIdLst>
  <p:sldIdLst>
    <p:sldId xmlns:r="http://schemas.openxmlformats.org/officeDocument/2006/relationships" id="256" r:id="Ra7fcb379a37a41cd"/>
    <p:sldId xmlns:r="http://schemas.openxmlformats.org/officeDocument/2006/relationships" id="257" r:id="R8eb2ea9a0bed4631"/>
    <p:sldId xmlns:r="http://schemas.openxmlformats.org/officeDocument/2006/relationships" id="258" r:id="R1771150e57d74ee3"/>
    <p:sldId xmlns:r="http://schemas.openxmlformats.org/officeDocument/2006/relationships" id="259" r:id="R6520c9bb85544656"/>
    <p:sldId xmlns:r="http://schemas.openxmlformats.org/officeDocument/2006/relationships" id="260" r:id="R0c1ce4f445f44ad8"/>
    <p:sldId xmlns:r="http://schemas.openxmlformats.org/officeDocument/2006/relationships" id="261" r:id="R596559657c65446c"/>
    <p:sldId xmlns:r="http://schemas.openxmlformats.org/officeDocument/2006/relationships" id="262" r:id="R2998d2a155cb4905"/>
    <p:sldId xmlns:r="http://schemas.openxmlformats.org/officeDocument/2006/relationships" id="263" r:id="R2ce50a619a1a4df6"/>
    <p:sldId xmlns:r="http://schemas.openxmlformats.org/officeDocument/2006/relationships" id="264" r:id="Rf245587370d740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728ae443c4f3d" /><Relationship Type="http://schemas.openxmlformats.org/officeDocument/2006/relationships/slideMaster" Target="/ppt/slideMasters/slideMaster1.xml" Id="Raeca20eeba9a482f" /><Relationship Type="http://schemas.openxmlformats.org/officeDocument/2006/relationships/notesMaster" Target="/ppt/notesMasters/notesMaster1.xml" Id="R7be372fb86974c16" /><Relationship Type="http://schemas.openxmlformats.org/officeDocument/2006/relationships/presProps" Target="/ppt/presProps.xml" Id="R86d6465bbbc74fe3" /><Relationship Type="http://schemas.openxmlformats.org/officeDocument/2006/relationships/tableStyles" Target="/ppt/tableStyles.xml" Id="R8dee717165434b94" /><Relationship Type="http://schemas.openxmlformats.org/officeDocument/2006/relationships/slide" Target="/ppt/slides/slide1.xml" Id="Ra7fcb379a37a41cd" /><Relationship Type="http://schemas.openxmlformats.org/officeDocument/2006/relationships/slide" Target="/ppt/slides/slide2.xml" Id="R8eb2ea9a0bed4631" /><Relationship Type="http://schemas.openxmlformats.org/officeDocument/2006/relationships/slide" Target="/ppt/slides/slide3.xml" Id="R1771150e57d74ee3" /><Relationship Type="http://schemas.openxmlformats.org/officeDocument/2006/relationships/slide" Target="/ppt/slides/slide4.xml" Id="R6520c9bb85544656" /><Relationship Type="http://schemas.openxmlformats.org/officeDocument/2006/relationships/slide" Target="/ppt/slides/slide5.xml" Id="R0c1ce4f445f44ad8" /><Relationship Type="http://schemas.openxmlformats.org/officeDocument/2006/relationships/slide" Target="/ppt/slides/slide6.xml" Id="R596559657c65446c" /><Relationship Type="http://schemas.openxmlformats.org/officeDocument/2006/relationships/slide" Target="/ppt/slides/slide7.xml" Id="R2998d2a155cb4905" /><Relationship Type="http://schemas.openxmlformats.org/officeDocument/2006/relationships/slide" Target="/ppt/slides/slide8.xml" Id="R2ce50a619a1a4df6" /><Relationship Type="http://schemas.openxmlformats.org/officeDocument/2006/relationships/slide" Target="/ppt/slides/slide9.xml" Id="Rf245587370d7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89435fceac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7bb6a9d8940e9" /><Relationship Type="http://schemas.openxmlformats.org/officeDocument/2006/relationships/notesMaster" Target="/ppt/notesMasters/notesMaster1.xml" Id="R902185f87076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0b143e09f14f55" /><Relationship Type="http://schemas.openxmlformats.org/officeDocument/2006/relationships/notesMaster" Target="/ppt/notesMasters/notesMaster1.xml" Id="Rfe3cc53027be42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80bfb7f9ca4d0d" /><Relationship Type="http://schemas.openxmlformats.org/officeDocument/2006/relationships/notesMaster" Target="/ppt/notesMasters/notesMaster1.xml" Id="R3f2c71eb280f4f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8330bf687745fa" /><Relationship Type="http://schemas.openxmlformats.org/officeDocument/2006/relationships/notesMaster" Target="/ppt/notesMasters/notesMaster1.xml" Id="R6dfe96ed747548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29077630544e9" /><Relationship Type="http://schemas.openxmlformats.org/officeDocument/2006/relationships/notesMaster" Target="/ppt/notesMasters/notesMaster1.xml" Id="R8e6cd916b5b3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160725c5ae4f2d" /><Relationship Type="http://schemas.openxmlformats.org/officeDocument/2006/relationships/notesMaster" Target="/ppt/notesMasters/notesMaster1.xml" Id="R90759129b87043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ba6bdce504e46" /><Relationship Type="http://schemas.openxmlformats.org/officeDocument/2006/relationships/notesMaster" Target="/ppt/notesMasters/notesMaster1.xml" Id="R1f2069dad697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b72f90b1b34576" /><Relationship Type="http://schemas.openxmlformats.org/officeDocument/2006/relationships/notesMaster" Target="/ppt/notesMasters/notesMaster1.xml" Id="R741c01a803ac4e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5d1fb5c77948ff" /><Relationship Type="http://schemas.openxmlformats.org/officeDocument/2006/relationships/notesMaster" Target="/ppt/notesMasters/notesMaster1.xml" Id="R2cbc2ea0cb0c4e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Starten Sie mit dem Kontrollproblem des Kunden, nicht mit Regulierung. Fragen Sie nach einem konkreten KI-Workflow, in dem ein Mensch bereits freigibt, überarbeitet oder stoppt.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https://rateloop-tokenless.vercel.app/docs/human-oversight</a:t>
            </a:r>
          </a:p>
          <a:p xmlns:a="http://schemas.openxmlformats.org/drawingml/2006/main">
            <a:r>
              <a:t>- https://rateloop-tokenless.vercel.app/docs/evidence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ersten beiden Zahlen schaffen Relevanz. Die dritte ist bewusst eine Diagnosefrage, keine Marktstatistik: Wenn die Antwort nein lautet, ist der operative Bedarf sichtbar.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https://www.destatis.de/DE/Themen/Branchen-Unternehmen/Unternehmen/IKT-in-Unternehmen-IKT-Branche/Tabellen/ikti-unternehmen-kuenstliche-intelligenz.html</a:t>
            </a:r>
          </a:p>
          <a:p xmlns:a="http://schemas.openxmlformats.org/drawingml/2006/main">
            <a:r>
              <a:t>- https://www.kfw.de/%C3%9Cber-die-KfW/Newsroom/Aktuelles/Pressemitteilungen-Details_880896.html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Bitten Sie den Kunden, die linke Seite mit seinem heutigen Prozess zu füllen. RateLoop ersetzt nicht den verantwortlichen Menschen; es strukturiert den bereits nötigen Entscheidungsmoment.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https://rateloop-tokenless.vercel.app/docs/human-oversight</a:t>
            </a:r>
          </a:p>
          <a:p xmlns:a="http://schemas.openxmlformats.org/drawingml/2006/main">
            <a:r>
              <a:t>- https://rateloop-tokenless.vercel.app/docs/evidence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Entscheidungsautorität bleibt beim Kunden. RateLoop dokumentiert den vorher definierten Prüfpfad und liefert das Ergebnis in einer überprüfbaren Form aus.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https://rateloop-tokenless.vercel.app/docs/human-oversight</a:t>
            </a:r>
          </a:p>
          <a:p xmlns:a="http://schemas.openxmlformats.org/drawingml/2006/main">
            <a:r>
              <a:t>- https://rateloop-tokenless.vercel.app/docs/evidence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Vermeiden Sie das Wort Zertifikat. Verkauft wird ein nachvollziehbares Evidenzpaket, keine allgemeine Konformitäts- oder Sicherheitsgarantie.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https://rateloop-tokenless.vercel.app/docs/evidence</a:t>
            </a:r>
          </a:p>
          <a:p xmlns:a="http://schemas.openxmlformats.org/drawingml/2006/main">
            <a:r>
              <a:t>- https://www.bsi.bund.de/SharedDocs/Downloads/DE/BSI/KI/Generative_KI-Modelle.pdf?__blob=publicationFile&amp;v=7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ist ein Vertrauensinstrument. Wenn Beschäftigtendaten oder mögliche Leistungskontrolle im Scope liegen, müssen Datenschutz und Betriebsrat früh eingebunden werden.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https://eur-lex.europa.eu/legal-content/EN/TXT/?uri=CELEX%3A32026R1744</a:t>
            </a:r>
          </a:p>
          <a:p xmlns:a="http://schemas.openxmlformats.org/drawingml/2006/main">
            <a:r>
              <a:t>- https://www.gesetze-im-internet.de/betrvg/__87.html</a:t>
            </a:r>
          </a:p>
          <a:p xmlns:a="http://schemas.openxmlformats.org/drawingml/2006/main">
            <a:r>
              <a:t>- https://www.edpb.europa.eu/documents/guideline/automated-decision-making-and-profiling_en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Preis ist eine kommerzielle Empfehlung, kein bereits öffentlich validierter Listenpreis. Bei komplexem oder reguliertem Scope startet der Pilot ab 7.500 Euro netto.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https://langfuse.com/pricing</a:t>
            </a:r>
          </a:p>
          <a:p xmlns:a="http://schemas.openxmlformats.org/drawingml/2006/main">
            <a:r>
              <a:t>- https://www.braintrust.dev/pricing</a:t>
            </a:r>
          </a:p>
          <a:p xmlns:a="http://schemas.openxmlformats.org/drawingml/2006/main">
            <a:r>
              <a:t>- https://www.confident-ai.com/pricing</a:t>
            </a:r>
          </a:p>
          <a:p xmlns:a="http://schemas.openxmlformats.org/drawingml/2006/main">
            <a:r>
              <a:t>- Internal RateLoop commercial recommendation, 4 Aug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Fügen Sie je nach Workflow Qualitäts- oder Override-Metriken hinzu, aber halten Sie den Pilot auf drei bis fünf Entscheidungsgrößen begrenzt.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https://rateloop-tokenless.vercel.app/docs/evidence</a:t>
            </a:r>
          </a:p>
          <a:p xmlns:a="http://schemas.openxmlformats.org/drawingml/2006/main">
            <a:r>
              <a:t>- https://rateloop-tokenless.vercel.app/docs/human-oversight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Schließen Sie mit einer konkreten Scoping-Frage: Welcher Workflow hat heute bereits einen menschlichen Entscheidungspunkt, ein benanntes Risiko und genug Volumen für vier Wochen kontrollierten Betrieb?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https://rateloop-tokenless.vercel.app/docs/human-oversight</a:t>
            </a:r>
          </a:p>
          <a:p xmlns:a="http://schemas.openxmlformats.org/drawingml/2006/main">
            <a:r>
              <a:t>- Internal RateLoop Founding Assurance Pilot recommendation, 4 Aug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a9811ff1a4c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394a65e22d4a39" /><Relationship Type="http://schemas.openxmlformats.org/officeDocument/2006/relationships/slideLayout" Target="/ppt/slideLayouts/slideLayout1.xml" Id="R03ef4e228a3e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ef4e228a3e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931eb2e24fa8" /><Relationship Type="http://schemas.openxmlformats.org/officeDocument/2006/relationships/notesSlide" Target="/ppt/notesSlides/notesSlide1.xml" Id="R26ab770ddb4f44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3ea9db68948df" /><Relationship Type="http://schemas.openxmlformats.org/officeDocument/2006/relationships/notesSlide" Target="/ppt/notesSlides/notesSlide2.xml" Id="R0ece00f9af9a4f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8b09eae6a4440" /><Relationship Type="http://schemas.openxmlformats.org/officeDocument/2006/relationships/notesSlide" Target="/ppt/notesSlides/notesSlide3.xml" Id="Rb395f3c17e4e42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4b80543f849b5" /><Relationship Type="http://schemas.openxmlformats.org/officeDocument/2006/relationships/notesSlide" Target="/ppt/notesSlides/notesSlide4.xml" Id="Rb0ac9cbc629c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92d96cee4c7b" /><Relationship Type="http://schemas.openxmlformats.org/officeDocument/2006/relationships/notesSlide" Target="/ppt/notesSlides/notesSlide5.xml" Id="Rea9060b7831647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27ba9cbbb43ca" /><Relationship Type="http://schemas.openxmlformats.org/officeDocument/2006/relationships/notesSlide" Target="/ppt/notesSlides/notesSlide6.xml" Id="Rbc4f9385468f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2d5d19d2d4210" /><Relationship Type="http://schemas.openxmlformats.org/officeDocument/2006/relationships/notesSlide" Target="/ppt/notesSlides/notesSlide7.xml" Id="Re8978387c0ec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0db3ba98f4f24" /><Relationship Type="http://schemas.openxmlformats.org/officeDocument/2006/relationships/notesSlide" Target="/ppt/notesSlides/notesSlide8.xml" Id="R9d90eaa77b7841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ddaf3280d4325" /><Relationship Type="http://schemas.openxmlformats.org/officeDocument/2006/relationships/notesSlide" Target="/ppt/notesSlides/notesSlide9.xml" Id="R9c8a11cc400149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A73A7-1FE7-4B9C-A0D2-68873AA8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30422-273A-4E78-99E1-729191DC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A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7B7D5-689B-4564-8083-87C78C3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9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87AFB-B96D-41B4-AABF-FF5EF75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3EE38-7C86-4DE3-ABA9-1F9E769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7000875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Menschliche KI-Prüfung,
die sich nachweisen lässt.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42D1B-99A8-48EA-B106-D8C5F19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6353175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macht aus verteilten Freigaben einen klaren Entscheidungs- und Evidenzpfad.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F5FCE-9FEF-4E3A-BB53-81C6ADD6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3200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9090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B5232-9EDC-41CF-AA3B-D7411E8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28194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Ein Workflow. Sechs Wochen.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88F52-4947-4204-9621-6ABFAC18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19225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A8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5E46A-38E6-48F9-AC3A-2C8BBE36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A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B7304-2DE9-49AC-99BC-AC27289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C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BD27D-8AE1-4D4E-9416-CF169D9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62075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C9B10-7DEB-4947-BEA3-A366AE17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DCC87-E83F-40BE-BED4-17A674B7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5375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EC22E-4A80-4113-AF6F-146E95A2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9A35-E1F7-420C-9D0E-251079F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AUSGANGSLAGE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6E370-E270-42FF-B754-FC093B4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KI wird produktiv. Die Freigabe bleibt oft unsichtbar.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6797F-EBA5-4ADA-B743-79893D2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949E6-41AE-46C9-8AD3-1895534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B0050-98A1-4302-A191-DEE411E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Die deutsche Mittelstandsrealität ist nicht zu wenig KI – sondern zu wenig belastbare Entscheidungsevidenz.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FCBA1-67C0-4C91-B548-837C8C17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161DF-7166-416C-A261-F90DDD95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766CA-EA66-4B9B-8D99-323CF56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8497E-1BED-4028-87F7-6E75D46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14650"/>
            <a:ext cx="2933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36 %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FCAE9-5C73-41AB-8CD1-E8D671B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05250"/>
            <a:ext cx="29146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KI-Nutzung
in Unternehmen mit
50–249 Beschäftigten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C27EA-551C-483F-A67D-B035F66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14650"/>
            <a:ext cx="2933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BA9D"/>
                </a:solidFill>
                <a:latin typeface="Helvetica Neue"/>
                <a:ea typeface="Helvetica Neue"/>
                <a:cs typeface="Helvetica Neue"/>
              </a:defRPr>
            </a:pPr>
            <a:r>
              <a:t>57 %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5BF56-EC2C-45AE-8C24-498C1D3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9146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KI-Nutzung
ab 250 Beschäftigten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5A4DC-8F35-48D8-8B2F-DE8414D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14650"/>
            <a:ext cx="2933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10 Min.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34B4A-8521-4567-88A1-5EA1A4D2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05250"/>
            <a:ext cx="29146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Können Sie einen
strittigen Fall so schnell
rekonstruieren?</a:t>
            </a:r>
          </a:p>
        </p:txBody>
      </p:sp>
    </p:spTree>
    <p:extLst>
      <p:ext uri="{BB962C8B-B14F-4D97-AF65-F5344CB8AC3E}">
        <p14:creationId xmlns:p14="http://schemas.microsoft.com/office/powerpoint/2010/main" val="16416165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E46D4-254F-43AF-8382-BF05939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09260-FB9E-44C3-99AB-60A4D66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VORHER / NACHHER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04F0B-072B-4E4E-8395-92CB1CC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Von Chat-Nachrichten zu einem belastbaren Prüfpfad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273F0-2513-4F67-8855-3EA2681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49428-CB50-4E9D-924D-5E8E2CC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E1CF7-84EA-476F-ADF0-5F0B9C53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53149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A88C1-F26B-492B-ABDE-4510C75C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66900"/>
            <a:ext cx="56959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9090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B28B7-8DF3-4576-817A-4083242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HEUTE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57FFD-0B59-426C-8DC3-E8A6BBF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32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Verteilt und schwer belegbar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AA2C4-169D-4964-A3B7-6138330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B6296-EFAB-4E68-BFAF-0526564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52775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Freigaben in Slack, E-Mail oder Tabellen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E4460-D968-44C7-A543-ED74E74E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F0990-5665-416C-B5EE-61D70D71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9525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Kriterien variieren je Person und Fall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976A4-6EC4-498E-9BF7-57E8D809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2E9D9-A47C-4840-A895-2137D734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86275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Kontext und Gründe fehlen beim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51A2B-A174-4F5D-9675-D653C0D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MIT RATELOOP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4A751-AE1A-4E85-9959-C9ECEDB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Eine Entscheidungskette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7A684-1B4B-4DEB-951F-F6682EA1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A8D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12D7B-3C77-48DB-A531-1434A2F8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52775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Policy und Review-Frage sind explizit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23A58-60FD-4144-82FD-658C6F5B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9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3ADFB-C357-46A1-BDF7-B8F49514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9525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Urteile werden getrennt erfasst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F6EC7-3066-4708-B9FC-B1F862F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81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A43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7CAF9-FD23-4A07-822B-4ECDCAB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86275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Go, Überarbeiten oder Stop bleibt nachvollziehbar</a:t>
            </a:r>
          </a:p>
        </p:txBody>
      </p:sp>
    </p:spTree>
    <p:extLst>
      <p:ext uri="{BB962C8B-B14F-4D97-AF65-F5344CB8AC3E}">
        <p14:creationId xmlns:p14="http://schemas.microsoft.com/office/powerpoint/2010/main" val="7462777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1B4BC-D2A3-4C9B-9179-C4AED8F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D2A39-5A3F-4F9E-BC79-3923D48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ABLAUF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1F1DF-8093-4440-8C32-A60C7E6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Ein kurzer Prozess, der vor der Ausgabe entscheidet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628E0-5338-44B3-837E-DDD76BED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DF39-879D-471D-B099-4635F48F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914400" y="3209925"/>
            <a:ext cx="851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919D2-6D48-4910-83EA-71CA568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A8D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99FBC-4C07-4A99-A74A-B2B9845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9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37B4A-FA2D-449F-B859-F8FB5A55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A4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FD47B-7869-4E2A-A8EF-1AA5F1AA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337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31EAA-79F2-4CCF-80A3-3BDFB3C3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8D205-6C0E-4889-98C7-FB385C98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05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Policy setzen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A7718-2420-4613-B511-537C8015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305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Kriterien, Optionen und
Eskalation festlegen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5BFCE-C0F4-4FB0-B19D-2AE15594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BA9D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DD079-F4AE-416A-8F33-18D6767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2305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Getrennt prüfen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E1EE8-7086-476E-80AB-A2D68A76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2305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Benannte Menschen urteilen
unabhängig voneinander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AC176-35A3-458F-A79C-0FAD863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57C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0824B-47A5-4851-8630-328EF44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2305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Entscheiden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00C07-1555-4360-86D1-C0216A6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2305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Go, Überarbeiten oder Stop
mit klarer Autorität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A1549-E7F7-41E2-A5DA-3B1B409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BE9A7-DE89-4466-A95A-A39D9489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81400"/>
            <a:ext cx="2305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Evidenz liefern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05F43-0CF2-4F3F-8326-EF47BFB3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2305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Signiertes Paket für
Rekonstruktion und Prüfung</a:t>
            </a:r>
          </a:p>
        </p:txBody>
      </p:sp>
    </p:spTree>
    <p:extLst>
      <p:ext uri="{BB962C8B-B14F-4D97-AF65-F5344CB8AC3E}">
        <p14:creationId xmlns:p14="http://schemas.microsoft.com/office/powerpoint/2010/main" val="19672369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3B932-03E1-4907-BFF4-881060B6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20D2B-EDCB-4095-89EB-2189CABA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EVIDENZPAKET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742BE-1A1D-488C-AB09-A934ED4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Das Ergebnis ist mehr als ein Häkchen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A02E-C7D1-4901-AAB6-BE564F16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01515-5AFA-44D7-85E9-0665850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4DF5E-10BF-4211-BCDC-D998FD2E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00200"/>
            <a:ext cx="1057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Jede Freigabe soll später von einer skeptischen dritten Partei verstanden werden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1FD13-57A7-4359-A666-7F3785B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527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F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100D3-26C7-441D-90C7-778666A1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527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5BCDC-88D0-4672-AAFD-0455353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04DFC-D848-487D-8D9D-0280BAD0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57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5E11D-CAB7-4E70-AB89-A96A7E6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291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Entscheidung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25277-C1E0-433F-8774-4CA93DC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29051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Go, Überarbeiten oder Stop – mit Zeitpunkt und Workflow-Bezug.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1FFD8-1251-41AF-A495-5F2C6D9F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A9D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7C220-951A-4130-B0C8-B3E3E65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291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Begründung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8F9F9-01D1-4041-B3EF-337CFCF2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9051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Angewandte Kriterien, getrennte Urteile und relevante Eskalationen.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3379B-256C-4950-86EE-F37A476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8424A-1D5C-467F-8510-214ECA1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76600"/>
            <a:ext cx="291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Nachweis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9AE83-79EB-420B-9326-CDC32246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76675"/>
            <a:ext cx="29051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Signiertes, exportierbares Paket für interne Prüfung oder Kundennachfrage.</a:t>
            </a:r>
          </a:p>
        </p:txBody>
      </p:sp>
    </p:spTree>
    <p:extLst>
      <p:ext uri="{BB962C8B-B14F-4D97-AF65-F5344CB8AC3E}">
        <p14:creationId xmlns:p14="http://schemas.microsoft.com/office/powerpoint/2010/main" val="3840848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207DB-6517-4CAD-89B5-4A21E316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EDB7D-5C20-4A44-93A2-16B6FA3A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VERTRAUEN BEGINNT MIT GRENZEN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24BB6-D897-4AB2-9588-CC0D5D9D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Was RateLoop heute liefert – und was nicht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1937F-3DAF-45AA-8149-58CAB186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7ADA9-BA38-4C97-A02B-A25CE6D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E8213-431E-4730-8C83-75A4D4F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7850"/>
            <a:ext cx="53149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AF7F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91C8A-E63C-42F2-88B3-CA81AAD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47850"/>
            <a:ext cx="56959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5E8F4-C67E-4294-BB6F-A863BF4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LIEFERT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144D8-194E-4F4A-9293-11B9FB9B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Operative Human Assurance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C6C3A-A9CD-4181-BC6A-BFA6F0AA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A8D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F04EA-63CF-4B97-BCCB-FA706F25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575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Policy-basierte Review-Schritte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9ADC4-3C44-468F-9236-190F2D7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9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ACB2B-19C3-40E8-872D-7BEF04A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Getrennte Urteile benannter Prüfer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A6BA0-A51F-417C-AE25-8281295D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A4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E5370-FBD8-4B95-A39E-3C4480AC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005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Go / Überarbeiten / 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16A72-7620-4884-A54D-CC855F8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FE6B3-E047-4450-979C-0D6D5F5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720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Rekonstruierbares Evidenzpaket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9B4AD-D2F4-46FC-A701-B75533A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LIEFERT NICHT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704AE-7D37-4FEA-BD12-438FF28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Keine pauschale Garantie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2FE86-0BA3-4708-A229-6CFE9C3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04B68-DBD2-4D66-9E8F-CEDA834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57550"/>
            <a:ext cx="4476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Kein AI-Act-Zertifikat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FC882-16C4-4EC8-A99C-5BA234B6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B337E-B40C-43E0-B323-EB449F11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29050"/>
            <a:ext cx="4476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Kein Audit oder Rechtsgutachten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50634-6FA1-4FC2-8EDA-63A7D7A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B4B87-8201-4C5C-8B6D-B799088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00550"/>
            <a:ext cx="4476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Keine Sicherheits- oder Fehlerfreiheit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7B872-34FF-45C6-B51F-001F085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6D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D7D07-46F6-4FFB-96A3-305B3EE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972050"/>
            <a:ext cx="4476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Kein Ersatz für Datenschutz oder Betriebsrat</a:t>
            </a:r>
          </a:p>
        </p:txBody>
      </p:sp>
    </p:spTree>
    <p:extLst>
      <p:ext uri="{BB962C8B-B14F-4D97-AF65-F5344CB8AC3E}">
        <p14:creationId xmlns:p14="http://schemas.microsoft.com/office/powerpoint/2010/main" val="1311322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3F727-D605-4C5D-BF65-ED04B01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A2739-6D82-4209-A8E1-52AF91E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FOUNDING ASSURANCE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F1CA-22BE-446B-B55A-2C9BC162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Der kleinste belastbare Einstieg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1D753-EF64-4E43-BCB8-67C2E624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FB4CB-2205-4532-8DFF-289FDAC3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8D3F-A3D1-45B2-9352-551AC01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Kein Großprojekt: ein kontrollierter Workflow mit klarer Erfolgsmessung.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9F59A-AF22-405A-BC7C-41BF6CB5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5745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2E53A-2B89-438C-A609-9464A951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9090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A6EFB-E3DA-422F-95A9-A9E97FC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5623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42A4B-2BEA-4AE9-AC5C-D681E8A6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13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6 WOCHEN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BF94C-7B9B-41EF-BE9F-1108CDD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2914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Fester Zeitrahmen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6EC73-7E30-4D0B-A6AD-15B6208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81450"/>
            <a:ext cx="2905125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Zwei Wochen Einrichtung, vier Wochen kontrollierter Betrieb.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3EAC2-B251-4E9F-A6BF-33877D4C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A9D"/>
                </a:solidFill>
                <a:latin typeface="Helvetica Neue"/>
                <a:ea typeface="Helvetica Neue"/>
                <a:cs typeface="Helvetica Neue"/>
              </a:defRPr>
            </a:pPr>
            <a:r>
              <a:t>1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F5C7A-0D4E-4AF7-8C6C-776FB3E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2914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Echter Use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678D3-765E-44C9-A12A-954936B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81450"/>
            <a:ext cx="29051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1D3D5"/>
                </a:solidFill>
                <a:latin typeface="Helvetica Neue"/>
                <a:ea typeface="Helvetica Neue"/>
                <a:cs typeface="Helvetica Neue"/>
              </a:defRPr>
            </a:pPr>
            <a:r>
              <a:t>Eine Review-Frage, benannte Entscheider und vereinbarte Datenklassifikation.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D2847-BE49-45CF-A3EC-17D4FD4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247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€ 2.500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9CF7E-46C7-4CFF-907C-070DD81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718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netto, fixer Pilotpreis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02C6A-9AEF-4A38-B3CB-538F6633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81450"/>
            <a:ext cx="29051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50 % anrechenbar bei Jahresvertrag innerhalb von 30 Tagen.</a:t>
            </a:r>
          </a:p>
        </p:txBody>
      </p:sp>
    </p:spTree>
    <p:extLst>
      <p:ext uri="{BB962C8B-B14F-4D97-AF65-F5344CB8AC3E}">
        <p14:creationId xmlns:p14="http://schemas.microsoft.com/office/powerpoint/2010/main" val="123915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D0FFC-8912-4AEC-9000-810A59D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0DA7F-C243-4D89-88BD-595D776E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04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ERFOLGSMESSUNG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D5D96-7FC9-46CE-B569-DE86051C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23900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Der Pilot endet mit einer Go/No-Go-Entscheidung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14298-761D-45D4-A16B-8AD7EC1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8B721-71BB-473F-B750-F32D48DB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493AA-37B3-4F6F-A462-84C0AF4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047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Vor dem Start werden Zielwerte und Ausgangslage gemeinsam festgehalten.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4EA19-2BEB-4654-A5E2-76E4784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9FE4F-EAAA-41BD-A898-D39D968D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6383B-AFCA-4C45-B973-4B6A8356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3F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1F5D0-B831-4DBD-993B-E5EBC92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4175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A8D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41BB1-DAB9-4E41-A8E3-63665605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43275"/>
            <a:ext cx="2933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Abdeckung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69ECD-B70B-4074-9B36-FB53827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0025"/>
            <a:ext cx="2914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Welcher Anteil der vereinbarten KI-Fälle lief durch den Prüfpfad?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D1D92-CDD6-4A58-89ED-4ECFC59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A9D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33F8A-F0EE-490A-8D33-146F4092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43275"/>
            <a:ext cx="2933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Latenz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0858A-DE4E-41C7-8CAD-D1675CC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0025"/>
            <a:ext cx="2914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Wie schnell erreichte ein Fall eine belastbare Entscheidung?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E0F33-5055-4E9A-BDC4-7EDC22FD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24175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96D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E8E50-AF58-4D66-8957-85DD255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43275"/>
            <a:ext cx="2933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Rekonstruktion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19986-97E2-4CC8-9A62-FC4B1066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10025"/>
            <a:ext cx="29146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0"/>
                </a:solidFill>
                <a:latin typeface="Helvetica Neue"/>
                <a:ea typeface="Helvetica Neue"/>
                <a:cs typeface="Helvetica Neue"/>
              </a:defRPr>
            </a:pPr>
            <a:r>
              <a:t>Kann ein strittiger Fall in zehn Minuten erklärt werden?</a:t>
            </a:r>
          </a:p>
        </p:txBody>
      </p:sp>
    </p:spTree>
    <p:extLst>
      <p:ext uri="{BB962C8B-B14F-4D97-AF65-F5344CB8AC3E}">
        <p14:creationId xmlns:p14="http://schemas.microsoft.com/office/powerpoint/2010/main" val="10901958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6272D-86C3-4C07-996B-93BA9496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CB5D-2A30-4B30-85D8-34FBE23A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A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2D908-9AC2-4532-B252-C994625E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96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FE610-A443-4E57-8DD5-4C75C34C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4B61C-DD34-4B67-8AE3-FB611B3B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667625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Wählen Sie einen Workflow,
bei dem ein Mensch heute
ohnehin entscheiden muss.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67E08-89AF-4F32-8A2F-8FE6281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7810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2C5C8"/>
                </a:solidFill>
                <a:latin typeface="Helvetica Neue"/>
                <a:ea typeface="Helvetica Neue"/>
                <a:cs typeface="Helvetica Neue"/>
              </a:defRPr>
            </a:pPr>
            <a:r>
              <a:t>Dann prüfen wir gemeinsam, ob RateLoop daraus in sechs Wochen einen belastbaren Entscheidungs- und Evidenzpfad macht.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C2213-01BB-4573-93C7-3282595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24479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22749-03FC-4437-A170-85FAEB3A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21050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0909"/>
                </a:solidFill>
                <a:latin typeface="Helvetica Neue"/>
                <a:ea typeface="Helvetica Neue"/>
                <a:cs typeface="Helvetica Neue"/>
              </a:defRPr>
            </a:pPr>
            <a:r>
              <a:t>Pilot-Scoping vereinbaren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9D2EB-E311-4765-AD17-973D3E0C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192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A8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9C1B6-B655-4BEC-A7FB-52175C7C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7642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A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74E11-E011-4D28-912D-D852F79F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C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9D033-AA84-44AC-A773-2232A2DF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526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34440-BAAB-463F-A40E-38AD30F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1B5"/>
                </a:solidFill>
                <a:latin typeface="Helvetica Neue"/>
                <a:ea typeface="Helvetica Neue"/>
                <a:cs typeface="Helvetica Neue"/>
              </a:defRPr>
            </a:pPr>
            <a:r>
              <a:t>RateLoop  /  Human Assurance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88804-8DC0-4E70-A55F-C2FDD38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1B5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2496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2026-08-04T14:30:07.0620000Z</dcterms:created>
  <dcterms:modified xsi:type="dcterms:W3CDTF">2026-08-04T14:30:07.0620000Z</dcterms:modified>
</coreProperties>
</file>