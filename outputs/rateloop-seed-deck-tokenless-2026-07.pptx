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 of every bounty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3CEA4"/>
              </a:solidFill>
              <a:effectLst/>
            </c:spPr>
          </c:dPt>
          <c:dPt>
            <c:idx val="1"/>
            <c:bubble3D val="0"/>
            <c:spPr>
              <a:solidFill>
                <a:srgbClr val="3A3A4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Reviewers</c:v>
                </c:pt>
                <c:pt idx="1">
                  <c:v>RateLoop fee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62"/>
      </c:doughnutChart>
      <c:spPr>
        <a:solidFill>
          <a:srgbClr val="16161A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agents market</c:v>
                </c:pt>
              </c:strCache>
            </c:strRef>
          </c:tx>
          <c:spPr>
            <a:solidFill>
              <a:srgbClr val="359EEE"/>
            </a:solidFill>
            <a:ln w="31750" cap="flat">
              <a:solidFill>
                <a:srgbClr val="359E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59EEE"/>
              </a:solidFill>
              <a:ln w="9525" cap="flat">
                <a:solidFill>
                  <a:srgbClr val="359E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  <c:pt idx="4">
                    <c:v>2028</c:v>
                  </c:pt>
                  <c:pt idx="5">
                    <c:v>2029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5.3</c:v>
                </c:pt>
                <c:pt idx="1">
                  <c:v>7.8</c:v>
                </c:pt>
                <c:pt idx="2">
                  <c:v>11.5</c:v>
                </c:pt>
                <c:pt idx="3">
                  <c:v>16.8</c:v>
                </c:pt>
                <c:pt idx="4">
                  <c:v>24.6</c:v>
                </c:pt>
                <c:pt idx="5">
                  <c:v>35.9</c:v>
                </c:pt>
                <c:pt idx="6">
                  <c:v>52.6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Human data &amp; RLHF services</c:v>
                </c:pt>
              </c:strCache>
            </c:strRef>
          </c:tx>
          <c:spPr>
            <a:solidFill>
              <a:srgbClr val="03CEA4"/>
            </a:solidFill>
            <a:ln w="31750" cap="flat">
              <a:solidFill>
                <a:srgbClr val="03CEA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3CEA4"/>
              </a:solidFill>
              <a:ln w="9525" cap="flat">
                <a:solidFill>
                  <a:srgbClr val="03CEA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  <c:pt idx="4">
                    <c:v>2028</c:v>
                  </c:pt>
                  <c:pt idx="5">
                    <c:v>2029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3.8</c:v>
                </c:pt>
                <c:pt idx="1">
                  <c:v>4.8</c:v>
                </c:pt>
                <c:pt idx="2">
                  <c:v>6.2</c:v>
                </c:pt>
                <c:pt idx="3">
                  <c:v>8</c:v>
                </c:pt>
                <c:pt idx="4">
                  <c:v>10.2</c:v>
                </c:pt>
                <c:pt idx="5">
                  <c:v>13.2</c:v>
                </c:pt>
                <c:pt idx="6">
                  <c:v>17.1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governance software</c:v>
                </c:pt>
              </c:strCache>
            </c:strRef>
          </c:tx>
          <c:spPr>
            <a:solidFill>
              <a:srgbClr val="F7B32B"/>
            </a:solidFill>
            <a:ln w="31750" cap="flat">
              <a:solidFill>
                <a:srgbClr val="F7B3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7B32B"/>
              </a:solidFill>
              <a:ln w="9525" cap="flat">
                <a:solidFill>
                  <a:srgbClr val="F7B3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  <c:pt idx="4">
                    <c:v>2028</c:v>
                  </c:pt>
                  <c:pt idx="5">
                    <c:v>2029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0.9</c:v>
                </c:pt>
                <c:pt idx="1">
                  <c:v>1.3</c:v>
                </c:pt>
                <c:pt idx="2">
                  <c:v>1.9</c:v>
                </c:pt>
                <c:pt idx="3">
                  <c:v>2.7</c:v>
                </c:pt>
                <c:pt idx="4">
                  <c:v>4</c:v>
                </c:pt>
                <c:pt idx="5">
                  <c:v>5.8</c:v>
                </c:pt>
                <c:pt idx="6">
                  <c:v>8.4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232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232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8A92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A8A92"/>
                    </a:solidFill>
                    <a:latin typeface="Arial"/>
                  </a:rPr>
                  <a:t>$B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3232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C9C9CF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Literal one-liner per the site's UX standard. Web2 positioning: email/passkey sign-in, no crypto UX. Update date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LangChain State of Agent Engineering 2025 (n≈3,000): 57% run agents in production. McKinsey State of AI (Nov 2025): 62% of orgs experimenting with or scaling agents; 51% of AI-using orgs already experienced at least one negative consequence. Gartner (June 2025): &gt;40% of agentic AI projects will be canceled by end-2027 — unmanaged risk is a named cause. EU AI Act high-risk obligations (incl. Art. 14 human oversight) apply from Aug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shifts in the same 12 months. (1) Agents crossed into production: 57% in production (LangChain 2025), Deloitte expects 50% of gen-AI companies running agent pilots by 2027. (2) EU AI Act high-risk duties incl. Article 14 human oversight apply from Aug 2026. (3) Amazon MTurk — the only generic API-callable human crowd — closes to customers July 30, 2026, after quality collapsed (studies found 33–46% of worker answers were LLM-generated). The programmatic-human quadrant is empty exactly as demand and regulation arrive.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loop: agent submits work + one bounded question + budget (MCP/SDK/REST); a blind panel of qualified humans judges independently (answers sealed until close); verdict with reasons returns into the agent's loop; every decision leaves an auditable oversight record. Web2 posture: Better Auth email OTP/passkeys; wallets optional and purpose-bound; USDC settlement invisible.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traction: no invented revenue. Shipped on the tokenless branch: Better Auth (email OTP + passkeys), blind panel flows with drafts/recovery, paid-work eligibility (tax/sanctions/identity) before first paid task, Stripe billing, prepaid review funding, transparency/evidence exports, E2E coverage; production settlement machinery on isolated staging (Base Sepolia), no simulation mode. Replace the strip with real design-partner logos/numbers as soon as they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defenses. (1) Mechanism: sealed commit-reveal answers + peer prediction (Bayesian Truth Serum family) reward honest independent judgment — the quality problem that killed MTurk (33–46% LLM-written answers). (2) Economics: stablecoin settlement costs cents, funding a 10% fee while Prolific takes 42.8% corporate, Mercor ~35% markup, MTurk took 20%+ — reviewers keep 90%, so the best supply accumulates here. (3) Output: every decision emits an auditable oversight record — the Article 14 artifact governance platforms document but cannot 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2x2 from July 2026 research. X: who reviews (your own team / no humans ←→ external paid qualified humans). Y: how it's reached (managed service ←→ API-native for agents). Prolific is the closest threat: ships API/MCP + 'for agents' page, but study paradigm, hours latency, 42.8% corporate fee, no blind consensus, no evidence artifact. gotoHuman/HumanLayer route approvals to YOUR OWN team (HumanLayer pivoted away 2025). Surge ($1.2B rev), Mercor ($450M ARR, ~35% markup), Scale (Meta-conflicted), Toloka: managed lab contracts. Credo/OneTrust: governance docs, zero reviewers. MTurk: closes July 2026. Eval tools (LangSmith/Braintrust): internal annotation queues — integration partners.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model (modal 2025 B2B pattern): subscription qualifies workspaces; 10% execution fee rides paid review volume. Fee benchmarks: Prolific 42.8% corporate, Fiverr ~32% total, Upwork ~18.5% blended, MTurk 20%+. $29 is the 12-month early-access price of the $99 list plan; founding customers keep 20% off after. Enterprise tier is a contact card until post-mainnet features exist (claims rule).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series from named analysts; intermediate years compound each source's own CAGR. AI agents: MarketsandMarkets $5.26B (2024) → $52.6B (2030), 46.3% CAGR — Grand View and Precedence land within 10%. Human data &amp; labeling services: Grand View $3.77B → $17.1B (28.4%). AI governance software: MarketsandMarkets $0.89B (2024) → $5.78B (2029), extrapolated to $8.4B (2030). TAM: Gartner predicts 'guardian agents' (oversight of AI agents) capture 10–15% of the agentic AI market by 2030 → $5.3–7.9B. SAM ~$1–1.5B by 2028 (derived bottom-up: ~21k companies with high-stakes agent output × $50–70k/yr). SOM $20–40M ARR in years 3–4 (500–1,000 workspaces). State 'derived' assumptions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Verify before presenting. David Hawig — previously Technical Grants Lead at Web3 Foundation (Polkadot): built and ran the grants program, evaluated hundreds of technical teams (public sources: W3F grants team page, talks, GitHub Noc2). Add co-founders/advisors as they join; open-roles list is placeholder judgment — edit freely.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raise amount + terms before presenting (YC: be specific — amount, use, 12–18 month milestones). Workstreams map to the proof loop; milestones make the next round's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ring-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051560"/>
            <a:ext cx="4114800" cy="4114800"/>
          </a:xfrm>
          <a:prstGeom prst="rect">
            <a:avLst/>
          </a:prstGeom>
        </p:spPr>
      </p:pic>
      <p:pic>
        <p:nvPicPr>
          <p:cNvPr id="4" name="Image 1" descr="ring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66928"/>
            <a:ext cx="274320" cy="27432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96112" y="5120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500" dirty="0"/>
          </a:p>
        </p:txBody>
      </p:sp>
      <p:sp>
        <p:nvSpPr>
          <p:cNvPr id="6" name="Text 1"/>
          <p:cNvSpPr/>
          <p:nvPr/>
        </p:nvSpPr>
        <p:spPr>
          <a:xfrm>
            <a:off x="548640" y="214884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assurance for AI</a:t>
            </a:r>
            <a:endParaRPr lang="en-US" sz="4400" dirty="0"/>
          </a:p>
        </p:txBody>
      </p:sp>
      <p:sp>
        <p:nvSpPr>
          <p:cNvPr id="7" name="Text 2"/>
          <p:cNvSpPr/>
          <p:nvPr/>
        </p:nvSpPr>
        <p:spPr>
          <a:xfrm>
            <a:off x="566928" y="352044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humans review your AI agent's work before it ships.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ask through an API; reviewers get paid per review.</a:t>
            </a:r>
            <a:endParaRPr lang="en-US" sz="1500" dirty="0"/>
          </a:p>
        </p:txBody>
      </p:sp>
      <p:sp>
        <p:nvSpPr>
          <p:cNvPr id="8" name="Text 3"/>
          <p:cNvSpPr/>
          <p:nvPr/>
        </p:nvSpPr>
        <p:spPr>
          <a:xfrm>
            <a:off x="566928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 round ·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ship agents faster than they can trust them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now send, publish, merge, and pay. Two gaps open at exactly that moment: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1945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23591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59E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JUDGMENT GAP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26700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 verify rules — not judgment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31520" y="307238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reply can pass every check and still offend the customer, overstate the data, or confuse the user.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172200" y="21945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0" y="23591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OVERSIGHT GAP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400800" y="26700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Oversight is becoming law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00800" y="307238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14: provable human oversight for high-risk AI — enforceable from August 2026.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04088" y="4105656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CE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704088" y="4690872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agents in production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04088" y="4983480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LangChain, n≈3,000 (2025)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206240" y="39776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407408" y="4105656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4407408" y="4690872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hit a negative AI outcome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407408" y="4983480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McKinsey State of AI (2025)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909560" y="39776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110728" y="4105656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47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&gt;40%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8110728" y="4690872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projects to be canceled by 2027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8110728" y="4983480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— unmanaged risk is a named cause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02920" y="598932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85800" y="603504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fix is ad-hoc: a Slack ping, a spreadsheet, an intern — unpaid, unqualified, unprovable.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now: three curves cross in 2026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arrived, regulation arrived, and the old supply just died.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2402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31520" y="2834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hit production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31520" y="324612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 of teams now run agents in production — and agents act, not just draft.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31520" y="4434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 2025, n≈3,000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297680" y="22402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2628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26280" y="2834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Oversight becomes law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526280" y="324612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14 makes human oversight of high-risk AI enforceable — from Aug 2026.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526280" y="4434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 (EU) 2024/1689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092440" y="22402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32104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321040" y="28346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API died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8321040" y="324612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MTurk closes July 2026 — bots and LLM-written answers broke the unvetted crowd.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321040" y="4434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46% of answers were LLM-generated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2920" y="548640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85800" y="553212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supply vacuum, a demand wave, and a legal deadline — all pointing at the same product.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review, one API call away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bounded question in — a scored human verdict and its evidence out.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3774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9E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31520" y="2971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31520" y="336499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+ one question + budget, from the agent.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3118104" y="3108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46704" y="23774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575304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575304" y="2971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panel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575304" y="336499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Qualified humans judge independently, sealed.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961888" y="3108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6190488" y="23774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19088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419088" y="2971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419088" y="336499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Ship, revise, or stop — with reasons.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805672" y="3108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9034272" y="23774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262872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9262872" y="2971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9262872" y="336499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auditable oversight record, every time.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02920" y="4709160"/>
            <a:ext cx="489204" cy="329184"/>
          </a:xfrm>
          <a:prstGeom prst="roundRect">
            <a:avLst>
              <a:gd name="adj" fmla="val 50000"/>
            </a:avLst>
          </a:prstGeom>
          <a:solidFill>
            <a:srgbClr val="1D1D22"/>
          </a:solidFill>
          <a:ln w="9525">
            <a:solidFill>
              <a:srgbClr val="359EE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727448"/>
            <a:ext cx="4892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1156716" y="4709160"/>
            <a:ext cx="489204" cy="329184"/>
          </a:xfrm>
          <a:prstGeom prst="roundRect">
            <a:avLst>
              <a:gd name="adj" fmla="val 50000"/>
            </a:avLst>
          </a:prstGeom>
          <a:solidFill>
            <a:srgbClr val="1D1D22"/>
          </a:solidFill>
          <a:ln w="9525">
            <a:solidFill>
              <a:srgbClr val="359EEE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156716" y="4727448"/>
            <a:ext cx="4892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1810512" y="470916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1D1D22"/>
          </a:solidFill>
          <a:ln w="9525">
            <a:solidFill>
              <a:srgbClr val="359EEE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810512" y="472744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2542032" y="4709160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1D1D22"/>
          </a:solidFill>
          <a:ln w="9525">
            <a:solidFill>
              <a:srgbClr val="359EEE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2542032" y="47274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Webhooks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3584448" y="4709160"/>
            <a:ext cx="1421892" cy="329184"/>
          </a:xfrm>
          <a:prstGeom prst="roundRect">
            <a:avLst>
              <a:gd name="adj" fmla="val 50000"/>
            </a:avLst>
          </a:prstGeom>
          <a:solidFill>
            <a:srgbClr val="1D1D22"/>
          </a:solidFill>
          <a:ln w="9525">
            <a:solidFill>
              <a:srgbClr val="359EEE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3584448" y="4727448"/>
            <a:ext cx="14218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handoff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5353812" y="4727448"/>
            <a:ext cx="6240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or passkey sign-in. No wallets, no tokens, no crypto UX.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502920" y="548640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85800" y="553212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are blind. Pay is guaranteed and auditable. Anyone can verify every decision.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live in early access — not a concept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loop runs today, behind a normal web login.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240280"/>
            <a:ext cx="5440680" cy="822960"/>
          </a:xfrm>
          <a:prstGeom prst="roundRect">
            <a:avLst>
              <a:gd name="adj" fmla="val 888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04088" y="23500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59E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SIGN-IN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04088" y="26243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OTP + passkeys — no wallet anywhere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2240280"/>
            <a:ext cx="5440680" cy="822960"/>
          </a:xfrm>
          <a:prstGeom prst="roundRect">
            <a:avLst>
              <a:gd name="adj" fmla="val 888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73368" y="23500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373368" y="26243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panels, drafts, recovery, deadlines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3200400"/>
            <a:ext cx="5440680" cy="822960"/>
          </a:xfrm>
          <a:prstGeom prst="roundRect">
            <a:avLst>
              <a:gd name="adj" fmla="val 888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04088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7B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PAYOUTS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04088" y="35844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checks before the first paid task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172200" y="3200400"/>
            <a:ext cx="5440680" cy="822960"/>
          </a:xfrm>
          <a:prstGeom prst="roundRect">
            <a:avLst>
              <a:gd name="adj" fmla="val 888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73368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BILLING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373368" y="35844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subscriptions + prepaid review funding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02920" y="4160520"/>
            <a:ext cx="5440680" cy="822960"/>
          </a:xfrm>
          <a:prstGeom prst="roundRect">
            <a:avLst>
              <a:gd name="adj" fmla="val 888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04088" y="42702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59E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04088" y="4544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 exports for every settled decision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172200" y="4160520"/>
            <a:ext cx="5440680" cy="822960"/>
          </a:xfrm>
          <a:prstGeom prst="roundRect">
            <a:avLst>
              <a:gd name="adj" fmla="val 8889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373368" y="42702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373368" y="4544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test coverage on the full journey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548640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85800" y="553212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access is open — the next proof is design partners and public case studies.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mechanism is the moat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is engineered, the economics recruit supply, and every decision emits evidence.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24028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24048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59E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JUDGMENT QUALITY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27157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Blind, scored panels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31520" y="3136392"/>
            <a:ext cx="3154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Sealed answers + peer prediction reward honest judgment — the part that broke MTurk.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97680" y="224028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526280" y="24048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REVIEWER ECONOMICS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26280" y="27157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keep 90%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26280" y="3136392"/>
            <a:ext cx="3154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Settlement costs cents, not card fees.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92440" y="224028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4048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 OUTPUT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321040" y="27157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Evidence, not vibes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321040" y="3136392"/>
            <a:ext cx="3154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emits an Article 14-ready oversight record.</a:t>
            </a:r>
            <a:endParaRPr lang="en-US" sz="1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526280" y="3401568"/>
          <a:ext cx="1051560" cy="1051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 16"/>
          <p:cNvSpPr/>
          <p:nvPr/>
        </p:nvSpPr>
        <p:spPr>
          <a:xfrm>
            <a:off x="56692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E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reviewers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6692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RateLoop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502920" y="512064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85800" y="516636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crypto machinery is invisible — users just see a review that pays fairly and proves itself.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quadrant that matters is empty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routes to your own team, sells managed contracts, or just shut down.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31520" y="4270248"/>
            <a:ext cx="6720840" cy="0"/>
          </a:xfrm>
          <a:prstGeom prst="line">
            <a:avLst/>
          </a:prstGeom>
          <a:noFill/>
          <a:ln w="12700">
            <a:solidFill>
              <a:srgbClr val="23232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091940" y="2395728"/>
            <a:ext cx="0" cy="3749040"/>
          </a:xfrm>
          <a:prstGeom prst="line">
            <a:avLst/>
          </a:prstGeom>
          <a:noFill/>
          <a:ln w="12700">
            <a:solidFill>
              <a:srgbClr val="23232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213969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API-NATIVE FOR AGENTS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731520" y="6181344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 SERVICE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02920" y="43434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TEAM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621792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 PAID HUMANS</a:t>
            </a:r>
            <a:endParaRPr lang="en-US" sz="900" dirty="0"/>
          </a:p>
        </p:txBody>
      </p:sp>
      <p:pic>
        <p:nvPicPr>
          <p:cNvPr id="14" name="Image 1" descr="ring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670048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27648" y="2651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841748" y="3259836"/>
            <a:ext cx="100584" cy="100584"/>
          </a:xfrm>
          <a:prstGeom prst="ellipse">
            <a:avLst/>
          </a:prstGeom>
          <a:solidFill>
            <a:srgbClr val="359EEE"/>
          </a:solidFill>
          <a:ln/>
        </p:spPr>
      </p:sp>
      <p:sp>
        <p:nvSpPr>
          <p:cNvPr id="17" name="Text 12"/>
          <p:cNvSpPr/>
          <p:nvPr/>
        </p:nvSpPr>
        <p:spPr>
          <a:xfrm>
            <a:off x="4983480" y="31638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Prolific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4983480" y="3401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paradigm · 42.8% fee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396228" y="2948940"/>
            <a:ext cx="100584" cy="100584"/>
          </a:xfrm>
          <a:prstGeom prst="ellipse">
            <a:avLst/>
          </a:prstGeom>
          <a:solidFill>
            <a:srgbClr val="5A5A62"/>
          </a:solidFill>
          <a:ln/>
        </p:spPr>
      </p:sp>
      <p:sp>
        <p:nvSpPr>
          <p:cNvPr id="20" name="Text 15"/>
          <p:cNvSpPr/>
          <p:nvPr/>
        </p:nvSpPr>
        <p:spPr>
          <a:xfrm>
            <a:off x="6537960" y="28529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MTurk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537960" y="3090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closes July 2026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658868" y="3808476"/>
            <a:ext cx="100584" cy="100584"/>
          </a:xfrm>
          <a:prstGeom prst="ellipse">
            <a:avLst/>
          </a:prstGeom>
          <a:solidFill>
            <a:srgbClr val="5A5A62"/>
          </a:solidFill>
          <a:ln/>
        </p:spPr>
      </p:sp>
      <p:sp>
        <p:nvSpPr>
          <p:cNvPr id="23" name="Text 18"/>
          <p:cNvSpPr/>
          <p:nvPr/>
        </p:nvSpPr>
        <p:spPr>
          <a:xfrm>
            <a:off x="4800600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WebPurify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4800600" y="39502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moderation only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1367028" y="2738628"/>
            <a:ext cx="100584" cy="100584"/>
          </a:xfrm>
          <a:prstGeom prst="ellipse">
            <a:avLst/>
          </a:prstGeom>
          <a:solidFill>
            <a:srgbClr val="359EEE"/>
          </a:solidFill>
          <a:ln/>
        </p:spPr>
      </p:sp>
      <p:sp>
        <p:nvSpPr>
          <p:cNvPr id="26" name="Text 21"/>
          <p:cNvSpPr/>
          <p:nvPr/>
        </p:nvSpPr>
        <p:spPr>
          <a:xfrm>
            <a:off x="1508760" y="26426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gotoHuman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508760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reviewers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1138428" y="3332988"/>
            <a:ext cx="100584" cy="100584"/>
          </a:xfrm>
          <a:prstGeom prst="ellipse">
            <a:avLst/>
          </a:prstGeom>
          <a:solidFill>
            <a:srgbClr val="5A5A62"/>
          </a:solidFill>
          <a:ln/>
        </p:spPr>
      </p:sp>
      <p:sp>
        <p:nvSpPr>
          <p:cNvPr id="29" name="Text 24"/>
          <p:cNvSpPr/>
          <p:nvPr/>
        </p:nvSpPr>
        <p:spPr>
          <a:xfrm>
            <a:off x="1280160" y="32369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HumanLayer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280160" y="3474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pivoted away 2025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189988" y="3863340"/>
            <a:ext cx="100584" cy="100584"/>
          </a:xfrm>
          <a:prstGeom prst="ellipse">
            <a:avLst/>
          </a:prstGeom>
          <a:solidFill>
            <a:srgbClr val="5A5A62"/>
          </a:solidFill>
          <a:ln/>
        </p:spPr>
      </p:sp>
      <p:sp>
        <p:nvSpPr>
          <p:cNvPr id="32" name="Text 27"/>
          <p:cNvSpPr/>
          <p:nvPr/>
        </p:nvSpPr>
        <p:spPr>
          <a:xfrm>
            <a:off x="2331720" y="3767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· Braintrust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2331720" y="4005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queues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1367028" y="5298948"/>
            <a:ext cx="100584" cy="100584"/>
          </a:xfrm>
          <a:prstGeom prst="ellipse">
            <a:avLst/>
          </a:prstGeom>
          <a:solidFill>
            <a:srgbClr val="5A5A62"/>
          </a:solidFill>
          <a:ln/>
        </p:spPr>
      </p:sp>
      <p:sp>
        <p:nvSpPr>
          <p:cNvPr id="35" name="Text 30"/>
          <p:cNvSpPr/>
          <p:nvPr/>
        </p:nvSpPr>
        <p:spPr>
          <a:xfrm>
            <a:off x="1508760" y="52029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Credo AI · OneTrust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1508760" y="5440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docs, no humans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796028" y="5070348"/>
            <a:ext cx="100584" cy="100584"/>
          </a:xfrm>
          <a:prstGeom prst="ellipse">
            <a:avLst/>
          </a:prstGeom>
          <a:solidFill>
            <a:srgbClr val="F7B32B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0" y="49743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 · Mercor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4937760" y="5212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· 30–45% takes</a:t>
            </a:r>
            <a:endParaRPr lang="en-US" sz="800" dirty="0"/>
          </a:p>
        </p:txBody>
      </p:sp>
      <p:sp>
        <p:nvSpPr>
          <p:cNvPr id="40" name="Shape 35"/>
          <p:cNvSpPr/>
          <p:nvPr/>
        </p:nvSpPr>
        <p:spPr>
          <a:xfrm>
            <a:off x="5984748" y="5545836"/>
            <a:ext cx="100584" cy="100584"/>
          </a:xfrm>
          <a:prstGeom prst="ellipse">
            <a:avLst/>
          </a:prstGeom>
          <a:solidFill>
            <a:srgbClr val="F7B32B"/>
          </a:solidFill>
          <a:ln/>
        </p:spPr>
      </p:sp>
      <p:sp>
        <p:nvSpPr>
          <p:cNvPr id="41" name="Text 36"/>
          <p:cNvSpPr/>
          <p:nvPr/>
        </p:nvSpPr>
        <p:spPr>
          <a:xfrm>
            <a:off x="6126480" y="54498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· Toloka</a:t>
            </a:r>
            <a:endParaRPr lang="en-US" sz="1000" dirty="0"/>
          </a:p>
        </p:txBody>
      </p:sp>
      <p:sp>
        <p:nvSpPr>
          <p:cNvPr id="42" name="Text 37"/>
          <p:cNvSpPr/>
          <p:nvPr/>
        </p:nvSpPr>
        <p:spPr>
          <a:xfrm>
            <a:off x="6126480" y="5687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contracts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7955280" y="2103120"/>
            <a:ext cx="3730752" cy="3200400"/>
          </a:xfrm>
          <a:prstGeom prst="roundRect">
            <a:avLst>
              <a:gd name="adj" fmla="val 2286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8183880" y="22677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RATELOOP COMBINES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8183880" y="2578608"/>
            <a:ext cx="3273552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qualified reviewers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Agent-callable verdict API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Blind, incentive-scored panels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14 evidence trail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keep 90%</a:t>
            </a:r>
            <a:endParaRPr lang="en-US" sz="1250" dirty="0"/>
          </a:p>
        </p:txBody>
      </p:sp>
      <p:sp>
        <p:nvSpPr>
          <p:cNvPr id="46" name="Text 41"/>
          <p:cNvSpPr/>
          <p:nvPr/>
        </p:nvSpPr>
        <p:spPr>
          <a:xfrm>
            <a:off x="7955280" y="5440680"/>
            <a:ext cx="3730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Closest threat: Prolific — hours-scale studies at a 42.8% fee, no scored consensus, no evidence artifact.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on the workspace, 10% on the review flow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 qualify serious teams; the fee scales with review volume.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286000"/>
            <a:ext cx="1938528" cy="1828800"/>
          </a:xfrm>
          <a:prstGeom prst="roundRect">
            <a:avLst>
              <a:gd name="adj" fmla="val 4000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67512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59E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67512" y="2697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67512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decisions/mo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2624328" y="2286000"/>
            <a:ext cx="1938528" cy="1828800"/>
          </a:xfrm>
          <a:prstGeom prst="roundRect">
            <a:avLst>
              <a:gd name="adj" fmla="val 4000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88920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EARLY ACCESS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2788920" y="2697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2788920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decisions · paid panels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$99 list after 12 mo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745736" y="2286000"/>
            <a:ext cx="1938528" cy="1828800"/>
          </a:xfrm>
          <a:prstGeom prst="roundRect">
            <a:avLst>
              <a:gd name="adj" fmla="val 4000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91032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10328" y="2697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4910328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&amp; terms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demo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502920" y="431596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early: $29 for 12 months against the $99 list price.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7178040" y="2286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7B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 take on paid human work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178040" y="270662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8275320" y="2724912"/>
            <a:ext cx="555477" cy="237744"/>
          </a:xfrm>
          <a:prstGeom prst="roundRect">
            <a:avLst>
              <a:gd name="adj" fmla="val 19231"/>
            </a:avLst>
          </a:prstGeom>
          <a:solidFill>
            <a:srgbClr val="03CEA4"/>
          </a:solidFill>
          <a:ln/>
        </p:spPr>
      </p:sp>
      <p:sp>
        <p:nvSpPr>
          <p:cNvPr id="24" name="Text 20"/>
          <p:cNvSpPr/>
          <p:nvPr/>
        </p:nvSpPr>
        <p:spPr>
          <a:xfrm>
            <a:off x="8940525" y="2706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 ·  reviewers keep 90%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178040" y="327355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Upwork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8275320" y="3291840"/>
            <a:ext cx="1027632" cy="237744"/>
          </a:xfrm>
          <a:prstGeom prst="roundRect">
            <a:avLst>
              <a:gd name="adj" fmla="val 19231"/>
            </a:avLst>
          </a:prstGeom>
          <a:solidFill>
            <a:srgbClr val="5A5A62"/>
          </a:solidFill>
          <a:ln/>
        </p:spPr>
      </p:sp>
      <p:sp>
        <p:nvSpPr>
          <p:cNvPr id="27" name="Text 23"/>
          <p:cNvSpPr/>
          <p:nvPr/>
        </p:nvSpPr>
        <p:spPr>
          <a:xfrm>
            <a:off x="9412680" y="32735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  ·  blended 2025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7178040" y="38404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Fiverr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275320" y="3858768"/>
            <a:ext cx="1777525" cy="237744"/>
          </a:xfrm>
          <a:prstGeom prst="roundRect">
            <a:avLst>
              <a:gd name="adj" fmla="val 19231"/>
            </a:avLst>
          </a:prstGeom>
          <a:solidFill>
            <a:srgbClr val="5A5A62"/>
          </a:solidFill>
          <a:ln/>
        </p:spPr>
      </p:sp>
      <p:sp>
        <p:nvSpPr>
          <p:cNvPr id="30" name="Text 26"/>
          <p:cNvSpPr/>
          <p:nvPr/>
        </p:nvSpPr>
        <p:spPr>
          <a:xfrm>
            <a:off x="10162573" y="38404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  ·  total take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7178040" y="440740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Prolific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75320" y="4425696"/>
            <a:ext cx="2377440" cy="237744"/>
          </a:xfrm>
          <a:prstGeom prst="roundRect">
            <a:avLst>
              <a:gd name="adj" fmla="val 19231"/>
            </a:avLst>
          </a:prstGeom>
          <a:solidFill>
            <a:srgbClr val="5A5A62"/>
          </a:solidFill>
          <a:ln/>
        </p:spPr>
      </p:sp>
      <p:sp>
        <p:nvSpPr>
          <p:cNvPr id="33" name="Text 29"/>
          <p:cNvSpPr/>
          <p:nvPr/>
        </p:nvSpPr>
        <p:spPr>
          <a:xfrm>
            <a:off x="10762488" y="44074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42.8%  ·  corporate fee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7178040" y="5074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Stablecoin settlement costs cents — that is why the fee stays at 10%.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502920" y="598932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85800" y="603504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path: decision top-up packs, then a post-mainnet enterprise assurance tier at compliance-market pricing.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oversight layer of a $53B agent market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Gartner: 'guardian' oversight captures 10–15% of agentic AI by 2030 — that band is RateLoop's TAM.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2148840"/>
          <a:ext cx="68580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4"/>
          <p:cNvSpPr/>
          <p:nvPr/>
        </p:nvSpPr>
        <p:spPr>
          <a:xfrm>
            <a:off x="6400800" y="2487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9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$52.6B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6400800" y="4160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E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$17.1B</a:t>
            </a:r>
            <a:endParaRPr lang="en-US" sz="1100" dirty="0"/>
          </a:p>
        </p:txBody>
      </p:sp>
      <p:sp>
        <p:nvSpPr>
          <p:cNvPr id="11" name="Text 6"/>
          <p:cNvSpPr/>
          <p:nvPr/>
        </p:nvSpPr>
        <p:spPr>
          <a:xfrm>
            <a:off x="6812280" y="5120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B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$8.4B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7955280" y="2148840"/>
            <a:ext cx="3730752" cy="1481328"/>
          </a:xfrm>
          <a:prstGeom prst="roundRect">
            <a:avLst>
              <a:gd name="adj" fmla="val 4938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156448" y="2276856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9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$5.3–7.9B</a:t>
            </a:r>
            <a:endParaRPr lang="en-US" sz="3000" dirty="0"/>
          </a:p>
        </p:txBody>
      </p:sp>
      <p:sp>
        <p:nvSpPr>
          <p:cNvPr id="14" name="Text 9"/>
          <p:cNvSpPr/>
          <p:nvPr/>
        </p:nvSpPr>
        <p:spPr>
          <a:xfrm>
            <a:off x="8156448" y="2862072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by 2030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8156448" y="3154680"/>
            <a:ext cx="3328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Gartner's 10–15% oversight share × $52.6B agent market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7955280" y="3767328"/>
            <a:ext cx="3730752" cy="1481328"/>
          </a:xfrm>
          <a:prstGeom prst="roundRect">
            <a:avLst>
              <a:gd name="adj" fmla="val 4938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156448" y="3895344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CE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$1–1.5B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8156448" y="4480560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by 2028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8156448" y="4773168"/>
            <a:ext cx="3328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~21k companies with high-stakes agent output × $50–70k/yr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7955280" y="5385816"/>
            <a:ext cx="3730752" cy="777240"/>
          </a:xfrm>
          <a:prstGeom prst="roundRect">
            <a:avLst>
              <a:gd name="adj" fmla="val 9412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156448" y="54864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SOM: $20–40M ARR in years 3–4 — 500–1,000 paying workspaces.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2920" y="5897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MarketsandMarkets, Grand View, Gartner (2025–26). Dotted years compound published CAGRs.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someone whose job was judging technical work at scale — and paying for it.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240280"/>
            <a:ext cx="6766560" cy="2377440"/>
          </a:xfrm>
          <a:prstGeom prst="roundRect">
            <a:avLst>
              <a:gd name="adj" fmla="val 3077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240487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59E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FOUNDER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271576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David Hawig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731520" y="3163824"/>
            <a:ext cx="63093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Previously Technical Grants Lead, Web3 Foundation — built and ran the Polkadot grants program: sourcing, judging, and funding hundreds of technical teams.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 productizes that discipline: bounded questions, qualified judges, money on the line, auditable results.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2240280"/>
            <a:ext cx="4160520" cy="2377440"/>
          </a:xfrm>
          <a:prstGeom prst="roundRect">
            <a:avLst>
              <a:gd name="adj" fmla="val 3077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0" y="24048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ROLES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772400" y="271576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team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772400" y="3136392"/>
            <a:ext cx="370332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engineer — product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engineer — settlement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Reviewer-community lead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02920" y="507492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85800" y="512064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github.com/Noc2 · hawigxyz@proton.me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ask: seed to turn early access into proof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workstreams, one goal — receipts that make the network trustworthy.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2402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24048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59E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SUPPLY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27157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the reviewer network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31520" y="3136392"/>
            <a:ext cx="3154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1,000 qualified paid reviewers. Fairness — 90% take, appeals — is the recruiting story.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297680" y="22402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526280" y="24048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3CE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DEMAND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26280" y="27157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partners → case studies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26280" y="3136392"/>
            <a:ext cx="3154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pilots: agents paying for review before consequential actions, results published.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92440" y="22402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16161A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4048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321040" y="27157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Production-grade oversight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321040" y="3136392"/>
            <a:ext cx="3154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 settlement, ship the Article 14 evidence pack, price the enterprise tier.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02920" y="502920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85800" y="507492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12-month targets: paying workspaces, published case studies, an evidence pack auditors accept.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502920" y="5669280"/>
            <a:ext cx="11183112" cy="475488"/>
          </a:xfrm>
          <a:prstGeom prst="roundRect">
            <a:avLst>
              <a:gd name="adj" fmla="val 13462"/>
            </a:avLst>
          </a:prstGeom>
          <a:solidFill>
            <a:srgbClr val="111114"/>
          </a:solidFill>
          <a:ln w="9525">
            <a:solidFill>
              <a:srgbClr val="2C2C3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85800" y="5715000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amount and terms: in discussion — hawigxyz@proton.me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ng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29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1183112" y="329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pic>
        <p:nvPicPr>
          <p:cNvPr id="6" name="Image 1" descr="ring-bi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60120"/>
            <a:ext cx="3200400" cy="32004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44348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trust layer for the agent economy</a:t>
            </a:r>
            <a:endParaRPr lang="en-US" sz="2800" dirty="0"/>
          </a:p>
        </p:txBody>
      </p:sp>
      <p:sp>
        <p:nvSpPr>
          <p:cNvPr id="8" name="Text 3"/>
          <p:cNvSpPr/>
          <p:nvPr/>
        </p:nvSpPr>
        <p:spPr>
          <a:xfrm>
            <a:off x="502920" y="512064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RateLoop — real humans, one API call away.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A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hawigxyz@proton.me · github.com/Noc2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2026-07-19T19:52:14Z</dcterms:created>
  <dcterms:modified xsi:type="dcterms:W3CDTF">2026-07-19T19:52:14Z</dcterms:modified>
</cp:coreProperties>
</file>