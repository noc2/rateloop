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b1b5b9d1994624" /><Relationship Type="http://schemas.openxmlformats.org/officeDocument/2006/relationships/extended-properties" Target="/docProps/app.xml" Id="R237e90e073db431b" /><Relationship Type="http://schemas.openxmlformats.org/officeDocument/2006/relationships/officeDocument" Target="/ppt/presentation.xml" Id="R49b50c18b11e47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2542420a8441f"/>
  </p:sldMasterIdLst>
  <p:notesMasterIdLst>
    <p:notesMasterId xmlns:r="http://schemas.openxmlformats.org/officeDocument/2006/relationships" r:id="R8dcd361d5c3145ba"/>
  </p:notesMasterIdLst>
  <p:sldIdLst>
    <p:sldId xmlns:r="http://schemas.openxmlformats.org/officeDocument/2006/relationships" id="256" r:id="R945160dbd52c4848"/>
    <p:sldId xmlns:r="http://schemas.openxmlformats.org/officeDocument/2006/relationships" id="257" r:id="Rbf0279fc6d6d4866"/>
    <p:sldId xmlns:r="http://schemas.openxmlformats.org/officeDocument/2006/relationships" id="258" r:id="R58cd3494118f404d"/>
    <p:sldId xmlns:r="http://schemas.openxmlformats.org/officeDocument/2006/relationships" id="259" r:id="R34ff45cd19424f8a"/>
    <p:sldId xmlns:r="http://schemas.openxmlformats.org/officeDocument/2006/relationships" id="260" r:id="R1b9b6d56e10048a3"/>
    <p:sldId xmlns:r="http://schemas.openxmlformats.org/officeDocument/2006/relationships" id="261" r:id="R8a8bb5af96b04fa1"/>
    <p:sldId xmlns:r="http://schemas.openxmlformats.org/officeDocument/2006/relationships" id="262" r:id="R707165cd84434d22"/>
    <p:sldId xmlns:r="http://schemas.openxmlformats.org/officeDocument/2006/relationships" id="263" r:id="Rf68fb3af437e4947"/>
    <p:sldId xmlns:r="http://schemas.openxmlformats.org/officeDocument/2006/relationships" id="264" r:id="Ra6fec81b82464760"/>
    <p:sldId xmlns:r="http://schemas.openxmlformats.org/officeDocument/2006/relationships" id="265" r:id="Re47312c7dee74822"/>
    <p:sldId xmlns:r="http://schemas.openxmlformats.org/officeDocument/2006/relationships" id="266" r:id="R2a21a318c2df47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be31a5d4e4df7" /><Relationship Type="http://schemas.openxmlformats.org/officeDocument/2006/relationships/slideMaster" Target="/ppt/slideMasters/slideMaster1.xml" Id="R5c52542420a8441f" /><Relationship Type="http://schemas.openxmlformats.org/officeDocument/2006/relationships/notesMaster" Target="/ppt/notesMasters/notesMaster1.xml" Id="R8dcd361d5c3145ba" /><Relationship Type="http://schemas.openxmlformats.org/officeDocument/2006/relationships/presProps" Target="/ppt/presProps.xml" Id="R2ea4d4a4739944cf" /><Relationship Type="http://schemas.openxmlformats.org/officeDocument/2006/relationships/tableStyles" Target="/ppt/tableStyles.xml" Id="Rc6d90ef7785c4e0b" /><Relationship Type="http://schemas.openxmlformats.org/officeDocument/2006/relationships/slide" Target="/ppt/slides/slide1.xml" Id="R945160dbd52c4848" /><Relationship Type="http://schemas.openxmlformats.org/officeDocument/2006/relationships/slide" Target="/ppt/slides/slide2.xml" Id="Rbf0279fc6d6d4866" /><Relationship Type="http://schemas.openxmlformats.org/officeDocument/2006/relationships/slide" Target="/ppt/slides/slide3.xml" Id="R58cd3494118f404d" /><Relationship Type="http://schemas.openxmlformats.org/officeDocument/2006/relationships/slide" Target="/ppt/slides/slide4.xml" Id="R34ff45cd19424f8a" /><Relationship Type="http://schemas.openxmlformats.org/officeDocument/2006/relationships/slide" Target="/ppt/slides/slide5.xml" Id="R1b9b6d56e10048a3" /><Relationship Type="http://schemas.openxmlformats.org/officeDocument/2006/relationships/slide" Target="/ppt/slides/slide6.xml" Id="R8a8bb5af96b04fa1" /><Relationship Type="http://schemas.openxmlformats.org/officeDocument/2006/relationships/slide" Target="/ppt/slides/slide7.xml" Id="R707165cd84434d22" /><Relationship Type="http://schemas.openxmlformats.org/officeDocument/2006/relationships/slide" Target="/ppt/slides/slide8.xml" Id="Rf68fb3af437e4947" /><Relationship Type="http://schemas.openxmlformats.org/officeDocument/2006/relationships/slide" Target="/ppt/slides/slide9.xml" Id="Ra6fec81b82464760" /><Relationship Type="http://schemas.openxmlformats.org/officeDocument/2006/relationships/slide" Target="/ppt/slides/slide10.xml" Id="Re47312c7dee74822" /><Relationship Type="http://schemas.openxmlformats.org/officeDocument/2006/relationships/slide" Target="/ppt/slides/slide11.xml" Id="R2a21a318c2df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251877191f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db5905ad642f9" /><Relationship Type="http://schemas.openxmlformats.org/officeDocument/2006/relationships/notesMaster" Target="/ppt/notesMasters/notesMaster1.xml" Id="R6178fb0fa875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02fbafdde4122" /><Relationship Type="http://schemas.openxmlformats.org/officeDocument/2006/relationships/notesMaster" Target="/ppt/notesMasters/notesMaster1.xml" Id="R2af751c8211f4c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9955f4adef4e61" /><Relationship Type="http://schemas.openxmlformats.org/officeDocument/2006/relationships/notesMaster" Target="/ppt/notesMasters/notesMaster1.xml" Id="Re6e615cc92874a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6a106d8cfe4664" /><Relationship Type="http://schemas.openxmlformats.org/officeDocument/2006/relationships/notesMaster" Target="/ppt/notesMasters/notesMaster1.xml" Id="Ref8654c7d6ef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d5cea683594eb3" /><Relationship Type="http://schemas.openxmlformats.org/officeDocument/2006/relationships/notesMaster" Target="/ppt/notesMasters/notesMaster1.xml" Id="Rff001c01c785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c969f7c7c24b21" /><Relationship Type="http://schemas.openxmlformats.org/officeDocument/2006/relationships/notesMaster" Target="/ppt/notesMasters/notesMaster1.xml" Id="Ra6f722de9d3e41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f5554c7ee4af2" /><Relationship Type="http://schemas.openxmlformats.org/officeDocument/2006/relationships/notesMaster" Target="/ppt/notesMasters/notesMaster1.xml" Id="Rb2e63782319042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732c3eda84069" /><Relationship Type="http://schemas.openxmlformats.org/officeDocument/2006/relationships/notesMaster" Target="/ppt/notesMasters/notesMaster1.xml" Id="R928df39c011f48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c52e67a16945a3" /><Relationship Type="http://schemas.openxmlformats.org/officeDocument/2006/relationships/notesMaster" Target="/ppt/notesMasters/notesMaster1.xml" Id="R2b4e89b1b69843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b4190100f2407a" /><Relationship Type="http://schemas.openxmlformats.org/officeDocument/2006/relationships/notesMaster" Target="/ppt/notesMasters/notesMaster1.xml" Id="Re86569ffaefe49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c84fb567904a71" /><Relationship Type="http://schemas.openxmlformats.org/officeDocument/2006/relationships/notesMaster" Target="/ppt/notesMasters/notesMaster1.xml" Id="R282589d40391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Audience job: explain RateLoop as external judgment infrastructure for agent workflows, with verified-human supply as the strategic wedge. Avoid naming the interested organization.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 LangChain State of AI Agents (12 June 2026) reports 1,300+ respondents, 51% with agents in production and 78% planning production agents. x402 documentation describes HTTP-native stablecoin payments for humans and AI agents. World AgentKit materials frame human-backed agents and x402-compatible agent traffic.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README background and packages/agents/README describe the open rater set, bounties, private ratings, result polling, browser handoffs, and agent-facing workflow. Caveat: do not describe every round as human-only or World ID-gated.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landing copy ASK_STEPS, README core loop, packages/agents/README public flow, and docs/how-it-works. Private context should be described as access control and deterrence, not cryptographic secrecy.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World ID public page states users can prove they are unique humans without revealing anything else and uses zero-knowledge proofs. Repo caveat: RateLoop README says World ID is optional and the core rating path does not require proof-of-personhood.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packages/agents/README, /docs/ai, agent handoff route/UI, agent callbacks, quote/status/result routes, image upload path. External source: World AgentKit supports MCP clients and x402-compatible human-backed agents; x402 docs frame buyers as human developers and AI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docs/tech-stack commit-reveal, RBTS, bounties, correlation snapshots, README trust caveats, result package limitations. Avoid overclaiming collusion-proof or factual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docs/use-cases-2026-06.md ranks confidential pretesting, two-tier judgment gates, agent-purchased evidence, and LLM-judge calibration as leading use cases. Current targeting and enforced mixed/AI eligibility should not be overstated.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source: docs/world-id-agent-growth-strategy-2026-07-07.md frames RateLoop as a two-sided loop: agent operators fund bounded questions; verified humans earn for scarce judgment; settled results attract more buyers.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 anchors: README architecture, packages/agents/README, app docs, handoff UI, E2E tests for agent handoff and World ID mock. Caveat: avoid claiming package publication or live traction unless current deployment metrics are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World Mini Apps docs describe third-party native-like apps within World App and a distribution channel of millions of users. Growth docs recommend invites, gamification, retention notifications, and lean analytics focused on signup to first value, retention, invite acceptance, and push open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3687fc2d1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919fc7ec2c475f" /><Relationship Type="http://schemas.openxmlformats.org/officeDocument/2006/relationships/slideLayout" Target="/ppt/slideLayouts/slideLayout1.xml" Id="R066c3d6b863b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c3d6b863b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4b835fa94437" /><Relationship Type="http://schemas.openxmlformats.org/officeDocument/2006/relationships/image" Target="/ppt/media/image.png" Id="R843798e29d6d4a1c" /><Relationship Type="http://schemas.openxmlformats.org/officeDocument/2006/relationships/image" Target="/ppt/media/image.svg" Id="R88058cb6f8ce4b24" /><Relationship Type="http://schemas.openxmlformats.org/officeDocument/2006/relationships/image" Target="/ppt/media/image2.png" Id="Rb2249e479cd34355" /><Relationship Type="http://schemas.openxmlformats.org/officeDocument/2006/relationships/image" Target="/ppt/media/image2.svg" Id="Rddabde1564464754" /><Relationship Type="http://schemas.openxmlformats.org/officeDocument/2006/relationships/notesSlide" Target="/ppt/notesSlides/notesSlide1.xml" Id="Rc76d01eb7130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5f91b4b2e4e7a" /><Relationship Type="http://schemas.openxmlformats.org/officeDocument/2006/relationships/image" Target="/ppt/media/image3.png" Id="Rb798996ea8054295" /><Relationship Type="http://schemas.openxmlformats.org/officeDocument/2006/relationships/image" Target="/ppt/media/image3.svg" Id="R48c1f12057574d32" /><Relationship Type="http://schemas.openxmlformats.org/officeDocument/2006/relationships/notesSlide" Target="/ppt/notesSlides/notesSlide2.xml" Id="R263f45680a0f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4002d4f1f4d4d" /><Relationship Type="http://schemas.openxmlformats.org/officeDocument/2006/relationships/image" Target="/ppt/media/image4.png" Id="R36d0ee52998b4c19" /><Relationship Type="http://schemas.openxmlformats.org/officeDocument/2006/relationships/image" Target="/ppt/media/image4.svg" Id="R736b534c2e5e460b" /><Relationship Type="http://schemas.openxmlformats.org/officeDocument/2006/relationships/image" Target="/ppt/media/image5.png" Id="R3d3174769f414c0b" /><Relationship Type="http://schemas.openxmlformats.org/officeDocument/2006/relationships/image" Target="/ppt/media/image5.svg" Id="R18319ffeef304fc9" /><Relationship Type="http://schemas.openxmlformats.org/officeDocument/2006/relationships/notesSlide" Target="/ppt/notesSlides/notesSlide3.xml" Id="Ra85922c0105741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5686fcd504efb" /><Relationship Type="http://schemas.openxmlformats.org/officeDocument/2006/relationships/image" Target="/ppt/media/image6.png" Id="Rf3213fe9ed2244e9" /><Relationship Type="http://schemas.openxmlformats.org/officeDocument/2006/relationships/image" Target="/ppt/media/image6.svg" Id="R174bd23b9fa94ae8" /><Relationship Type="http://schemas.openxmlformats.org/officeDocument/2006/relationships/notesSlide" Target="/ppt/notesSlides/notesSlide4.xml" Id="Rb313c05d899d4b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e57e1c1714c9a" /><Relationship Type="http://schemas.openxmlformats.org/officeDocument/2006/relationships/image" Target="/ppt/media/image7.png" Id="R70e94d833dec4f4d" /><Relationship Type="http://schemas.openxmlformats.org/officeDocument/2006/relationships/image" Target="/ppt/media/image7.svg" Id="R376eabaf9d3940c0" /><Relationship Type="http://schemas.openxmlformats.org/officeDocument/2006/relationships/notesSlide" Target="/ppt/notesSlides/notesSlide5.xml" Id="R0977faf045d245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0fc6f213b4072" /><Relationship Type="http://schemas.openxmlformats.org/officeDocument/2006/relationships/image" Target="/ppt/media/image8.png" Id="Rb2e13e28923a4454" /><Relationship Type="http://schemas.openxmlformats.org/officeDocument/2006/relationships/image" Target="/ppt/media/image8.svg" Id="R80a238d170bf44d9" /><Relationship Type="http://schemas.openxmlformats.org/officeDocument/2006/relationships/notesSlide" Target="/ppt/notesSlides/notesSlide6.xml" Id="R5cd7845fa94848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9fac8c8814ad4" /><Relationship Type="http://schemas.openxmlformats.org/officeDocument/2006/relationships/image" Target="/ppt/media/image9.png" Id="Re9adef7ebde34f2c" /><Relationship Type="http://schemas.openxmlformats.org/officeDocument/2006/relationships/image" Target="/ppt/media/image9.svg" Id="Rb5a72f8543004e60" /><Relationship Type="http://schemas.openxmlformats.org/officeDocument/2006/relationships/notesSlide" Target="/ppt/notesSlides/notesSlide7.xml" Id="R5bc8971d0e82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2db77387e4e36" /><Relationship Type="http://schemas.openxmlformats.org/officeDocument/2006/relationships/image" Target="/ppt/media/image10.png" Id="R6ad5593da9484a39" /><Relationship Type="http://schemas.openxmlformats.org/officeDocument/2006/relationships/image" Target="/ppt/media/image10.svg" Id="R4401ab86a44b48e9" /><Relationship Type="http://schemas.openxmlformats.org/officeDocument/2006/relationships/notesSlide" Target="/ppt/notesSlides/notesSlide8.xml" Id="R01b786f0f5a54f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83d60208841b9" /><Relationship Type="http://schemas.openxmlformats.org/officeDocument/2006/relationships/image" Target="/ppt/media/image11.png" Id="Rf250469240594539" /><Relationship Type="http://schemas.openxmlformats.org/officeDocument/2006/relationships/image" Target="/ppt/media/image11.svg" Id="Rc1e9de989b8d4832" /><Relationship Type="http://schemas.openxmlformats.org/officeDocument/2006/relationships/notesSlide" Target="/ppt/notesSlides/notesSlide9.xml" Id="R6a75c5c2d6bd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9b9455ae2404a" /><Relationship Type="http://schemas.openxmlformats.org/officeDocument/2006/relationships/image" Target="/ppt/media/image12.png" Id="R98d801f48ff5495c" /><Relationship Type="http://schemas.openxmlformats.org/officeDocument/2006/relationships/image" Target="/ppt/media/image12.svg" Id="R8885f8ca48a04b38" /><Relationship Type="http://schemas.openxmlformats.org/officeDocument/2006/relationships/image" Target="/ppt/media/image.jpeg" Id="R4d131b7e22174670" /><Relationship Type="http://schemas.openxmlformats.org/officeDocument/2006/relationships/notesSlide" Target="/ppt/notesSlides/notesSlide10.xml" Id="R66cff0ac4f3444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a35b7f6ab46c5" /><Relationship Type="http://schemas.openxmlformats.org/officeDocument/2006/relationships/image" Target="/ppt/media/image13.png" Id="R775f14a317b9496d" /><Relationship Type="http://schemas.openxmlformats.org/officeDocument/2006/relationships/image" Target="/ppt/media/image13.svg" Id="R0b3c31cd21bb44b5" /><Relationship Type="http://schemas.openxmlformats.org/officeDocument/2006/relationships/notesSlide" Target="/ppt/notesSlides/notesSlide11.xml" Id="R08ec4d607676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E8D73-F630-45AD-AE25-39688075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066800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3CEA4">
                  <a:alpha val="10000"/>
                </a:srgbClr>
              </a:gs>
              <a:gs pos="42000">
                <a:srgbClr val="359EEE">
                  <a:alpha val="8000"/>
                </a:srgbClr>
              </a:gs>
              <a:gs pos="72000">
                <a:srgbClr val="000000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798e29d6d4a1c">
            <a:extLst>
              <a:ext uri="{96DAC541-7B7A-43D3-8B79-37D633B846F1}">
                <asvg:svgBlip xmlns:asvg="http://schemas.microsoft.com/office/drawing/2016/SVG/main" r:embed="R88058cb6f8ce4b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0" y="1600200"/>
            <a:ext cx="2933700" cy="29337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49e479cd34355">
            <a:extLst>
              <a:ext uri="{96DAC541-7B7A-43D3-8B79-37D633B846F1}">
                <asvg:svgBlip xmlns:asvg="http://schemas.microsoft.com/office/drawing/2016/SVG/main" r:embed="Rddabde15644647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6858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AD111-E23E-4382-B15B-55BC5240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429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5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1C4B6-8047-4193-AC42-89B50FB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1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51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Real judgment before agents 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2C01C-7972-48DB-92C5-79AA78E1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An open rating protocol where agents and builders fund focused questions, and human or AI raters return settled, auditable feedback.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45364-BDCC-4A15-A6AC-A3B0ED0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257300" cy="476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59EEE"/>
              </a:gs>
              <a:gs pos="33000">
                <a:srgbClr val="03CEA4"/>
              </a:gs>
              <a:gs pos="66000">
                <a:srgbClr val="FFC43D"/>
              </a:gs>
              <a:gs pos="100000">
                <a:srgbClr val="EF476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BD000-64A5-45BC-84A0-76CF2DC1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737373"/>
                </a:solidFill>
                <a:latin typeface="Inter"/>
                <a:ea typeface="Inter"/>
                <a:cs typeface="Inter"/>
              </a:rPr>
              <a:t>Pitch deck - July 2026</a:t>
            </a:r>
          </a:p>
        </p:txBody>
      </p:sp>
    </p:spTree>
    <p:extLst>
      <p:ext uri="{BB962C8B-B14F-4D97-AF65-F5344CB8AC3E}">
        <p14:creationId xmlns:p14="http://schemas.microsoft.com/office/powerpoint/2010/main" val="195935647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0000"/>
            </a:gs>
            <a:gs pos="58000">
              <a:srgbClr val="070707"/>
            </a:gs>
            <a:gs pos="100000">
              <a:srgbClr val="111111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8996ea8054295">
            <a:extLst>
              <a:ext uri="{96DAC541-7B7A-43D3-8B79-37D633B846F1}">
                <asvg:svgBlip xmlns:asvg="http://schemas.microsoft.com/office/drawing/2016/SVG/main" r:embed="R48c1f12057574d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C9E32-7F57-4BDF-921C-6D6123C8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622F7-5180-4687-A4F8-45A6C27F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36F40-8A43-4D4E-81F4-0D2A2D9B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Agents are moving from chat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EE542-5101-47D7-BECA-87EBFC49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As agents get wallets, tools, and delegated authority, teams need a clean way to ask for external judgment before consequential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C6F0D-A403-47DD-AC1E-007DEE43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0670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212">
              <a:alpha val="96000"/>
            </a:srgbClr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C152B-9187-4368-8748-C744D36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rPr>
              <a:t>51%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84295-49E7-4119-921B-62C89A9F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Already in 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1E32D-7596-4259-8F3B-C4FE2DA3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LangChain agent survey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F95A1-1736-4CD2-9F9F-027324FB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30670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212">
              <a:alpha val="96000"/>
            </a:srgbClr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6C9FA-C260-47E1-9E45-9A88CF63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rPr>
              <a:t>78%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18CA4-080B-46E9-827C-52F0A59D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Planning production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A2726-A138-4CA1-9F04-321A5614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48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Teams are cautious but moving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FC35E-36D6-4BD8-9274-0E49A09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30670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212">
              <a:alpha val="96000"/>
            </a:srgbClr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7479B-8385-4C11-88E7-EC68390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04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defRPr>
            </a:pPr>
            <a:r>
              <a:rPr sz="4050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rPr>
              <a:t>402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DA54E-B5AB-4810-B457-B55CEA5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Payment rails for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C057E-1EFD-4840-B148-1166148E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HTTP-native x402 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AC93D-E529-4823-883F-B129576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066800"/>
            <a:ext cx="28765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21212">
              <a:alpha val="88000"/>
            </a:srgbClr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0D9C8-4595-43BD-A7C4-A48F4250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95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rPr>
              <a:t>The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95F23-1E81-4996-9C23-CD743D0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24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Agents can search, draft, and transact. They still struggle with taste, evidence quality, local context, and social judgment.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90627-EA76-4624-8BE7-C00E3B5B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0113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0ee52998b4c19">
            <a:extLst>
              <a:ext uri="{96DAC541-7B7A-43D3-8B79-37D633B846F1}">
                <asvg:svgBlip xmlns:asvg="http://schemas.microsoft.com/office/drawing/2016/SVG/main" r:embed="R736b534c2e5e46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BBE0E-DBA2-476F-80DE-EB3E052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71306-FD49-4C61-9CB3-04604415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2C236-7330-4BE8-8FE8-6CD80BF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 is a market for bounded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442B-68EB-4C16-A3F5-0B28B04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One focused question. A funded round. Private ratings. A public result agents can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A3CCC-2E33-4F3D-9CCB-84D9C93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6291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904C3-3A42-45AF-A521-23EADFF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rPr>
              <a:t>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B70C4-C6C6-44E9-8A05-F6A0B86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Agents and builders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BF8D3-F3F4-45A7-8FAD-6DC598E5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Fund questions when self-evaluation is not enough: publish, merge, recommend, rank, buy, or accept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35707-68D9-4ECF-B485-D3524BD5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6291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1D912-16A4-4811-B701-07E29522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rPr>
              <a:t>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C4746-3AF4-4596-B884-8E380EFE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623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Human and AI raters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2CCFD-E6F1-4C8C-A553-8E2D458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Answer privately, predict the crowd, reveal, and earn LREP or USDC when their signal proves useful.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CFB46-96A1-41F8-A325-EFE2342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1066800" cy="1828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174769f414c0b">
            <a:extLst>
              <a:ext uri="{96DAC541-7B7A-43D3-8B79-37D633B846F1}">
                <asvg:svgBlip xmlns:asvg="http://schemas.microsoft.com/office/drawing/2016/SVG/main" r:embed="R18319ffeef304f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35433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7DE25-E1CD-4B47-B9D7-2E3861C7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settled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E24BB-5058-4DC3-907E-7AF873E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855666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0000"/>
            </a:gs>
            <a:gs pos="70000">
              <a:srgbClr val="080808"/>
            </a:gs>
            <a:gs pos="100000">
              <a:srgbClr val="111111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13fe9ed2244e9">
            <a:extLst>
              <a:ext uri="{96DAC541-7B7A-43D3-8B79-37D633B846F1}">
                <asvg:svgBlip xmlns:asvg="http://schemas.microsoft.com/office/drawing/2016/SVG/main" r:embed="R174bd23b9fa94a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E596-C420-4129-9B73-04AC5F9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798B0-9F3F-4800-8617-3990598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25F96-6C41-45F2-A9E3-5B1AA087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The loop is simple enough for an agent to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6B951-BF12-494A-8B42-2187337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RateLoop packages a human-readable question into an auditable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DD1E8-2D77-40FA-8EBB-B3DAF9D3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3241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67C8B-7C03-4BBE-8C60-4A66C78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85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2D1FC-DFC8-4EC9-B86C-10480423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B8131-77B6-4D8B-9C9A-FDFB5DAC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6C164-5CCF-423E-966D-1085E4F8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Submit content, context, bounty, duration, and voter 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DADE5-49AA-43B1-BE1D-EB1DC93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76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15B93-F7B1-485E-94CE-BC48FF42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76600"/>
            <a:ext cx="23241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0E4B9-D1FD-494A-B3E9-D5CD871A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76600"/>
            <a:ext cx="285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17902-CE63-47BF-A07A-2B0E1757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48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780D2-F06F-4B89-B10C-0CE2CF10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528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 privately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47ED0-239B-475E-A3C4-8B0497A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910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Raters answer up/down and predict how peers will 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DB37A-9AC4-47A8-8F33-C6EB41D0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76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E5EDA-DBB1-4203-AA25-0C78221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3241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1BDCD-A392-48EC-BF0F-E420E85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85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AF4DD-B80F-4BA2-B7F5-D53BAFFB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A5242-0E78-459A-9EFF-A14F2095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Reveal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53E65-8C0A-409B-B971-4B6DEAC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Commit-reveal protects the blind round; settlement exposes the result.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27387-7AB6-47B4-BFB3-8DBD328F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76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FB2C6-D103-4CAF-BEF7-11ECF0E1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76600"/>
            <a:ext cx="23241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F54C5-43A4-42F5-82E1-726C1DF2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76600"/>
            <a:ext cx="285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BFFCA-3B8F-4819-ADA7-C7CE1D9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48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ADA86-28A2-4996-AD5F-E5D9496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528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Use the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45016-BB98-4EEC-B702-7526BF9B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Agents read the result, notes, reward state, and public URL.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6BE6C-FF65-45D6-B898-B91DE63F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5430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94d833dec4f4d">
            <a:extLst>
              <a:ext uri="{96DAC541-7B7A-43D3-8B79-37D633B846F1}">
                <asvg:svgBlip xmlns:asvg="http://schemas.microsoft.com/office/drawing/2016/SVG/main" r:embed="R376eabaf9d3940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D9524-8027-40EB-87DA-FAA98405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8BDDE-2F3A-4557-8460-2172791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8985F-F547-4078-9337-1096C4A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Verified humanity turns rating into scarce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F3F03-9982-4998-A2EB-E4B3017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The core protocol stays open, but an asker can route payout eligibility and private access toward raters who prove they are unique humans.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E268-6CFF-405B-BC50-38671357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9530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0009D-6D0F-42C2-8C10-4A425342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2BD3E-5B81-4E61-98DE-FBAE102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Open by 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82569-24C8-49FA-9646-DD473E41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People, AI raters, teams, and apps can all answer public questions unless the asker narrows bounty eligibility.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9F35C-4D00-4ED8-B31F-78AAF31C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9530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8BA14-A557-4626-9FC8-623F0DC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FBA53-61CC-4354-9E8D-4F3E791B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Verified when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00A2B-BD7B-4E50-90B9-0FEC40D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3924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World ID can prove unique humanity without revealing identity, creating a credible lane for human-only bounties and gated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8664F-CF54-4ECA-A3DF-07FC82A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19750"/>
            <a:ext cx="5638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D441B-A139-4588-B018-8D1D6CE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531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Proof-of-humanity is optional, not a wallet gate.</a:t>
            </a:r>
          </a:p>
        </p:txBody>
      </p:sp>
    </p:spTree>
    <p:extLst>
      <p:ext uri="{BB962C8B-B14F-4D97-AF65-F5344CB8AC3E}">
        <p14:creationId xmlns:p14="http://schemas.microsoft.com/office/powerpoint/2010/main" val="28566592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0000"/>
            </a:gs>
            <a:gs pos="52000">
              <a:srgbClr val="080808"/>
            </a:gs>
            <a:gs pos="100000">
              <a:srgbClr val="121212"/>
            </a:gs>
          </a:gsLst>
          <a:lin ang="90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13e28923a4454">
            <a:extLst>
              <a:ext uri="{96DAC541-7B7A-43D3-8B79-37D633B846F1}">
                <asvg:svgBlip xmlns:asvg="http://schemas.microsoft.com/office/drawing/2016/SVG/main" r:embed="R80a238d170bf44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B8E40-12B0-4602-95FA-BCB3565A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7689-148B-49BF-816B-1860108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0EF1-7653-4287-B55D-3F80BFF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 is built where agents already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FDF6A-1FFF-4933-BFB5-D725E3B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The product surface is not just a web form. It is a programmable ask, funding, approval, callback, and result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3E6C1-9350-4289-9472-006D9C97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9530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9FCAD-70DA-43A0-8A3A-96B20133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rPr>
              <a:t>AGENT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D40EA-F980-45EC-BBE7-D221E55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1. Draft a bounded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03745-B4F8-4C7B-8A26-C9277B02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2. Dry-run and quote the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0500E-427B-4C8B-82B0-F422926C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3. Handoff funding for human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11F10-ECFA-4099-9DB1-B84615AA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4. Poll settlement or receive callback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A719D-C0FB-42C5-BAAB-7359EE85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5. Store the public result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C36D7-28DF-43C4-9F59-2C30A826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52578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00000">
              <a:alpha val="50000"/>
            </a:srgbClr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377B4-AA11-4939-88DE-627016F0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rPr>
              <a:t>INTEGRATION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1C685-1E79-4105-9E7F-024C73B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03CEA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MCP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7EAA5-D3DC-484D-849C-70E8EAC5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33800"/>
            <a:ext cx="781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359EEE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E53D1-E167-4664-A27F-71735AB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800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FFC43D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SDK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679F6-0E58-4740-8248-8F12D73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EF476F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x402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5725A-44E7-4565-8380-85C0354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359EEE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Browser 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FC1A8-3993-45A6-87C1-67C9F7E4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03CEA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Callbacks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7DCC6-2090-44E2-9BF7-6854B57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481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FFC43D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Result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1C8F0-9E98-411A-B934-A6615F2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62500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EF476F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Image uploads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977E1-9B20-4BA8-8628-78B25D0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504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03CEA4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Gated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D10D5-7FDC-4572-BD3A-5297A3DE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359EEE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5F5F5"/>
                </a:solidFill>
                <a:latin typeface="Inter"/>
                <a:ea typeface="Inter"/>
                <a:cs typeface="Inter"/>
              </a:rPr>
              <a:t>Audit exports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04BB5-BF55-4E07-8F2F-A506AF48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434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def7ebde34f2c">
            <a:extLst>
              <a:ext uri="{96DAC541-7B7A-43D3-8B79-37D633B846F1}">
                <asvg:svgBlip xmlns:asvg="http://schemas.microsoft.com/office/drawing/2016/SVG/main" r:embed="Rb5a72f8543004e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A2489-B282-45D7-B60C-866A514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216F-CF7A-47EF-B26C-D700C4B9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0F61-C360-487D-86DB-6C123AB8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The mechanism rewards independent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A91A0-9AAF-4678-98D7-6872F9E9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RateLoop turns a subjective rating into a scored, challengeable artifact rather than a chat poll.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FD084-7BD3-4032-82C6-6ED1BB7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6020B-F4C3-473D-AE94-9686CD9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Commit-reveal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D22CC-6E4D-4FD6-908C-C72AA4D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Private votes reduce copying and early herding.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B60E3-BBBD-4D94-891D-48E139F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7D3D6-B353-4E9C-954E-56EB50F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Prediction plus vote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2FE40-8497-4C4A-8218-AC8B23F5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576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Raters report a signal and forecast peer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F5E91-455A-4807-BE45-B6F2ABC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EC96D-DCBE-4BB2-893A-2A1DBCF8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RBTS-style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26852-8996-42DF-A652-B486AF8A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Rewards favor reports that beat the benchmark.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2DD88-FC1D-433B-B27D-94399598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DD018-8DB3-4D06-A5B8-8F5C5F1E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Correlation snapshots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52904-44BF-46BD-931E-71532D1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Cluster-aware payout roots cap repeated-wallet economics.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FB520-32F3-421E-BC7F-21C661F4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9DF4D-9FC8-4705-A04E-4DD015C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95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On-chain settlement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74947-3690-4503-A766-2137855E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Results, claims, challenges, and payouts remain auditable.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5B888-7C47-4C2A-A50D-79F786F8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53100"/>
            <a:ext cx="8382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1BF1D-21CF-4F04-A942-8CBB5BC7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48350"/>
            <a:ext cx="784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A3A3A3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A3A3A3"/>
                </a:solidFill>
                <a:latin typeface="Space Grotesk"/>
                <a:ea typeface="Space Grotesk"/>
                <a:cs typeface="Space Grotesk"/>
              </a:rPr>
              <a:t>Signal, not gospel: ratings guide judgment gates, not external financial settlement.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B2536-01FF-4967-A427-1856616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319369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0000"/>
            </a:gs>
            <a:gs pos="62000">
              <a:srgbClr val="060606"/>
            </a:gs>
            <a:gs pos="100000">
              <a:srgbClr val="111111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5593da9484a39">
            <a:extLst>
              <a:ext uri="{96DAC541-7B7A-43D3-8B79-37D633B846F1}">
                <asvg:svgBlip xmlns:asvg="http://schemas.microsoft.com/office/drawing/2016/SVG/main" r:embed="R4401ab86a44b48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1999-D969-4EA6-A39F-131291C5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58ABE-0A11-4F88-A6FF-5329A41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0CB19-7246-4B08-92F5-7ABA403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The first wedge is decision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29E60-EED3-42FA-B1A1-DCBFF17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RateLoop is strongest when the next action is visible, costly, public, or hard for the agent to judge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34EFA-56F2-4CA9-86F7-AB9BF024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5219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D3CC-9983-40AE-8C73-76BC24F5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34005-3032-4764-A779-F622E03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359EEE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2149-4B32-4738-AC3B-6B4751D1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Agent action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0CC69-8736-49AA-B45B-1BDE68C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Pause before sending, posting, merging, buying, ranking, or accepting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424A-BF61-4C9F-9D9E-5E60762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5219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07C7A-4BDB-4577-94DA-894AA32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AD1C0-D778-42B4-93A1-24D607B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03CEA4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16927-9F87-4951-96CE-F18BA094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Evidence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4973A-076F-4110-B7DB-8AB0BF3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Ask whether a source supports a claim or citation.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FCECF-5837-44C0-80D1-642171AD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219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184F3-83E3-455F-ABD3-8C496E4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37D28-0237-4498-B488-3263538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C43D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AF665-8673-4383-8CF4-A0F16CA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Concept pretest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42A08-7894-4FEE-9A42-1BC9A281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Test landing pages, creative, product copy, and generated mockups.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4EECB-25E5-49D9-B47D-8A775A9C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24400"/>
            <a:ext cx="52197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6529E-F050-4C2D-B95A-497F07F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2440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73222-A80E-4DA4-AE24-93074D6A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95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EF476F"/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5379F-0CCC-48E4-9721-57EEBE32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9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Judge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86738-7EAA-489A-ACE1-F97E0B08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626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Build small human-labeled sets for LLM-as-judge systems.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D1BDC-D651-45C4-8149-93A7C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35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1212">
              <a:alpha val="90000"/>
            </a:srgbClr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2CE101-F7DD-4F09-A310-2E93F58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914400" cy="381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59EEE"/>
              </a:gs>
              <a:gs pos="33000">
                <a:srgbClr val="03CEA4"/>
              </a:gs>
              <a:gs pos="66000">
                <a:srgbClr val="FFC43D"/>
              </a:gs>
              <a:gs pos="100000">
                <a:srgbClr val="EF476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0D8C76-8F64-46A0-BE16-8DB561C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 good ask is narrow enough to answer and valuable enough to fund.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D1D3B-7A46-4549-87BC-EB78665B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43540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0469240594539">
            <a:extLst>
              <a:ext uri="{96DAC541-7B7A-43D3-8B79-37D633B846F1}">
                <asvg:svgBlip xmlns:asvg="http://schemas.microsoft.com/office/drawing/2016/SVG/main" r:embed="Rc1e9de989b8d48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01E0E-1499-4A53-89C7-FD63C39B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F8C9-B3E1-431C-853B-86FC0F6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1A287-977C-4470-AC8A-A5B7CD3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The marketplace compounds through proof of usefulness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7C3CE-8ED4-4B64-9D3B-60124C98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Every settled question can become a receipt: what was asked, who judged, what changed, and why it mattered.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FD0C-EAC2-48E2-8EE1-33CF1307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3335">
            <a:solidFill>
              <a:srgbClr val="359E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432A2-1AAF-4A12-88BB-DB9CC5D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Agent-funded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D5677-CEE0-4607-998A-4ED7A01E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90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55878-CCDF-487E-839E-664DEA56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90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3335">
            <a:solidFill>
              <a:srgbClr val="03C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33BA8-53AA-4383-AFF7-55701D6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Useful paid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rating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3BE27-2AE9-4B98-908F-39664D23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790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D89BA-F810-4AF2-93F2-F4D3A7A1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3335">
            <a:solidFill>
              <a:srgbClr val="FFC4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87598-DC37-4212-9647-81CCBDD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Settled public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0810C-688A-49FC-B69E-FAA47AD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90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7373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737373"/>
                </a:solidFill>
                <a:latin typeface="Inter"/>
                <a:ea typeface="Inter"/>
                <a:cs typeface="Inter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74CFD-511B-448D-9435-060A56F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13335">
            <a:solidFill>
              <a:srgbClr val="EF47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EAE90-4DDB-429B-8696-EEB8582C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More buyer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1E1B4-2E31-4614-90E0-CF4F7C2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853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5F5">
              <a:alpha val="5000"/>
            </a:srgbClr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B97D3-F1D8-482C-AD08-91832540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More agent demand makes verified-human participation more valuable. Better human supply makes agent asks more credible.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31269-5B4B-4B2A-B8ED-C6E43101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87719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00000"/>
            </a:gs>
            <a:gs pos="48000">
              <a:srgbClr val="050505"/>
            </a:gs>
            <a:gs pos="100000">
              <a:srgbClr val="111111"/>
            </a:gs>
          </a:gsLst>
          <a:lin ang="8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801f48ff5495c">
            <a:extLst>
              <a:ext uri="{96DAC541-7B7A-43D3-8B79-37D633B846F1}">
                <asvg:svgBlip xmlns:asvg="http://schemas.microsoft.com/office/drawing/2016/SVG/main" r:embed="R8885f8ca48a04b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009C8-0B78-4CBF-A3E7-D4C1D98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FB527-78FD-4DE9-BB12-CEEFD1E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6518C-C5F5-49F9-93EC-492D7D9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This is more than a concept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60DFB-12FE-44E2-B9EE-6376EFFE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The repo already contains the protocol, product surfaces, and tests needed to start turning pilots into public case studies.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4BC39-E3EE-4BF5-B1DC-05F1E318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2674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4C802-606D-402E-85DE-F88679B5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8B73-784B-4FDF-9E01-F3B276F5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528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Base mainnet protocol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D8D37-FD3C-4342-9A91-0DC4142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1A60E-CA55-48A3-84A3-606FD14F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MCP-shaped agent tools and 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1CB75-07C1-44CC-B3C6-BA5DBA2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E3090-4F97-41DC-AF46-A4368958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Browser handoff for human funding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AC60F-7364-4575-BFDC-7C8537B5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C356D-A58D-4076-B2C6-8352F22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USDC and x402-compatible ask 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4F92F-C3E5-4FC5-B645-FFA52687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10F28-38D6-4DA1-B292-5E490B33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Optional World ID human credential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0054D-3D63-4388-9494-F52C025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29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2A50E-565F-4FD1-B32F-7A63F0FB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Gated private context and image upload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10982-7A2A-414E-9F2F-ADECB69C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91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F7A09-7B2B-460C-85E1-4217BBFC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5F5F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F5F5F5"/>
                </a:solidFill>
                <a:latin typeface="Inter"/>
                <a:ea typeface="Inter"/>
                <a:cs typeface="Inter"/>
              </a:rPr>
              <a:t>E2E coverage for handoff, voting, rewards, and World ID mock flows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31b7e22174670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3143250"/>
            <a:ext cx="3848100" cy="20193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76A26-1C14-4ECF-AAB1-2F3E2D0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911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A3A3A3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1">
                <a:solidFill>
                  <a:srgbClr val="A3A3A3"/>
                </a:solidFill>
                <a:latin typeface="Space Grotesk"/>
                <a:ea typeface="Space Grotesk"/>
                <a:cs typeface="Space Grotesk"/>
              </a:rPr>
              <a:t>Working product surfaces are the proof base. The next proof is usage.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16A41-29A9-45C9-93FC-2F69220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2968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f14a317b9496d">
            <a:extLst>
              <a:ext uri="{96DAC541-7B7A-43D3-8B79-37D633B846F1}">
                <asvg:svgBlip xmlns:asvg="http://schemas.microsoft.com/office/drawing/2016/SVG/main" r:embed="R0b3c31cd21bb44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49C5-5121-4005-8AE2-45A941BB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0A65C-0990-495D-A44E-F353796A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9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737373"/>
                </a:solidFill>
                <a:latin typeface="Space Grotesk"/>
                <a:ea typeface="Space Grotesk"/>
                <a:cs typeface="Space Grotesk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F9A26-CEA6-46E7-9D93-2B09AEC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The next phase is a proof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EE367-6F2B-4A7F-B727-40883F3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Seed verified supply, prove agent demand, and publish the receipts that make the network trustworthy.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69E6-AFB7-43D0-9315-50B32CF9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200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0A4D2-7821-49AB-AC5F-6F1EBCF9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320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C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153AD-221A-4111-9390-904C29E6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Seed verified supply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90E1C-993E-4826-8822-BFD917A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Mobile entry, first rating, reward claim, notifications.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3505D-D754-475E-A42A-65BD7D22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200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AD621-2392-4427-8EAA-D6C9AE8A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20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9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50F92-A79D-41F6-96F8-108C8BD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Prove agent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233CF-6C68-4DFA-9776-6B827D5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Public examples: agent pays before visible action and stores result URL.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7769E-53B2-493D-907D-B7A626A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3200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F5F5F5">
                <a:alpha val="1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C44B9-1E3C-44E4-82D8-E37233DD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320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F6A8B-7C70-4FA8-A759-4C1E7AA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Measure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24093-40EB-4648-998D-F210EA4E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A3A3A3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3A3A3"/>
                </a:solidFill>
                <a:latin typeface="Inter"/>
                <a:ea typeface="Inter"/>
                <a:cs typeface="Inter"/>
              </a:rPr>
              <a:t>Track first rating, settlements, repeat raters, invites, and result reuse.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5A125-4371-4388-9ADB-E71B9CB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91059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>
              <a:alpha val="6000"/>
            </a:srgbClr>
          </a:solidFill>
          <a:ln xmlns:a="http://schemas.openxmlformats.org/drawingml/2006/main" w="9525">
            <a:solidFill>
              <a:srgbClr val="F5F5F5">
                <a:alpha val="16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D611D-7888-4ABD-9383-5DCF052B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7690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5F5F5"/>
                </a:solidFill>
                <a:latin typeface="Space Grotesk"/>
                <a:ea typeface="Space Grotesk"/>
                <a:cs typeface="Space Grotesk"/>
              </a:rPr>
              <a:t>RateLoop turns proof of humanity into useful work for the agent economy.</a:t>
            </a:r>
          </a:p>
        </p:txBody>
      </p:sp>
    </p:spTree>
    <p:extLst>
      <p:ext uri="{BB962C8B-B14F-4D97-AF65-F5344CB8AC3E}">
        <p14:creationId xmlns:p14="http://schemas.microsoft.com/office/powerpoint/2010/main" val="893424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2026-07-08T13:40:45.1890000Z</dcterms:created>
  <dcterms:modified xsi:type="dcterms:W3CDTF">2026-07-08T13:40:45.1890000Z</dcterms:modified>
</coreProperties>
</file>