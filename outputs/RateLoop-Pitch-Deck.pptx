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RateLoop is an open rating protocol: humans and AI raters answer bounded questions for bounties, and the settled result lives on-chain as public, reusable judgment. Live on Base mainnet. This deck walks through why it exists, how the round works, how the signal stays honest, and why verified humans are at the center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in a world where anything online can be synthesized, the bottleneck for agents and AI products is no longer generating options — it's knowing which option real people would actually trust. Passive engagement metrics can't carry that weight because they are free to fake and carry no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primitive: ask one bounded question, fund it, and let open raters vote and predict inside a blind round. Once reveal conditions are met the verdict closes on-chain — the settled score shown here is the actual product surface — and the public result stays reusable for any later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primitive covers the whole evaluation stack: closing the loop on agent quality with real human feedback, confidential pre-launch research through gated context, acceptance gates between agents, escalation to verified humans when AI raters disagree, go/no-go gates before consequential actions, and claim or source verification. Anywhere teams currently rely on an LLM judging another LLM, a settled human verdict is a stronger, auditable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integrity is the product. Commit-reveal blinding removes herding; peer-prediction scoring makes truthfulness the rational strategy; optional stake adds accountability; and correlation-capped payouts limit what any coordinated cluster can extract or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is one command in any MCP host, plus an SDK and raw JSON routes for pipelines. Payment is chain-native USDC via x402/EIP-3009 or wallet-signed flows — the frontend operator never takes custody of bounty funds. Agents detect uncertainty, ask, and get a machine-usable, citable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teams already working in OpenAI Codex, RateLoop is a marketplace plugin: one install adds the MCP server plus a standing skill. Codex recognizes evaluative moments, drafts the ask, and generates a browser handoff link; the human opens it, sets the USDC bounty, and signs from their own wallet — non-custodial end to end — while the agent polls for the settled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Hawig: Director of Ecosystem Growth at the Web3 Foundation, two-time startup founder; florence.chat reached #2 worldwide among chatbots by usage. The rest of the team is deliberately AI: Codex/ChatGPT and Claude carry the engineering load. The team structure itself demonstrates the thesis — agents do the work, humans supply the judgment that agents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infrastructure framing: RateLoop isn't a closed approval service — it's a public judgment layer that agents, apps, and researchers can all read from and build on. Live on Base, open source, with a launch distribution designed around verified humans and useful early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7-1.png"/><Relationship Id="rId6" Type="http://schemas.openxmlformats.org/officeDocument/2006/relationships/image" Target="../media/image-7-1.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assets/ring.png">    </p:cNvPr>
          <p:cNvPicPr>
            <a:picLocks noChangeAspect="1"/>
          </p:cNvPicPr>
          <p:nvPr/>
        </p:nvPicPr>
        <p:blipFill>
          <a:blip r:embed="rId1"/>
          <a:stretch>
            <a:fillRect/>
          </a:stretch>
        </p:blipFill>
        <p:spPr>
          <a:xfrm>
            <a:off x="5349240" y="685800"/>
            <a:ext cx="3749040" cy="3749040"/>
          </a:xfrm>
          <a:prstGeom prst="rect">
            <a:avLst/>
          </a:prstGeom>
        </p:spPr>
      </p:pic>
      <p:pic>
        <p:nvPicPr>
          <p:cNvPr id="3" name="Image 1" descr="assets/wordmark.png">    </p:cNvPr>
          <p:cNvPicPr>
            <a:picLocks noChangeAspect="1"/>
          </p:cNvPicPr>
          <p:nvPr/>
        </p:nvPicPr>
        <p:blipFill>
          <a:blip r:embed="rId2"/>
          <a:stretch>
            <a:fillRect/>
          </a:stretch>
        </p:blipFill>
        <p:spPr>
          <a:xfrm>
            <a:off x="548640" y="960120"/>
            <a:ext cx="3877056" cy="1188720"/>
          </a:xfrm>
          <a:prstGeom prst="rect">
            <a:avLst/>
          </a:prstGeom>
        </p:spPr>
      </p:pic>
      <p:sp>
        <p:nvSpPr>
          <p:cNvPr id="4" name="Text 0"/>
          <p:cNvSpPr/>
          <p:nvPr/>
        </p:nvSpPr>
        <p:spPr>
          <a:xfrm>
            <a:off x="566928" y="2286000"/>
            <a:ext cx="4480560" cy="411480"/>
          </a:xfrm>
          <a:prstGeom prst="rect">
            <a:avLst/>
          </a:prstGeom>
          <a:noFill/>
          <a:ln/>
        </p:spPr>
        <p:txBody>
          <a:bodyPr wrap="square" lIns="0" tIns="0" rIns="0" bIns="0" rtlCol="0" anchor="ctr"/>
          <a:lstStyle/>
          <a:p>
            <a:pPr indent="0" marL="0">
              <a:buNone/>
            </a:pPr>
            <a:r>
              <a:rPr lang="en-US" sz="2100" b="1" dirty="0">
                <a:solidFill>
                  <a:srgbClr val="F5F5F5"/>
                </a:solidFill>
                <a:latin typeface="Space Grotesk" pitchFamily="34" charset="0"/>
                <a:ea typeface="Space Grotesk" pitchFamily="34" charset="-122"/>
                <a:cs typeface="Space Grotesk" pitchFamily="34" charset="-120"/>
              </a:rPr>
              <a:t>Level Up Your Agent</a:t>
            </a:r>
            <a:endParaRPr lang="en-US" sz="2100" dirty="0"/>
          </a:p>
        </p:txBody>
      </p:sp>
      <p:sp>
        <p:nvSpPr>
          <p:cNvPr id="5" name="Text 1"/>
          <p:cNvSpPr/>
          <p:nvPr/>
        </p:nvSpPr>
        <p:spPr>
          <a:xfrm>
            <a:off x="566928" y="2788920"/>
            <a:ext cx="4297680" cy="685800"/>
          </a:xfrm>
          <a:prstGeom prst="rect">
            <a:avLst/>
          </a:prstGeom>
          <a:noFill/>
          <a:ln/>
        </p:spPr>
        <p:txBody>
          <a:bodyPr wrap="square" lIns="0" tIns="0" rIns="0" bIns="0" rtlCol="0" anchor="ctr"/>
          <a:lstStyle/>
          <a:p>
            <a:pPr indent="0" marL="0">
              <a:lnSpc>
                <a:spcPct val="125000"/>
              </a:lnSpc>
              <a:buNone/>
            </a:pPr>
            <a:r>
              <a:rPr lang="en-US" sz="1250" dirty="0">
                <a:solidFill>
                  <a:srgbClr val="A3A3A3"/>
                </a:solidFill>
                <a:latin typeface="Inter" pitchFamily="34" charset="0"/>
                <a:ea typeface="Inter" pitchFamily="34" charset="-122"/>
                <a:cs typeface="Inter" pitchFamily="34" charset="-120"/>
              </a:rPr>
              <a:t>Human and AI raters guide agent decisions —</a:t>
            </a:r>
            <a:endParaRPr lang="en-US" sz="1250" dirty="0"/>
          </a:p>
          <a:p>
            <a:pPr indent="0" marL="0">
              <a:lnSpc>
                <a:spcPct val="125000"/>
              </a:lnSpc>
              <a:buNone/>
            </a:pPr>
            <a:r>
              <a:rPr lang="en-US" sz="1250" dirty="0">
                <a:solidFill>
                  <a:srgbClr val="A3A3A3"/>
                </a:solidFill>
                <a:latin typeface="Inter" pitchFamily="34" charset="0"/>
                <a:ea typeface="Inter" pitchFamily="34" charset="-122"/>
                <a:cs typeface="Inter" pitchFamily="34" charset="-120"/>
              </a:rPr>
              <a:t>and earn USDC or LREP.</a:t>
            </a:r>
            <a:endParaRPr lang="en-US" sz="1250" dirty="0"/>
          </a:p>
        </p:txBody>
      </p:sp>
      <p:sp>
        <p:nvSpPr>
          <p:cNvPr id="6" name="Text 2"/>
          <p:cNvSpPr/>
          <p:nvPr/>
        </p:nvSpPr>
        <p:spPr>
          <a:xfrm>
            <a:off x="566928" y="4526280"/>
            <a:ext cx="5943600" cy="274320"/>
          </a:xfrm>
          <a:prstGeom prst="rect">
            <a:avLst/>
          </a:prstGeom>
          <a:noFill/>
          <a:ln/>
        </p:spPr>
        <p:txBody>
          <a:bodyPr wrap="square" lIns="0" tIns="0" rIns="0" bIns="0" rtlCol="0" anchor="ctr"/>
          <a:lstStyle/>
          <a:p>
            <a:pPr indent="0" marL="0">
              <a:buNone/>
            </a:pPr>
            <a:r>
              <a:rPr lang="en-US" sz="1050" dirty="0">
                <a:solidFill>
                  <a:srgbClr val="A3A3A3"/>
                </a:solidFill>
                <a:latin typeface="Inter" pitchFamily="34" charset="0"/>
                <a:ea typeface="Inter" pitchFamily="34" charset="-122"/>
                <a:cs typeface="Inter" pitchFamily="34" charset="-120"/>
              </a:rPr>
              <a:t>Open rating protocol</a:t>
            </a:r>
            <a:pPr indent="0" marL="0">
              <a:buNone/>
            </a:pPr>
            <a:r>
              <a:rPr lang="en-US" sz="1050" dirty="0">
                <a:solidFill>
                  <a:srgbClr val="737373"/>
                </a:solidFill>
                <a:latin typeface="Inter" pitchFamily="34" charset="0"/>
                <a:ea typeface="Inter" pitchFamily="34" charset="-122"/>
                <a:cs typeface="Inter" pitchFamily="34" charset="-120"/>
              </a:rPr>
              <a:t>   ·   </a:t>
            </a:r>
            <a:pPr indent="0" marL="0">
              <a:buNone/>
            </a:pPr>
            <a:r>
              <a:rPr lang="en-US" sz="1050" b="1" dirty="0">
                <a:solidFill>
                  <a:srgbClr val="F5F5F5"/>
                </a:solidFill>
                <a:latin typeface="Inter" pitchFamily="34" charset="0"/>
                <a:ea typeface="Inter" pitchFamily="34" charset="-122"/>
                <a:cs typeface="Inter" pitchFamily="34" charset="-120"/>
              </a:rPr>
              <a:t>rateloop.ai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The agent internet has a judgment problem</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Generative models made content abundant — and made trust scarce.</a:t>
            </a:r>
            <a:endParaRPr lang="en-US" sz="1250" dirty="0"/>
          </a:p>
        </p:txBody>
      </p:sp>
      <p:sp>
        <p:nvSpPr>
          <p:cNvPr id="4" name="Shape 2"/>
          <p:cNvSpPr/>
          <p:nvPr/>
        </p:nvSpPr>
        <p:spPr>
          <a:xfrm>
            <a:off x="548640" y="1481328"/>
            <a:ext cx="2587752" cy="2395728"/>
          </a:xfrm>
          <a:prstGeom prst="roundRect">
            <a:avLst>
              <a:gd name="adj" fmla="val 2672"/>
            </a:avLst>
          </a:prstGeom>
          <a:solidFill>
            <a:srgbClr val="121212"/>
          </a:solidFill>
          <a:ln w="9525">
            <a:solidFill>
              <a:srgbClr val="222222"/>
            </a:solidFill>
            <a:prstDash val="solid"/>
          </a:ln>
        </p:spPr>
      </p:sp>
      <p:sp>
        <p:nvSpPr>
          <p:cNvPr id="5" name="Shape 3"/>
          <p:cNvSpPr/>
          <p:nvPr/>
        </p:nvSpPr>
        <p:spPr>
          <a:xfrm>
            <a:off x="749808" y="1700784"/>
            <a:ext cx="475488" cy="475488"/>
          </a:xfrm>
          <a:prstGeom prst="ellipse">
            <a:avLst/>
          </a:prstGeom>
          <a:solidFill>
            <a:srgbClr val="F5F5F5">
              <a:alpha val="7000"/>
            </a:srgbClr>
          </a:solidFill>
          <a:ln w="9525">
            <a:solidFill>
              <a:srgbClr val="222222"/>
            </a:solidFill>
            <a:prstDash val="solid"/>
          </a:ln>
        </p:spPr>
      </p:sp>
      <p:pic>
        <p:nvPicPr>
          <p:cNvPr id="6" name="Image 0" descr="preencoded.png">    </p:cNvPr>
          <p:cNvPicPr>
            <a:picLocks noChangeAspect="1"/>
          </p:cNvPicPr>
          <p:nvPr/>
        </p:nvPicPr>
        <p:blipFill>
          <a:blip r:embed="rId1"/>
          <a:stretch>
            <a:fillRect/>
          </a:stretch>
        </p:blipFill>
        <p:spPr>
          <a:xfrm>
            <a:off x="873435" y="1824411"/>
            <a:ext cx="228234" cy="228234"/>
          </a:xfrm>
          <a:prstGeom prst="rect">
            <a:avLst/>
          </a:prstGeom>
        </p:spPr>
      </p:pic>
      <p:sp>
        <p:nvSpPr>
          <p:cNvPr id="7" name="Text 4"/>
          <p:cNvSpPr/>
          <p:nvPr/>
        </p:nvSpPr>
        <p:spPr>
          <a:xfrm>
            <a:off x="749808" y="2322576"/>
            <a:ext cx="2185416" cy="502920"/>
          </a:xfrm>
          <a:prstGeom prst="rect">
            <a:avLst/>
          </a:prstGeom>
          <a:noFill/>
          <a:ln/>
        </p:spPr>
        <p:txBody>
          <a:bodyPr wrap="square" lIns="0" tIns="0" rIns="0" bIns="0" rtlCol="0" anchor="ctr"/>
          <a:lstStyle/>
          <a:p>
            <a:pPr indent="0" marL="0">
              <a:buNone/>
            </a:pPr>
            <a:r>
              <a:rPr lang="en-US" sz="1450" b="1" dirty="0">
                <a:solidFill>
                  <a:srgbClr val="F5F5F5"/>
                </a:solidFill>
                <a:latin typeface="Space Grotesk" pitchFamily="34" charset="0"/>
                <a:ea typeface="Space Grotesk" pitchFamily="34" charset="-122"/>
                <a:cs typeface="Space Grotesk" pitchFamily="34" charset="-120"/>
              </a:rPr>
              <a:t>Anything can be faked</a:t>
            </a:r>
            <a:endParaRPr lang="en-US" sz="1450" dirty="0"/>
          </a:p>
        </p:txBody>
      </p:sp>
      <p:sp>
        <p:nvSpPr>
          <p:cNvPr id="8" name="Text 5"/>
          <p:cNvSpPr/>
          <p:nvPr/>
        </p:nvSpPr>
        <p:spPr>
          <a:xfrm>
            <a:off x="749808" y="2779776"/>
            <a:ext cx="2185416" cy="960120"/>
          </a:xfrm>
          <a:prstGeom prst="rect">
            <a:avLst/>
          </a:prstGeom>
          <a:noFill/>
          <a:ln/>
        </p:spPr>
        <p:txBody>
          <a:bodyPr wrap="square" lIns="0" tIns="0" rIns="0" bIns="0" rtlCol="0" anchor="ctr"/>
          <a:lstStyle/>
          <a:p>
            <a:pPr indent="0" marL="0">
              <a:lnSpc>
                <a:spcPct val="115000"/>
              </a:lnSpc>
              <a:buNone/>
            </a:pPr>
            <a:r>
              <a:rPr lang="en-US" sz="1050" dirty="0">
                <a:solidFill>
                  <a:srgbClr val="A3A3A3"/>
                </a:solidFill>
                <a:latin typeface="Inter" pitchFamily="34" charset="0"/>
                <a:ea typeface="Inter" pitchFamily="34" charset="-122"/>
                <a:cs typeface="Inter" pitchFamily="34" charset="-120"/>
              </a:rPr>
              <a:t>Text, images, reviews — even raters — are cheap to synthesize. Real signal drowns in confident noise.</a:t>
            </a:r>
            <a:endParaRPr lang="en-US" sz="1050" dirty="0"/>
          </a:p>
        </p:txBody>
      </p:sp>
      <p:sp>
        <p:nvSpPr>
          <p:cNvPr id="9" name="Shape 6"/>
          <p:cNvSpPr/>
          <p:nvPr/>
        </p:nvSpPr>
        <p:spPr>
          <a:xfrm>
            <a:off x="3355848" y="1481328"/>
            <a:ext cx="2587752" cy="2395728"/>
          </a:xfrm>
          <a:prstGeom prst="roundRect">
            <a:avLst>
              <a:gd name="adj" fmla="val 2672"/>
            </a:avLst>
          </a:prstGeom>
          <a:solidFill>
            <a:srgbClr val="121212"/>
          </a:solidFill>
          <a:ln w="9525">
            <a:solidFill>
              <a:srgbClr val="222222"/>
            </a:solidFill>
            <a:prstDash val="solid"/>
          </a:ln>
        </p:spPr>
      </p:sp>
      <p:sp>
        <p:nvSpPr>
          <p:cNvPr id="10" name="Shape 7"/>
          <p:cNvSpPr/>
          <p:nvPr/>
        </p:nvSpPr>
        <p:spPr>
          <a:xfrm>
            <a:off x="3557016" y="1700784"/>
            <a:ext cx="475488" cy="475488"/>
          </a:xfrm>
          <a:prstGeom prst="ellipse">
            <a:avLst/>
          </a:prstGeom>
          <a:solidFill>
            <a:srgbClr val="F5F5F5">
              <a:alpha val="7000"/>
            </a:srgbClr>
          </a:solidFill>
          <a:ln w="9525">
            <a:solidFill>
              <a:srgbClr val="222222"/>
            </a:solidFill>
            <a:prstDash val="solid"/>
          </a:ln>
        </p:spPr>
      </p:sp>
      <p:pic>
        <p:nvPicPr>
          <p:cNvPr id="11" name="Image 1" descr="preencoded.png">    </p:cNvPr>
          <p:cNvPicPr>
            <a:picLocks noChangeAspect="1"/>
          </p:cNvPicPr>
          <p:nvPr/>
        </p:nvPicPr>
        <p:blipFill>
          <a:blip r:embed="rId2"/>
          <a:stretch>
            <a:fillRect/>
          </a:stretch>
        </p:blipFill>
        <p:spPr>
          <a:xfrm>
            <a:off x="3680643" y="1824411"/>
            <a:ext cx="228234" cy="228234"/>
          </a:xfrm>
          <a:prstGeom prst="rect">
            <a:avLst/>
          </a:prstGeom>
        </p:spPr>
      </p:pic>
      <p:sp>
        <p:nvSpPr>
          <p:cNvPr id="12" name="Text 8"/>
          <p:cNvSpPr/>
          <p:nvPr/>
        </p:nvSpPr>
        <p:spPr>
          <a:xfrm>
            <a:off x="3557016" y="2322576"/>
            <a:ext cx="2185416" cy="502920"/>
          </a:xfrm>
          <a:prstGeom prst="rect">
            <a:avLst/>
          </a:prstGeom>
          <a:noFill/>
          <a:ln/>
        </p:spPr>
        <p:txBody>
          <a:bodyPr wrap="square" lIns="0" tIns="0" rIns="0" bIns="0" rtlCol="0" anchor="ctr"/>
          <a:lstStyle/>
          <a:p>
            <a:pPr indent="0" marL="0">
              <a:buNone/>
            </a:pPr>
            <a:r>
              <a:rPr lang="en-US" sz="1450" b="1" dirty="0">
                <a:solidFill>
                  <a:srgbClr val="F5F5F5"/>
                </a:solidFill>
                <a:latin typeface="Space Grotesk" pitchFamily="34" charset="0"/>
                <a:ea typeface="Space Grotesk" pitchFamily="34" charset="-122"/>
                <a:cs typeface="Space Grotesk" pitchFamily="34" charset="-120"/>
              </a:rPr>
              <a:t>Passive signals are weak</a:t>
            </a:r>
            <a:endParaRPr lang="en-US" sz="1450" dirty="0"/>
          </a:p>
        </p:txBody>
      </p:sp>
      <p:sp>
        <p:nvSpPr>
          <p:cNvPr id="13" name="Text 9"/>
          <p:cNvSpPr/>
          <p:nvPr/>
        </p:nvSpPr>
        <p:spPr>
          <a:xfrm>
            <a:off x="3557016" y="2779776"/>
            <a:ext cx="2185416" cy="960120"/>
          </a:xfrm>
          <a:prstGeom prst="rect">
            <a:avLst/>
          </a:prstGeom>
          <a:noFill/>
          <a:ln/>
        </p:spPr>
        <p:txBody>
          <a:bodyPr wrap="square" lIns="0" tIns="0" rIns="0" bIns="0" rtlCol="0" anchor="ctr"/>
          <a:lstStyle/>
          <a:p>
            <a:pPr indent="0" marL="0">
              <a:lnSpc>
                <a:spcPct val="115000"/>
              </a:lnSpc>
              <a:buNone/>
            </a:pPr>
            <a:r>
              <a:rPr lang="en-US" sz="1050" dirty="0">
                <a:solidFill>
                  <a:srgbClr val="A3A3A3"/>
                </a:solidFill>
                <a:latin typeface="Inter" pitchFamily="34" charset="0"/>
                <a:ea typeface="Inter" pitchFamily="34" charset="-122"/>
                <a:cs typeface="Inter" pitchFamily="34" charset="-120"/>
              </a:rPr>
              <a:t>Likes, clicks, and stars are easy to farm, impossible to audit, and never explain why.</a:t>
            </a:r>
            <a:endParaRPr lang="en-US" sz="1050" dirty="0"/>
          </a:p>
        </p:txBody>
      </p:sp>
      <p:sp>
        <p:nvSpPr>
          <p:cNvPr id="14" name="Shape 10"/>
          <p:cNvSpPr/>
          <p:nvPr/>
        </p:nvSpPr>
        <p:spPr>
          <a:xfrm>
            <a:off x="6163056" y="1481328"/>
            <a:ext cx="2587752" cy="2395728"/>
          </a:xfrm>
          <a:prstGeom prst="roundRect">
            <a:avLst>
              <a:gd name="adj" fmla="val 2672"/>
            </a:avLst>
          </a:prstGeom>
          <a:solidFill>
            <a:srgbClr val="121212"/>
          </a:solidFill>
          <a:ln w="9525">
            <a:solidFill>
              <a:srgbClr val="222222"/>
            </a:solidFill>
            <a:prstDash val="solid"/>
          </a:ln>
        </p:spPr>
      </p:sp>
      <p:sp>
        <p:nvSpPr>
          <p:cNvPr id="15" name="Shape 11"/>
          <p:cNvSpPr/>
          <p:nvPr/>
        </p:nvSpPr>
        <p:spPr>
          <a:xfrm>
            <a:off x="6364224" y="1700784"/>
            <a:ext cx="475488" cy="475488"/>
          </a:xfrm>
          <a:prstGeom prst="ellipse">
            <a:avLst/>
          </a:prstGeom>
          <a:solidFill>
            <a:srgbClr val="F5F5F5">
              <a:alpha val="7000"/>
            </a:srgbClr>
          </a:solidFill>
          <a:ln w="9525">
            <a:solidFill>
              <a:srgbClr val="222222"/>
            </a:solidFill>
            <a:prstDash val="solid"/>
          </a:ln>
        </p:spPr>
      </p:sp>
      <p:pic>
        <p:nvPicPr>
          <p:cNvPr id="16" name="Image 2" descr="preencoded.png">    </p:cNvPr>
          <p:cNvPicPr>
            <a:picLocks noChangeAspect="1"/>
          </p:cNvPicPr>
          <p:nvPr/>
        </p:nvPicPr>
        <p:blipFill>
          <a:blip r:embed="rId3"/>
          <a:stretch>
            <a:fillRect/>
          </a:stretch>
        </p:blipFill>
        <p:spPr>
          <a:xfrm>
            <a:off x="6487851" y="1824411"/>
            <a:ext cx="228234" cy="228234"/>
          </a:xfrm>
          <a:prstGeom prst="rect">
            <a:avLst/>
          </a:prstGeom>
        </p:spPr>
      </p:pic>
      <p:sp>
        <p:nvSpPr>
          <p:cNvPr id="17" name="Text 12"/>
          <p:cNvSpPr/>
          <p:nvPr/>
        </p:nvSpPr>
        <p:spPr>
          <a:xfrm>
            <a:off x="6364224" y="2322576"/>
            <a:ext cx="2185416" cy="502920"/>
          </a:xfrm>
          <a:prstGeom prst="rect">
            <a:avLst/>
          </a:prstGeom>
          <a:noFill/>
          <a:ln/>
        </p:spPr>
        <p:txBody>
          <a:bodyPr wrap="square" lIns="0" tIns="0" rIns="0" bIns="0" rtlCol="0" anchor="ctr"/>
          <a:lstStyle/>
          <a:p>
            <a:pPr indent="0" marL="0">
              <a:buNone/>
            </a:pPr>
            <a:r>
              <a:rPr lang="en-US" sz="1450" b="1" dirty="0">
                <a:solidFill>
                  <a:srgbClr val="F5F5F5"/>
                </a:solidFill>
                <a:latin typeface="Space Grotesk" pitchFamily="34" charset="0"/>
                <a:ea typeface="Space Grotesk" pitchFamily="34" charset="-122"/>
                <a:cs typeface="Space Grotesk" pitchFamily="34" charset="-120"/>
              </a:rPr>
              <a:t>Agents still guess</a:t>
            </a:r>
            <a:endParaRPr lang="en-US" sz="1450" dirty="0"/>
          </a:p>
        </p:txBody>
      </p:sp>
      <p:sp>
        <p:nvSpPr>
          <p:cNvPr id="18" name="Text 13"/>
          <p:cNvSpPr/>
          <p:nvPr/>
        </p:nvSpPr>
        <p:spPr>
          <a:xfrm>
            <a:off x="6364224" y="2779776"/>
            <a:ext cx="2185416" cy="960120"/>
          </a:xfrm>
          <a:prstGeom prst="rect">
            <a:avLst/>
          </a:prstGeom>
          <a:noFill/>
          <a:ln/>
        </p:spPr>
        <p:txBody>
          <a:bodyPr wrap="square" lIns="0" tIns="0" rIns="0" bIns="0" rtlCol="0" anchor="ctr"/>
          <a:lstStyle/>
          <a:p>
            <a:pPr indent="0" marL="0">
              <a:lnSpc>
                <a:spcPct val="115000"/>
              </a:lnSpc>
              <a:buNone/>
            </a:pPr>
            <a:r>
              <a:rPr lang="en-US" sz="1050" dirty="0">
                <a:solidFill>
                  <a:srgbClr val="A3A3A3"/>
                </a:solidFill>
                <a:latin typeface="Inter" pitchFamily="34" charset="0"/>
                <a:ea typeface="Inter" pitchFamily="34" charset="-122"/>
                <a:cs typeface="Inter" pitchFamily="34" charset="-120"/>
              </a:rPr>
              <a:t>On taste, credibility, or local context, models don't ask — they guess harder.</a:t>
            </a:r>
            <a:endParaRPr lang="en-US" sz="1050" dirty="0"/>
          </a:p>
        </p:txBody>
      </p:sp>
      <p:sp>
        <p:nvSpPr>
          <p:cNvPr id="19" name="Text 14"/>
          <p:cNvSpPr/>
          <p:nvPr/>
        </p:nvSpPr>
        <p:spPr>
          <a:xfrm>
            <a:off x="548640" y="4160520"/>
            <a:ext cx="8046720" cy="365760"/>
          </a:xfrm>
          <a:prstGeom prst="rect">
            <a:avLst/>
          </a:prstGeom>
          <a:noFill/>
          <a:ln/>
        </p:spPr>
        <p:txBody>
          <a:bodyPr wrap="square" lIns="0" tIns="0" rIns="0" bIns="0" rtlCol="0" anchor="ctr"/>
          <a:lstStyle/>
          <a:p>
            <a:pPr algn="ctr" indent="0" marL="0">
              <a:buNone/>
            </a:pPr>
            <a:r>
              <a:rPr lang="en-US" sz="1500" b="1" dirty="0">
                <a:solidFill>
                  <a:srgbClr val="F5F5F5"/>
                </a:solidFill>
                <a:latin typeface="Space Grotesk" pitchFamily="34" charset="0"/>
                <a:ea typeface="Space Grotesk" pitchFamily="34" charset="-122"/>
                <a:cs typeface="Space Grotesk" pitchFamily="34" charset="-120"/>
              </a:rPr>
              <a:t>The scarce resource is no longer content. It's </a:t>
            </a:r>
            <a:pPr algn="ctr" indent="0" marL="0">
              <a:buNone/>
            </a:pPr>
            <a:r>
              <a:rPr lang="en-US" sz="1500" b="1" dirty="0">
                <a:solidFill>
                  <a:srgbClr val="03CEA4"/>
                </a:solidFill>
                <a:latin typeface="Space Grotesk" pitchFamily="34" charset="0"/>
                <a:ea typeface="Space Grotesk" pitchFamily="34" charset="-122"/>
                <a:cs typeface="Space Grotesk" pitchFamily="34" charset="-120"/>
              </a:rPr>
              <a:t>credible human judgment</a:t>
            </a:r>
            <a:pPr algn="ctr" indent="0" marL="0">
              <a:buNone/>
            </a:pPr>
            <a:r>
              <a:rPr lang="en-US" sz="1500" b="1" dirty="0">
                <a:solidFill>
                  <a:srgbClr val="F5F5F5"/>
                </a:solidFill>
                <a:latin typeface="Space Grotesk" pitchFamily="34" charset="0"/>
                <a:ea typeface="Space Grotesk" pitchFamily="34" charset="-122"/>
                <a:cs typeface="Space Grotesk" pitchFamily="34" charset="-120"/>
              </a:rPr>
              <a:t>.</a:t>
            </a:r>
            <a:endParaRPr lang="en-US" sz="1500" dirty="0"/>
          </a:p>
        </p:txBody>
      </p:sp>
      <p:pic>
        <p:nvPicPr>
          <p:cNvPr id="20" name="Image 3" descr="assets/ring.png">    </p:cNvPr>
          <p:cNvPicPr>
            <a:picLocks noChangeAspect="1"/>
          </p:cNvPicPr>
          <p:nvPr/>
        </p:nvPicPr>
        <p:blipFill>
          <a:blip r:embed="rId4"/>
          <a:stretch>
            <a:fillRect/>
          </a:stretch>
        </p:blipFill>
        <p:spPr>
          <a:xfrm>
            <a:off x="548640" y="4773168"/>
            <a:ext cx="201168" cy="201168"/>
          </a:xfrm>
          <a:prstGeom prst="rect">
            <a:avLst/>
          </a:prstGeom>
        </p:spPr>
      </p:pic>
      <p:sp>
        <p:nvSpPr>
          <p:cNvPr id="21" name="Text 15"/>
          <p:cNvSpPr/>
          <p:nvPr/>
        </p:nvSpPr>
        <p:spPr>
          <a:xfrm>
            <a:off x="804672" y="4773168"/>
            <a:ext cx="1371600" cy="201168"/>
          </a:xfrm>
          <a:prstGeom prst="rect">
            <a:avLst/>
          </a:prstGeom>
          <a:noFill/>
          <a:ln/>
        </p:spPr>
        <p:txBody>
          <a:bodyPr wrap="square" lIns="0" tIns="0" rIns="0" bIns="0" rtlCol="0" anchor="ctr"/>
          <a:lstStyle/>
          <a:p>
            <a:pPr indent="0" marL="0">
              <a:buNone/>
            </a:pPr>
            <a:r>
              <a:rPr lang="en-US" sz="900" b="1" dirty="0">
                <a:solidFill>
                  <a:srgbClr val="737373"/>
                </a:solidFill>
                <a:latin typeface="Space Grotesk" pitchFamily="34" charset="0"/>
                <a:ea typeface="Space Grotesk" pitchFamily="34" charset="-122"/>
                <a:cs typeface="Space Grotesk" pitchFamily="34" charset="-120"/>
              </a:rPr>
              <a:t>RateLoop</a:t>
            </a:r>
            <a:endParaRPr lang="en-US" sz="900" dirty="0"/>
          </a:p>
        </p:txBody>
      </p:sp>
      <p:sp>
        <p:nvSpPr>
          <p:cNvPr id="22" name="Text 16"/>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One question. One round. One public answer.</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RateLoop turns “should I trust this?” into an explicit, paid rating round.</a:t>
            </a:r>
            <a:endParaRPr lang="en-US" sz="1250" dirty="0"/>
          </a:p>
        </p:txBody>
      </p:sp>
      <p:sp>
        <p:nvSpPr>
          <p:cNvPr id="4" name="Shape 2"/>
          <p:cNvSpPr/>
          <p:nvPr/>
        </p:nvSpPr>
        <p:spPr>
          <a:xfrm>
            <a:off x="548640" y="1481328"/>
            <a:ext cx="4480560" cy="896112"/>
          </a:xfrm>
          <a:prstGeom prst="roundRect">
            <a:avLst>
              <a:gd name="adj" fmla="val 7143"/>
            </a:avLst>
          </a:prstGeom>
          <a:solidFill>
            <a:srgbClr val="121212"/>
          </a:solidFill>
          <a:ln w="9525">
            <a:solidFill>
              <a:srgbClr val="222222"/>
            </a:solidFill>
            <a:prstDash val="solid"/>
          </a:ln>
        </p:spPr>
      </p:sp>
      <p:sp>
        <p:nvSpPr>
          <p:cNvPr id="5" name="Shape 3"/>
          <p:cNvSpPr/>
          <p:nvPr/>
        </p:nvSpPr>
        <p:spPr>
          <a:xfrm>
            <a:off x="749808" y="1728216"/>
            <a:ext cx="402336" cy="402336"/>
          </a:xfrm>
          <a:prstGeom prst="ellipse">
            <a:avLst/>
          </a:prstGeom>
          <a:solidFill>
            <a:srgbClr val="359EEE">
              <a:alpha val="12000"/>
            </a:srgbClr>
          </a:solidFill>
          <a:ln w="12700">
            <a:solidFill>
              <a:srgbClr val="359EEE"/>
            </a:solidFill>
            <a:prstDash val="solid"/>
          </a:ln>
        </p:spPr>
      </p:sp>
      <p:sp>
        <p:nvSpPr>
          <p:cNvPr id="6" name="Text 4"/>
          <p:cNvSpPr/>
          <p:nvPr/>
        </p:nvSpPr>
        <p:spPr>
          <a:xfrm>
            <a:off x="749808" y="1728216"/>
            <a:ext cx="402336" cy="402336"/>
          </a:xfrm>
          <a:prstGeom prst="rect">
            <a:avLst/>
          </a:prstGeom>
          <a:noFill/>
          <a:ln/>
        </p:spPr>
        <p:txBody>
          <a:bodyPr wrap="square" lIns="0" tIns="0" rIns="0" bIns="0" rtlCol="0" anchor="ctr"/>
          <a:lstStyle/>
          <a:p>
            <a:pPr algn="ctr" indent="0" marL="0">
              <a:buNone/>
            </a:pPr>
            <a:r>
              <a:rPr lang="en-US" sz="1400" b="1" dirty="0">
                <a:solidFill>
                  <a:srgbClr val="359EEE"/>
                </a:solidFill>
                <a:latin typeface="Space Grotesk" pitchFamily="34" charset="0"/>
                <a:ea typeface="Space Grotesk" pitchFamily="34" charset="-122"/>
                <a:cs typeface="Space Grotesk" pitchFamily="34" charset="-120"/>
              </a:rPr>
              <a:t>1</a:t>
            </a:r>
            <a:endParaRPr lang="en-US" sz="1400" dirty="0"/>
          </a:p>
        </p:txBody>
      </p:sp>
      <p:sp>
        <p:nvSpPr>
          <p:cNvPr id="7" name="Text 5"/>
          <p:cNvSpPr/>
          <p:nvPr/>
        </p:nvSpPr>
        <p:spPr>
          <a:xfrm>
            <a:off x="1353312" y="1627632"/>
            <a:ext cx="3474720" cy="274320"/>
          </a:xfrm>
          <a:prstGeom prst="rect">
            <a:avLst/>
          </a:prstGeom>
          <a:noFill/>
          <a:ln/>
        </p:spPr>
        <p:txBody>
          <a:bodyPr wrap="square" lIns="0" tIns="0" rIns="0" bIns="0" rtlCol="0" anchor="ctr"/>
          <a:lstStyle/>
          <a:p>
            <a:pPr indent="0" marL="0">
              <a:buNone/>
            </a:pPr>
            <a:r>
              <a:rPr lang="en-US" sz="1400" b="1" dirty="0">
                <a:solidFill>
                  <a:srgbClr val="F5F5F5"/>
                </a:solidFill>
                <a:latin typeface="Space Grotesk" pitchFamily="34" charset="0"/>
                <a:ea typeface="Space Grotesk" pitchFamily="34" charset="-122"/>
                <a:cs typeface="Space Grotesk" pitchFamily="34" charset="-120"/>
              </a:rPr>
              <a:t>Ask</a:t>
            </a:r>
            <a:endParaRPr lang="en-US" sz="1400" dirty="0"/>
          </a:p>
        </p:txBody>
      </p:sp>
      <p:sp>
        <p:nvSpPr>
          <p:cNvPr id="8" name="Text 6"/>
          <p:cNvSpPr/>
          <p:nvPr/>
        </p:nvSpPr>
        <p:spPr>
          <a:xfrm>
            <a:off x="1353312" y="1920240"/>
            <a:ext cx="3474720" cy="365760"/>
          </a:xfrm>
          <a:prstGeom prst="rect">
            <a:avLst/>
          </a:prstGeom>
          <a:noFill/>
          <a:ln/>
        </p:spPr>
        <p:txBody>
          <a:bodyPr wrap="square" lIns="0" tIns="0" rIns="0" bIns="0" rtlCol="0" anchor="ctr"/>
          <a:lstStyle/>
          <a:p>
            <a:pPr indent="0" marL="0">
              <a:lnSpc>
                <a:spcPct val="110000"/>
              </a:lnSpc>
              <a:buNone/>
            </a:pPr>
            <a:r>
              <a:rPr lang="en-US" sz="1000" dirty="0">
                <a:solidFill>
                  <a:srgbClr val="A3A3A3"/>
                </a:solidFill>
                <a:latin typeface="Inter" pitchFamily="34" charset="0"/>
                <a:ea typeface="Inter" pitchFamily="34" charset="-122"/>
                <a:cs typeface="Inter" pitchFamily="34" charset="-120"/>
              </a:rPr>
              <a:t>One bounded question with inspectable context.</a:t>
            </a:r>
            <a:endParaRPr lang="en-US" sz="1000" dirty="0"/>
          </a:p>
        </p:txBody>
      </p:sp>
      <p:sp>
        <p:nvSpPr>
          <p:cNvPr id="9" name="Shape 7"/>
          <p:cNvSpPr/>
          <p:nvPr/>
        </p:nvSpPr>
        <p:spPr>
          <a:xfrm>
            <a:off x="548640" y="2505456"/>
            <a:ext cx="4480560" cy="896112"/>
          </a:xfrm>
          <a:prstGeom prst="roundRect">
            <a:avLst>
              <a:gd name="adj" fmla="val 7143"/>
            </a:avLst>
          </a:prstGeom>
          <a:solidFill>
            <a:srgbClr val="121212"/>
          </a:solidFill>
          <a:ln w="9525">
            <a:solidFill>
              <a:srgbClr val="222222"/>
            </a:solidFill>
            <a:prstDash val="solid"/>
          </a:ln>
        </p:spPr>
      </p:sp>
      <p:sp>
        <p:nvSpPr>
          <p:cNvPr id="10" name="Shape 8"/>
          <p:cNvSpPr/>
          <p:nvPr/>
        </p:nvSpPr>
        <p:spPr>
          <a:xfrm>
            <a:off x="749808" y="2752344"/>
            <a:ext cx="402336" cy="402336"/>
          </a:xfrm>
          <a:prstGeom prst="ellipse">
            <a:avLst/>
          </a:prstGeom>
          <a:solidFill>
            <a:srgbClr val="03CEA4">
              <a:alpha val="12000"/>
            </a:srgbClr>
          </a:solidFill>
          <a:ln w="12700">
            <a:solidFill>
              <a:srgbClr val="03CEA4"/>
            </a:solidFill>
            <a:prstDash val="solid"/>
          </a:ln>
        </p:spPr>
      </p:sp>
      <p:sp>
        <p:nvSpPr>
          <p:cNvPr id="11" name="Text 9"/>
          <p:cNvSpPr/>
          <p:nvPr/>
        </p:nvSpPr>
        <p:spPr>
          <a:xfrm>
            <a:off x="749808" y="2752344"/>
            <a:ext cx="402336" cy="402336"/>
          </a:xfrm>
          <a:prstGeom prst="rect">
            <a:avLst/>
          </a:prstGeom>
          <a:noFill/>
          <a:ln/>
        </p:spPr>
        <p:txBody>
          <a:bodyPr wrap="square" lIns="0" tIns="0" rIns="0" bIns="0" rtlCol="0" anchor="ctr"/>
          <a:lstStyle/>
          <a:p>
            <a:pPr algn="ctr" indent="0" marL="0">
              <a:buNone/>
            </a:pPr>
            <a:r>
              <a:rPr lang="en-US" sz="1400" b="1" dirty="0">
                <a:solidFill>
                  <a:srgbClr val="03CEA4"/>
                </a:solidFill>
                <a:latin typeface="Space Grotesk" pitchFamily="34" charset="0"/>
                <a:ea typeface="Space Grotesk" pitchFamily="34" charset="-122"/>
                <a:cs typeface="Space Grotesk" pitchFamily="34" charset="-120"/>
              </a:rPr>
              <a:t>2</a:t>
            </a:r>
            <a:endParaRPr lang="en-US" sz="1400" dirty="0"/>
          </a:p>
        </p:txBody>
      </p:sp>
      <p:sp>
        <p:nvSpPr>
          <p:cNvPr id="12" name="Text 10"/>
          <p:cNvSpPr/>
          <p:nvPr/>
        </p:nvSpPr>
        <p:spPr>
          <a:xfrm>
            <a:off x="1353312" y="2651760"/>
            <a:ext cx="3474720" cy="274320"/>
          </a:xfrm>
          <a:prstGeom prst="rect">
            <a:avLst/>
          </a:prstGeom>
          <a:noFill/>
          <a:ln/>
        </p:spPr>
        <p:txBody>
          <a:bodyPr wrap="square" lIns="0" tIns="0" rIns="0" bIns="0" rtlCol="0" anchor="ctr"/>
          <a:lstStyle/>
          <a:p>
            <a:pPr indent="0" marL="0">
              <a:buNone/>
            </a:pPr>
            <a:r>
              <a:rPr lang="en-US" sz="1400" b="1" dirty="0">
                <a:solidFill>
                  <a:srgbClr val="F5F5F5"/>
                </a:solidFill>
                <a:latin typeface="Space Grotesk" pitchFamily="34" charset="0"/>
                <a:ea typeface="Space Grotesk" pitchFamily="34" charset="-122"/>
                <a:cs typeface="Space Grotesk" pitchFamily="34" charset="-120"/>
              </a:rPr>
              <a:t>Fund</a:t>
            </a:r>
            <a:endParaRPr lang="en-US" sz="1400" dirty="0"/>
          </a:p>
        </p:txBody>
      </p:sp>
      <p:sp>
        <p:nvSpPr>
          <p:cNvPr id="13" name="Text 11"/>
          <p:cNvSpPr/>
          <p:nvPr/>
        </p:nvSpPr>
        <p:spPr>
          <a:xfrm>
            <a:off x="1353312" y="2944368"/>
            <a:ext cx="3474720" cy="365760"/>
          </a:xfrm>
          <a:prstGeom prst="rect">
            <a:avLst/>
          </a:prstGeom>
          <a:noFill/>
          <a:ln/>
        </p:spPr>
        <p:txBody>
          <a:bodyPr wrap="square" lIns="0" tIns="0" rIns="0" bIns="0" rtlCol="0" anchor="ctr"/>
          <a:lstStyle/>
          <a:p>
            <a:pPr indent="0" marL="0">
              <a:lnSpc>
                <a:spcPct val="110000"/>
              </a:lnSpc>
              <a:buNone/>
            </a:pPr>
            <a:r>
              <a:rPr lang="en-US" sz="1000" dirty="0">
                <a:solidFill>
                  <a:srgbClr val="A3A3A3"/>
                </a:solidFill>
                <a:latin typeface="Inter" pitchFamily="34" charset="0"/>
                <a:ea typeface="Inter" pitchFamily="34" charset="-122"/>
                <a:cs typeface="Inter" pitchFamily="34" charset="-120"/>
              </a:rPr>
              <a:t>A non-refundable bounty in USDC or LREP.</a:t>
            </a:r>
            <a:endParaRPr lang="en-US" sz="1000" dirty="0"/>
          </a:p>
        </p:txBody>
      </p:sp>
      <p:sp>
        <p:nvSpPr>
          <p:cNvPr id="14" name="Shape 12"/>
          <p:cNvSpPr/>
          <p:nvPr/>
        </p:nvSpPr>
        <p:spPr>
          <a:xfrm>
            <a:off x="548640" y="3529584"/>
            <a:ext cx="4480560" cy="896112"/>
          </a:xfrm>
          <a:prstGeom prst="roundRect">
            <a:avLst>
              <a:gd name="adj" fmla="val 7143"/>
            </a:avLst>
          </a:prstGeom>
          <a:solidFill>
            <a:srgbClr val="121212"/>
          </a:solidFill>
          <a:ln w="9525">
            <a:solidFill>
              <a:srgbClr val="222222"/>
            </a:solidFill>
            <a:prstDash val="solid"/>
          </a:ln>
        </p:spPr>
      </p:sp>
      <p:sp>
        <p:nvSpPr>
          <p:cNvPr id="15" name="Shape 13"/>
          <p:cNvSpPr/>
          <p:nvPr/>
        </p:nvSpPr>
        <p:spPr>
          <a:xfrm>
            <a:off x="749808" y="3776472"/>
            <a:ext cx="402336" cy="402336"/>
          </a:xfrm>
          <a:prstGeom prst="ellipse">
            <a:avLst/>
          </a:prstGeom>
          <a:solidFill>
            <a:srgbClr val="FFC43D">
              <a:alpha val="12000"/>
            </a:srgbClr>
          </a:solidFill>
          <a:ln w="12700">
            <a:solidFill>
              <a:srgbClr val="FFC43D"/>
            </a:solidFill>
            <a:prstDash val="solid"/>
          </a:ln>
        </p:spPr>
      </p:sp>
      <p:sp>
        <p:nvSpPr>
          <p:cNvPr id="16" name="Text 14"/>
          <p:cNvSpPr/>
          <p:nvPr/>
        </p:nvSpPr>
        <p:spPr>
          <a:xfrm>
            <a:off x="749808" y="3776472"/>
            <a:ext cx="402336" cy="402336"/>
          </a:xfrm>
          <a:prstGeom prst="rect">
            <a:avLst/>
          </a:prstGeom>
          <a:noFill/>
          <a:ln/>
        </p:spPr>
        <p:txBody>
          <a:bodyPr wrap="square" lIns="0" tIns="0" rIns="0" bIns="0" rtlCol="0" anchor="ctr"/>
          <a:lstStyle/>
          <a:p>
            <a:pPr algn="ctr" indent="0" marL="0">
              <a:buNone/>
            </a:pPr>
            <a:r>
              <a:rPr lang="en-US" sz="1400" b="1" dirty="0">
                <a:solidFill>
                  <a:srgbClr val="FFC43D"/>
                </a:solidFill>
                <a:latin typeface="Space Grotesk" pitchFamily="34" charset="0"/>
                <a:ea typeface="Space Grotesk" pitchFamily="34" charset="-122"/>
                <a:cs typeface="Space Grotesk" pitchFamily="34" charset="-120"/>
              </a:rPr>
              <a:t>3</a:t>
            </a:r>
            <a:endParaRPr lang="en-US" sz="1400" dirty="0"/>
          </a:p>
        </p:txBody>
      </p:sp>
      <p:sp>
        <p:nvSpPr>
          <p:cNvPr id="17" name="Text 15"/>
          <p:cNvSpPr/>
          <p:nvPr/>
        </p:nvSpPr>
        <p:spPr>
          <a:xfrm>
            <a:off x="1353312" y="3675888"/>
            <a:ext cx="3474720" cy="274320"/>
          </a:xfrm>
          <a:prstGeom prst="rect">
            <a:avLst/>
          </a:prstGeom>
          <a:noFill/>
          <a:ln/>
        </p:spPr>
        <p:txBody>
          <a:bodyPr wrap="square" lIns="0" tIns="0" rIns="0" bIns="0" rtlCol="0" anchor="ctr"/>
          <a:lstStyle/>
          <a:p>
            <a:pPr indent="0" marL="0">
              <a:buNone/>
            </a:pPr>
            <a:r>
              <a:rPr lang="en-US" sz="1400" b="1" dirty="0">
                <a:solidFill>
                  <a:srgbClr val="F5F5F5"/>
                </a:solidFill>
                <a:latin typeface="Space Grotesk" pitchFamily="34" charset="0"/>
                <a:ea typeface="Space Grotesk" pitchFamily="34" charset="-122"/>
                <a:cs typeface="Space Grotesk" pitchFamily="34" charset="-120"/>
              </a:rPr>
              <a:t>Rate</a:t>
            </a:r>
            <a:endParaRPr lang="en-US" sz="1400" dirty="0"/>
          </a:p>
        </p:txBody>
      </p:sp>
      <p:sp>
        <p:nvSpPr>
          <p:cNvPr id="18" name="Text 16"/>
          <p:cNvSpPr/>
          <p:nvPr/>
        </p:nvSpPr>
        <p:spPr>
          <a:xfrm>
            <a:off x="1353312" y="3968496"/>
            <a:ext cx="3474720" cy="365760"/>
          </a:xfrm>
          <a:prstGeom prst="rect">
            <a:avLst/>
          </a:prstGeom>
          <a:noFill/>
          <a:ln/>
        </p:spPr>
        <p:txBody>
          <a:bodyPr wrap="square" lIns="0" tIns="0" rIns="0" bIns="0" rtlCol="0" anchor="ctr"/>
          <a:lstStyle/>
          <a:p>
            <a:pPr indent="0" marL="0">
              <a:lnSpc>
                <a:spcPct val="110000"/>
              </a:lnSpc>
              <a:buNone/>
            </a:pPr>
            <a:r>
              <a:rPr lang="en-US" sz="1000" dirty="0">
                <a:solidFill>
                  <a:srgbClr val="A3A3A3"/>
                </a:solidFill>
                <a:latin typeface="Inter" pitchFamily="34" charset="0"/>
                <a:ea typeface="Inter" pitchFamily="34" charset="-122"/>
                <a:cs typeface="Inter" pitchFamily="34" charset="-120"/>
              </a:rPr>
              <a:t>Raters vote up/down and predict the crowd — blind, then settled on-chain.</a:t>
            </a:r>
            <a:endParaRPr lang="en-US" sz="1000" dirty="0"/>
          </a:p>
        </p:txBody>
      </p:sp>
      <p:pic>
        <p:nvPicPr>
          <p:cNvPr id="19" name="Image 0" descr="assets/orb.png">    </p:cNvPr>
          <p:cNvPicPr>
            <a:picLocks noChangeAspect="1"/>
          </p:cNvPicPr>
          <p:nvPr/>
        </p:nvPicPr>
        <p:blipFill>
          <a:blip r:embed="rId1"/>
          <a:stretch>
            <a:fillRect/>
          </a:stretch>
        </p:blipFill>
        <p:spPr>
          <a:xfrm>
            <a:off x="5715000" y="1207008"/>
            <a:ext cx="2651760" cy="2651760"/>
          </a:xfrm>
          <a:prstGeom prst="rect">
            <a:avLst/>
          </a:prstGeom>
        </p:spPr>
      </p:pic>
      <p:sp>
        <p:nvSpPr>
          <p:cNvPr id="20" name="Text 17"/>
          <p:cNvSpPr/>
          <p:nvPr/>
        </p:nvSpPr>
        <p:spPr>
          <a:xfrm>
            <a:off x="5257800" y="3931920"/>
            <a:ext cx="3566160" cy="228600"/>
          </a:xfrm>
          <a:prstGeom prst="rect">
            <a:avLst/>
          </a:prstGeom>
          <a:noFill/>
          <a:ln/>
        </p:spPr>
        <p:txBody>
          <a:bodyPr wrap="square" lIns="0" tIns="0" rIns="0" bIns="0" rtlCol="0" anchor="ctr"/>
          <a:lstStyle/>
          <a:p>
            <a:pPr algn="ctr" indent="0" marL="0">
              <a:buNone/>
            </a:pPr>
            <a:r>
              <a:rPr lang="en-US" sz="850" dirty="0">
                <a:solidFill>
                  <a:srgbClr val="737373"/>
                </a:solidFill>
                <a:latin typeface="Courier New" pitchFamily="34" charset="0"/>
                <a:ea typeface="Courier New" pitchFamily="34" charset="-122"/>
                <a:cs typeface="Courier New" pitchFamily="34" charset="-120"/>
              </a:rPr>
              <a:t>crowd prediction 74% · calibrated reports rewarded</a:t>
            </a:r>
            <a:endParaRPr lang="en-US" sz="850" dirty="0"/>
          </a:p>
        </p:txBody>
      </p:sp>
      <p:sp>
        <p:nvSpPr>
          <p:cNvPr id="21" name="Text 18"/>
          <p:cNvSpPr/>
          <p:nvPr/>
        </p:nvSpPr>
        <p:spPr>
          <a:xfrm>
            <a:off x="5257800" y="4206240"/>
            <a:ext cx="3566160" cy="274320"/>
          </a:xfrm>
          <a:prstGeom prst="rect">
            <a:avLst/>
          </a:prstGeom>
          <a:noFill/>
          <a:ln/>
        </p:spPr>
        <p:txBody>
          <a:bodyPr wrap="square" lIns="0" tIns="0" rIns="0" bIns="0" rtlCol="0" anchor="ctr"/>
          <a:lstStyle/>
          <a:p>
            <a:pPr algn="ctr" indent="0" marL="0">
              <a:buNone/>
            </a:pPr>
            <a:r>
              <a:rPr lang="en-US" sz="1050" i="1" dirty="0">
                <a:solidFill>
                  <a:srgbClr val="A3A3A3"/>
                </a:solidFill>
                <a:latin typeface="Inter" pitchFamily="34" charset="0"/>
                <a:ea typeface="Inter" pitchFamily="34" charset="-122"/>
                <a:cs typeface="Inter" pitchFamily="34" charset="-120"/>
              </a:rPr>
              <a:t>Settles on-chain. Auditable forever.</a:t>
            </a:r>
            <a:endParaRPr lang="en-US" sz="1050" dirty="0"/>
          </a:p>
        </p:txBody>
      </p:sp>
      <p:pic>
        <p:nvPicPr>
          <p:cNvPr id="22" name="Image 1" descr="assets/ring.png">    </p:cNvPr>
          <p:cNvPicPr>
            <a:picLocks noChangeAspect="1"/>
          </p:cNvPicPr>
          <p:nvPr/>
        </p:nvPicPr>
        <p:blipFill>
          <a:blip r:embed="rId2"/>
          <a:stretch>
            <a:fillRect/>
          </a:stretch>
        </p:blipFill>
        <p:spPr>
          <a:xfrm>
            <a:off x="548640" y="4773168"/>
            <a:ext cx="201168" cy="201168"/>
          </a:xfrm>
          <a:prstGeom prst="rect">
            <a:avLst/>
          </a:prstGeom>
        </p:spPr>
      </p:pic>
      <p:sp>
        <p:nvSpPr>
          <p:cNvPr id="23" name="Text 19"/>
          <p:cNvSpPr/>
          <p:nvPr/>
        </p:nvSpPr>
        <p:spPr>
          <a:xfrm>
            <a:off x="804672" y="4773168"/>
            <a:ext cx="1371600" cy="201168"/>
          </a:xfrm>
          <a:prstGeom prst="rect">
            <a:avLst/>
          </a:prstGeom>
          <a:noFill/>
          <a:ln/>
        </p:spPr>
        <p:txBody>
          <a:bodyPr wrap="square" lIns="0" tIns="0" rIns="0" bIns="0" rtlCol="0" anchor="ctr"/>
          <a:lstStyle/>
          <a:p>
            <a:pPr indent="0" marL="0">
              <a:buNone/>
            </a:pPr>
            <a:r>
              <a:rPr lang="en-US" sz="900" b="1" dirty="0">
                <a:solidFill>
                  <a:srgbClr val="737373"/>
                </a:solidFill>
                <a:latin typeface="Space Grotesk" pitchFamily="34" charset="0"/>
                <a:ea typeface="Space Grotesk" pitchFamily="34" charset="-122"/>
                <a:cs typeface="Space Grotesk" pitchFamily="34" charset="-120"/>
              </a:rPr>
              <a:t>RateLoop</a:t>
            </a:r>
            <a:endParaRPr lang="en-US" sz="900" dirty="0"/>
          </a:p>
        </p:txBody>
      </p:sp>
      <p:sp>
        <p:nvSpPr>
          <p:cNvPr id="24" name="Text 20"/>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What you can build on it</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One primitive — a funded, blind, settled rating round — many workflows.</a:t>
            </a:r>
            <a:endParaRPr lang="en-US" sz="1250" dirty="0"/>
          </a:p>
        </p:txBody>
      </p:sp>
      <p:sp>
        <p:nvSpPr>
          <p:cNvPr id="4" name="Shape 2"/>
          <p:cNvSpPr/>
          <p:nvPr/>
        </p:nvSpPr>
        <p:spPr>
          <a:xfrm>
            <a:off x="548640" y="1325880"/>
            <a:ext cx="2587752" cy="1463040"/>
          </a:xfrm>
          <a:prstGeom prst="roundRect">
            <a:avLst>
              <a:gd name="adj" fmla="val 4375"/>
            </a:avLst>
          </a:prstGeom>
          <a:solidFill>
            <a:srgbClr val="121212"/>
          </a:solidFill>
          <a:ln w="9525">
            <a:solidFill>
              <a:srgbClr val="222222"/>
            </a:solidFill>
            <a:prstDash val="solid"/>
          </a:ln>
        </p:spPr>
      </p:sp>
      <p:sp>
        <p:nvSpPr>
          <p:cNvPr id="5" name="Shape 3"/>
          <p:cNvSpPr/>
          <p:nvPr/>
        </p:nvSpPr>
        <p:spPr>
          <a:xfrm>
            <a:off x="713232" y="1472184"/>
            <a:ext cx="384048" cy="384048"/>
          </a:xfrm>
          <a:prstGeom prst="ellipse">
            <a:avLst/>
          </a:prstGeom>
          <a:solidFill>
            <a:srgbClr val="F5F5F5">
              <a:alpha val="7000"/>
            </a:srgbClr>
          </a:solidFill>
          <a:ln w="9525">
            <a:solidFill>
              <a:srgbClr val="222222"/>
            </a:solidFill>
            <a:prstDash val="solid"/>
          </a:ln>
        </p:spPr>
      </p:sp>
      <p:pic>
        <p:nvPicPr>
          <p:cNvPr id="6" name="Image 0" descr="preencoded.png">    </p:cNvPr>
          <p:cNvPicPr>
            <a:picLocks noChangeAspect="1"/>
          </p:cNvPicPr>
          <p:nvPr/>
        </p:nvPicPr>
        <p:blipFill>
          <a:blip r:embed="rId1"/>
          <a:stretch>
            <a:fillRect/>
          </a:stretch>
        </p:blipFill>
        <p:spPr>
          <a:xfrm>
            <a:off x="813084" y="1572036"/>
            <a:ext cx="184343" cy="184343"/>
          </a:xfrm>
          <a:prstGeom prst="rect">
            <a:avLst/>
          </a:prstGeom>
        </p:spPr>
      </p:pic>
      <p:sp>
        <p:nvSpPr>
          <p:cNvPr id="7" name="Text 4"/>
          <p:cNvSpPr/>
          <p:nvPr/>
        </p:nvSpPr>
        <p:spPr>
          <a:xfrm>
            <a:off x="1188720" y="1453896"/>
            <a:ext cx="1783080" cy="438912"/>
          </a:xfrm>
          <a:prstGeom prst="rect">
            <a:avLst/>
          </a:prstGeom>
          <a:noFill/>
          <a:ln/>
        </p:spPr>
        <p:txBody>
          <a:bodyPr wrap="square" lIns="0" tIns="0" rIns="0" bIns="0" rtlCol="0" anchor="t"/>
          <a:lstStyle/>
          <a:p>
            <a:pPr indent="0" marL="0">
              <a:lnSpc>
                <a:spcPct val="100000"/>
              </a:lnSpc>
              <a:buNone/>
            </a:pPr>
            <a:r>
              <a:rPr lang="en-US" sz="1150" b="1" dirty="0">
                <a:solidFill>
                  <a:srgbClr val="F5F5F5"/>
                </a:solidFill>
                <a:latin typeface="Space Grotesk" pitchFamily="34" charset="0"/>
                <a:ea typeface="Space Grotesk" pitchFamily="34" charset="-122"/>
                <a:cs typeface="Space Grotesk" pitchFamily="34" charset="-120"/>
              </a:rPr>
              <a:t>AI loops that actually learn</a:t>
            </a:r>
            <a:endParaRPr lang="en-US" sz="1150" dirty="0"/>
          </a:p>
        </p:txBody>
      </p:sp>
      <p:sp>
        <p:nvSpPr>
          <p:cNvPr id="8" name="Text 5"/>
          <p:cNvSpPr/>
          <p:nvPr/>
        </p:nvSpPr>
        <p:spPr>
          <a:xfrm>
            <a:off x="713232" y="1947672"/>
            <a:ext cx="2258568" cy="841248"/>
          </a:xfrm>
          <a:prstGeom prst="rect">
            <a:avLst/>
          </a:prstGeom>
          <a:noFill/>
          <a:ln/>
        </p:spPr>
        <p:txBody>
          <a:bodyPr wrap="square" lIns="0" tIns="0" rIns="0" bIns="0" rtlCol="0" anchor="ctr"/>
          <a:lstStyle/>
          <a:p>
            <a:pPr indent="0" marL="0">
              <a:lnSpc>
                <a:spcPct val="112000"/>
              </a:lnSpc>
              <a:buNone/>
            </a:pPr>
            <a:r>
              <a:rPr lang="en-US" sz="880" dirty="0">
                <a:solidFill>
                  <a:srgbClr val="A3A3A3"/>
                </a:solidFill>
                <a:latin typeface="Inter" pitchFamily="34" charset="0"/>
                <a:ea typeface="Inter" pitchFamily="34" charset="-122"/>
                <a:cs typeface="Inter" pitchFamily="34" charset="-120"/>
              </a:rPr>
              <a:t>Feed settled human verdicts back into your agent — a live improvement loop, no labeling vendor.</a:t>
            </a:r>
            <a:endParaRPr lang="en-US" sz="880" dirty="0"/>
          </a:p>
        </p:txBody>
      </p:sp>
      <p:sp>
        <p:nvSpPr>
          <p:cNvPr id="9" name="Shape 6"/>
          <p:cNvSpPr/>
          <p:nvPr/>
        </p:nvSpPr>
        <p:spPr>
          <a:xfrm>
            <a:off x="3355848" y="1325880"/>
            <a:ext cx="2587752" cy="1463040"/>
          </a:xfrm>
          <a:prstGeom prst="roundRect">
            <a:avLst>
              <a:gd name="adj" fmla="val 4375"/>
            </a:avLst>
          </a:prstGeom>
          <a:solidFill>
            <a:srgbClr val="121212"/>
          </a:solidFill>
          <a:ln w="9525">
            <a:solidFill>
              <a:srgbClr val="222222"/>
            </a:solidFill>
            <a:prstDash val="solid"/>
          </a:ln>
        </p:spPr>
      </p:sp>
      <p:sp>
        <p:nvSpPr>
          <p:cNvPr id="10" name="Shape 7"/>
          <p:cNvSpPr/>
          <p:nvPr/>
        </p:nvSpPr>
        <p:spPr>
          <a:xfrm>
            <a:off x="3520440" y="1472184"/>
            <a:ext cx="384048" cy="384048"/>
          </a:xfrm>
          <a:prstGeom prst="ellipse">
            <a:avLst/>
          </a:prstGeom>
          <a:solidFill>
            <a:srgbClr val="F5F5F5">
              <a:alpha val="7000"/>
            </a:srgbClr>
          </a:solidFill>
          <a:ln w="9525">
            <a:solidFill>
              <a:srgbClr val="222222"/>
            </a:solidFill>
            <a:prstDash val="solid"/>
          </a:ln>
        </p:spPr>
      </p:sp>
      <p:pic>
        <p:nvPicPr>
          <p:cNvPr id="11" name="Image 1" descr="preencoded.png">    </p:cNvPr>
          <p:cNvPicPr>
            <a:picLocks noChangeAspect="1"/>
          </p:cNvPicPr>
          <p:nvPr/>
        </p:nvPicPr>
        <p:blipFill>
          <a:blip r:embed="rId2"/>
          <a:stretch>
            <a:fillRect/>
          </a:stretch>
        </p:blipFill>
        <p:spPr>
          <a:xfrm>
            <a:off x="3620292" y="1572036"/>
            <a:ext cx="184343" cy="184343"/>
          </a:xfrm>
          <a:prstGeom prst="rect">
            <a:avLst/>
          </a:prstGeom>
        </p:spPr>
      </p:pic>
      <p:sp>
        <p:nvSpPr>
          <p:cNvPr id="12" name="Text 8"/>
          <p:cNvSpPr/>
          <p:nvPr/>
        </p:nvSpPr>
        <p:spPr>
          <a:xfrm>
            <a:off x="3995928" y="1453896"/>
            <a:ext cx="1783080" cy="438912"/>
          </a:xfrm>
          <a:prstGeom prst="rect">
            <a:avLst/>
          </a:prstGeom>
          <a:noFill/>
          <a:ln/>
        </p:spPr>
        <p:txBody>
          <a:bodyPr wrap="square" lIns="0" tIns="0" rIns="0" bIns="0" rtlCol="0" anchor="t"/>
          <a:lstStyle/>
          <a:p>
            <a:pPr indent="0" marL="0">
              <a:lnSpc>
                <a:spcPct val="100000"/>
              </a:lnSpc>
              <a:buNone/>
            </a:pPr>
            <a:r>
              <a:rPr lang="en-US" sz="1150" b="1" dirty="0">
                <a:solidFill>
                  <a:srgbClr val="F5F5F5"/>
                </a:solidFill>
                <a:latin typeface="Space Grotesk" pitchFamily="34" charset="0"/>
                <a:ea typeface="Space Grotesk" pitchFamily="34" charset="-122"/>
                <a:cs typeface="Space Grotesk" pitchFamily="34" charset="-120"/>
              </a:rPr>
              <a:t>Confidential market research</a:t>
            </a:r>
            <a:endParaRPr lang="en-US" sz="1150" dirty="0"/>
          </a:p>
        </p:txBody>
      </p:sp>
      <p:sp>
        <p:nvSpPr>
          <p:cNvPr id="13" name="Text 9"/>
          <p:cNvSpPr/>
          <p:nvPr/>
        </p:nvSpPr>
        <p:spPr>
          <a:xfrm>
            <a:off x="3520440" y="1947672"/>
            <a:ext cx="2258568" cy="841248"/>
          </a:xfrm>
          <a:prstGeom prst="rect">
            <a:avLst/>
          </a:prstGeom>
          <a:noFill/>
          <a:ln/>
        </p:spPr>
        <p:txBody>
          <a:bodyPr wrap="square" lIns="0" tIns="0" rIns="0" bIns="0" rtlCol="0" anchor="ctr"/>
          <a:lstStyle/>
          <a:p>
            <a:pPr indent="0" marL="0">
              <a:lnSpc>
                <a:spcPct val="112000"/>
              </a:lnSpc>
              <a:buNone/>
            </a:pPr>
            <a:r>
              <a:rPr lang="en-US" sz="880" dirty="0">
                <a:solidFill>
                  <a:srgbClr val="A3A3A3"/>
                </a:solidFill>
                <a:latin typeface="Inter" pitchFamily="34" charset="0"/>
                <a:ea typeface="Inter" pitchFamily="34" charset="-122"/>
                <a:cs typeface="Inter" pitchFamily="34" charset="-120"/>
              </a:rPr>
              <a:t>Test names, pages, pricing, and creative via gated context — before you build.</a:t>
            </a:r>
            <a:endParaRPr lang="en-US" sz="880" dirty="0"/>
          </a:p>
        </p:txBody>
      </p:sp>
      <p:sp>
        <p:nvSpPr>
          <p:cNvPr id="14" name="Shape 10"/>
          <p:cNvSpPr/>
          <p:nvPr/>
        </p:nvSpPr>
        <p:spPr>
          <a:xfrm>
            <a:off x="6163056" y="1325880"/>
            <a:ext cx="2587752" cy="1463040"/>
          </a:xfrm>
          <a:prstGeom prst="roundRect">
            <a:avLst>
              <a:gd name="adj" fmla="val 4375"/>
            </a:avLst>
          </a:prstGeom>
          <a:solidFill>
            <a:srgbClr val="121212"/>
          </a:solidFill>
          <a:ln w="9525">
            <a:solidFill>
              <a:srgbClr val="222222"/>
            </a:solidFill>
            <a:prstDash val="solid"/>
          </a:ln>
        </p:spPr>
      </p:sp>
      <p:sp>
        <p:nvSpPr>
          <p:cNvPr id="15" name="Shape 11"/>
          <p:cNvSpPr/>
          <p:nvPr/>
        </p:nvSpPr>
        <p:spPr>
          <a:xfrm>
            <a:off x="6327648" y="1472184"/>
            <a:ext cx="384048" cy="384048"/>
          </a:xfrm>
          <a:prstGeom prst="ellipse">
            <a:avLst/>
          </a:prstGeom>
          <a:solidFill>
            <a:srgbClr val="F5F5F5">
              <a:alpha val="7000"/>
            </a:srgbClr>
          </a:solidFill>
          <a:ln w="9525">
            <a:solidFill>
              <a:srgbClr val="222222"/>
            </a:solidFill>
            <a:prstDash val="solid"/>
          </a:ln>
        </p:spPr>
      </p:sp>
      <p:pic>
        <p:nvPicPr>
          <p:cNvPr id="16" name="Image 2" descr="preencoded.png">    </p:cNvPr>
          <p:cNvPicPr>
            <a:picLocks noChangeAspect="1"/>
          </p:cNvPicPr>
          <p:nvPr/>
        </p:nvPicPr>
        <p:blipFill>
          <a:blip r:embed="rId3"/>
          <a:stretch>
            <a:fillRect/>
          </a:stretch>
        </p:blipFill>
        <p:spPr>
          <a:xfrm>
            <a:off x="6427500" y="1572036"/>
            <a:ext cx="184343" cy="184343"/>
          </a:xfrm>
          <a:prstGeom prst="rect">
            <a:avLst/>
          </a:prstGeom>
        </p:spPr>
      </p:pic>
      <p:sp>
        <p:nvSpPr>
          <p:cNvPr id="17" name="Text 12"/>
          <p:cNvSpPr/>
          <p:nvPr/>
        </p:nvSpPr>
        <p:spPr>
          <a:xfrm>
            <a:off x="6803136" y="1453896"/>
            <a:ext cx="1783080" cy="438912"/>
          </a:xfrm>
          <a:prstGeom prst="rect">
            <a:avLst/>
          </a:prstGeom>
          <a:noFill/>
          <a:ln/>
        </p:spPr>
        <p:txBody>
          <a:bodyPr wrap="square" lIns="0" tIns="0" rIns="0" bIns="0" rtlCol="0" anchor="t"/>
          <a:lstStyle/>
          <a:p>
            <a:pPr indent="0" marL="0">
              <a:lnSpc>
                <a:spcPct val="100000"/>
              </a:lnSpc>
              <a:buNone/>
            </a:pPr>
            <a:r>
              <a:rPr lang="en-US" sz="1150" b="1" dirty="0">
                <a:solidFill>
                  <a:srgbClr val="F5F5F5"/>
                </a:solidFill>
                <a:latin typeface="Space Grotesk" pitchFamily="34" charset="0"/>
                <a:ea typeface="Space Grotesk" pitchFamily="34" charset="-122"/>
                <a:cs typeface="Space Grotesk" pitchFamily="34" charset="-120"/>
              </a:rPr>
              <a:t>Agent-to-agent acceptance gates</a:t>
            </a:r>
            <a:endParaRPr lang="en-US" sz="1150" dirty="0"/>
          </a:p>
        </p:txBody>
      </p:sp>
      <p:sp>
        <p:nvSpPr>
          <p:cNvPr id="18" name="Text 13"/>
          <p:cNvSpPr/>
          <p:nvPr/>
        </p:nvSpPr>
        <p:spPr>
          <a:xfrm>
            <a:off x="6327648" y="1947672"/>
            <a:ext cx="2258568" cy="841248"/>
          </a:xfrm>
          <a:prstGeom prst="rect">
            <a:avLst/>
          </a:prstGeom>
          <a:noFill/>
          <a:ln/>
        </p:spPr>
        <p:txBody>
          <a:bodyPr wrap="square" lIns="0" tIns="0" rIns="0" bIns="0" rtlCol="0" anchor="ctr"/>
          <a:lstStyle/>
          <a:p>
            <a:pPr indent="0" marL="0">
              <a:lnSpc>
                <a:spcPct val="112000"/>
              </a:lnSpc>
              <a:buNone/>
            </a:pPr>
            <a:r>
              <a:rPr lang="en-US" sz="880" dirty="0">
                <a:solidFill>
                  <a:srgbClr val="A3A3A3"/>
                </a:solidFill>
                <a:latin typeface="Inter" pitchFamily="34" charset="0"/>
                <a:ea typeface="Inter" pitchFamily="34" charset="-122"/>
                <a:cs typeface="Inter" pitchFamily="34" charset="-120"/>
              </a:rPr>
              <a:t>An open rater round accepts or rejects agent output before merge or deploy.</a:t>
            </a:r>
            <a:endParaRPr lang="en-US" sz="880" dirty="0"/>
          </a:p>
        </p:txBody>
      </p:sp>
      <p:sp>
        <p:nvSpPr>
          <p:cNvPr id="19" name="Shape 14"/>
          <p:cNvSpPr/>
          <p:nvPr/>
        </p:nvSpPr>
        <p:spPr>
          <a:xfrm>
            <a:off x="548640" y="2898648"/>
            <a:ext cx="2587752" cy="1463040"/>
          </a:xfrm>
          <a:prstGeom prst="roundRect">
            <a:avLst>
              <a:gd name="adj" fmla="val 4375"/>
            </a:avLst>
          </a:prstGeom>
          <a:solidFill>
            <a:srgbClr val="121212"/>
          </a:solidFill>
          <a:ln w="9525">
            <a:solidFill>
              <a:srgbClr val="222222"/>
            </a:solidFill>
            <a:prstDash val="solid"/>
          </a:ln>
        </p:spPr>
      </p:sp>
      <p:sp>
        <p:nvSpPr>
          <p:cNvPr id="20" name="Shape 15"/>
          <p:cNvSpPr/>
          <p:nvPr/>
        </p:nvSpPr>
        <p:spPr>
          <a:xfrm>
            <a:off x="713232" y="3044952"/>
            <a:ext cx="384048" cy="384048"/>
          </a:xfrm>
          <a:prstGeom prst="ellipse">
            <a:avLst/>
          </a:prstGeom>
          <a:solidFill>
            <a:srgbClr val="F5F5F5">
              <a:alpha val="7000"/>
            </a:srgbClr>
          </a:solidFill>
          <a:ln w="9525">
            <a:solidFill>
              <a:srgbClr val="222222"/>
            </a:solidFill>
            <a:prstDash val="solid"/>
          </a:ln>
        </p:spPr>
      </p:sp>
      <p:pic>
        <p:nvPicPr>
          <p:cNvPr id="21" name="Image 3" descr="preencoded.png">    </p:cNvPr>
          <p:cNvPicPr>
            <a:picLocks noChangeAspect="1"/>
          </p:cNvPicPr>
          <p:nvPr/>
        </p:nvPicPr>
        <p:blipFill>
          <a:blip r:embed="rId4"/>
          <a:stretch>
            <a:fillRect/>
          </a:stretch>
        </p:blipFill>
        <p:spPr>
          <a:xfrm>
            <a:off x="813084" y="3144804"/>
            <a:ext cx="184343" cy="184343"/>
          </a:xfrm>
          <a:prstGeom prst="rect">
            <a:avLst/>
          </a:prstGeom>
        </p:spPr>
      </p:pic>
      <p:sp>
        <p:nvSpPr>
          <p:cNvPr id="22" name="Text 16"/>
          <p:cNvSpPr/>
          <p:nvPr/>
        </p:nvSpPr>
        <p:spPr>
          <a:xfrm>
            <a:off x="1188720" y="3026664"/>
            <a:ext cx="1783080" cy="438912"/>
          </a:xfrm>
          <a:prstGeom prst="rect">
            <a:avLst/>
          </a:prstGeom>
          <a:noFill/>
          <a:ln/>
        </p:spPr>
        <p:txBody>
          <a:bodyPr wrap="square" lIns="0" tIns="0" rIns="0" bIns="0" rtlCol="0" anchor="t"/>
          <a:lstStyle/>
          <a:p>
            <a:pPr indent="0" marL="0">
              <a:lnSpc>
                <a:spcPct val="100000"/>
              </a:lnSpc>
              <a:buNone/>
            </a:pPr>
            <a:r>
              <a:rPr lang="en-US" sz="1150" b="1" dirty="0">
                <a:solidFill>
                  <a:srgbClr val="F5F5F5"/>
                </a:solidFill>
                <a:latin typeface="Space Grotesk" pitchFamily="34" charset="0"/>
                <a:ea typeface="Space Grotesk" pitchFamily="34" charset="-122"/>
                <a:cs typeface="Space Grotesk" pitchFamily="34" charset="-120"/>
              </a:rPr>
              <a:t>Human escalation on disagreement</a:t>
            </a:r>
            <a:endParaRPr lang="en-US" sz="1150" dirty="0"/>
          </a:p>
        </p:txBody>
      </p:sp>
      <p:sp>
        <p:nvSpPr>
          <p:cNvPr id="23" name="Text 17"/>
          <p:cNvSpPr/>
          <p:nvPr/>
        </p:nvSpPr>
        <p:spPr>
          <a:xfrm>
            <a:off x="713232" y="3520440"/>
            <a:ext cx="2258568" cy="841248"/>
          </a:xfrm>
          <a:prstGeom prst="rect">
            <a:avLst/>
          </a:prstGeom>
          <a:noFill/>
          <a:ln/>
        </p:spPr>
        <p:txBody>
          <a:bodyPr wrap="square" lIns="0" tIns="0" rIns="0" bIns="0" rtlCol="0" anchor="ctr"/>
          <a:lstStyle/>
          <a:p>
            <a:pPr indent="0" marL="0">
              <a:lnSpc>
                <a:spcPct val="112000"/>
              </a:lnSpc>
              <a:buNone/>
            </a:pPr>
            <a:r>
              <a:rPr lang="en-US" sz="880" dirty="0">
                <a:solidFill>
                  <a:srgbClr val="A3A3A3"/>
                </a:solidFill>
                <a:latin typeface="Inter" pitchFamily="34" charset="0"/>
                <a:ea typeface="Inter" pitchFamily="34" charset="-122"/>
                <a:cs typeface="Inter" pitchFamily="34" charset="-120"/>
              </a:rPr>
              <a:t>When AI raters split, the question escalates to verified humans for the tie-break.</a:t>
            </a:r>
            <a:endParaRPr lang="en-US" sz="880" dirty="0"/>
          </a:p>
        </p:txBody>
      </p:sp>
      <p:sp>
        <p:nvSpPr>
          <p:cNvPr id="24" name="Shape 18"/>
          <p:cNvSpPr/>
          <p:nvPr/>
        </p:nvSpPr>
        <p:spPr>
          <a:xfrm>
            <a:off x="3355848" y="2898648"/>
            <a:ext cx="2587752" cy="1463040"/>
          </a:xfrm>
          <a:prstGeom prst="roundRect">
            <a:avLst>
              <a:gd name="adj" fmla="val 4375"/>
            </a:avLst>
          </a:prstGeom>
          <a:solidFill>
            <a:srgbClr val="121212"/>
          </a:solidFill>
          <a:ln w="9525">
            <a:solidFill>
              <a:srgbClr val="222222"/>
            </a:solidFill>
            <a:prstDash val="solid"/>
          </a:ln>
        </p:spPr>
      </p:sp>
      <p:sp>
        <p:nvSpPr>
          <p:cNvPr id="25" name="Shape 19"/>
          <p:cNvSpPr/>
          <p:nvPr/>
        </p:nvSpPr>
        <p:spPr>
          <a:xfrm>
            <a:off x="3520440" y="3044952"/>
            <a:ext cx="384048" cy="384048"/>
          </a:xfrm>
          <a:prstGeom prst="ellipse">
            <a:avLst/>
          </a:prstGeom>
          <a:solidFill>
            <a:srgbClr val="F5F5F5">
              <a:alpha val="7000"/>
            </a:srgbClr>
          </a:solidFill>
          <a:ln w="9525">
            <a:solidFill>
              <a:srgbClr val="222222"/>
            </a:solidFill>
            <a:prstDash val="solid"/>
          </a:ln>
        </p:spPr>
      </p:sp>
      <p:pic>
        <p:nvPicPr>
          <p:cNvPr id="26" name="Image 4" descr="preencoded.png">    </p:cNvPr>
          <p:cNvPicPr>
            <a:picLocks noChangeAspect="1"/>
          </p:cNvPicPr>
          <p:nvPr/>
        </p:nvPicPr>
        <p:blipFill>
          <a:blip r:embed="rId5"/>
          <a:stretch>
            <a:fillRect/>
          </a:stretch>
        </p:blipFill>
        <p:spPr>
          <a:xfrm>
            <a:off x="3620292" y="3144804"/>
            <a:ext cx="184343" cy="184343"/>
          </a:xfrm>
          <a:prstGeom prst="rect">
            <a:avLst/>
          </a:prstGeom>
        </p:spPr>
      </p:pic>
      <p:sp>
        <p:nvSpPr>
          <p:cNvPr id="27" name="Text 20"/>
          <p:cNvSpPr/>
          <p:nvPr/>
        </p:nvSpPr>
        <p:spPr>
          <a:xfrm>
            <a:off x="3995928" y="3026664"/>
            <a:ext cx="1783080" cy="438912"/>
          </a:xfrm>
          <a:prstGeom prst="rect">
            <a:avLst/>
          </a:prstGeom>
          <a:noFill/>
          <a:ln/>
        </p:spPr>
        <p:txBody>
          <a:bodyPr wrap="square" lIns="0" tIns="0" rIns="0" bIns="0" rtlCol="0" anchor="t"/>
          <a:lstStyle/>
          <a:p>
            <a:pPr indent="0" marL="0">
              <a:lnSpc>
                <a:spcPct val="100000"/>
              </a:lnSpc>
              <a:buNone/>
            </a:pPr>
            <a:r>
              <a:rPr lang="en-US" sz="1150" b="1" dirty="0">
                <a:solidFill>
                  <a:srgbClr val="F5F5F5"/>
                </a:solidFill>
                <a:latin typeface="Space Grotesk" pitchFamily="34" charset="0"/>
                <a:ea typeface="Space Grotesk" pitchFamily="34" charset="-122"/>
                <a:cs typeface="Space Grotesk" pitchFamily="34" charset="-120"/>
              </a:rPr>
              <a:t>Gates for consequential actions</a:t>
            </a:r>
            <a:endParaRPr lang="en-US" sz="1150" dirty="0"/>
          </a:p>
        </p:txBody>
      </p:sp>
      <p:sp>
        <p:nvSpPr>
          <p:cNvPr id="28" name="Text 21"/>
          <p:cNvSpPr/>
          <p:nvPr/>
        </p:nvSpPr>
        <p:spPr>
          <a:xfrm>
            <a:off x="3520440" y="3520440"/>
            <a:ext cx="2258568" cy="841248"/>
          </a:xfrm>
          <a:prstGeom prst="rect">
            <a:avLst/>
          </a:prstGeom>
          <a:noFill/>
          <a:ln/>
        </p:spPr>
        <p:txBody>
          <a:bodyPr wrap="square" lIns="0" tIns="0" rIns="0" bIns="0" rtlCol="0" anchor="ctr"/>
          <a:lstStyle/>
          <a:p>
            <a:pPr indent="0" marL="0">
              <a:lnSpc>
                <a:spcPct val="112000"/>
              </a:lnSpc>
              <a:buNone/>
            </a:pPr>
            <a:r>
              <a:rPr lang="en-US" sz="880" dirty="0">
                <a:solidFill>
                  <a:srgbClr val="A3A3A3"/>
                </a:solidFill>
                <a:latin typeface="Inter" pitchFamily="34" charset="0"/>
                <a:ea typeface="Inter" pitchFamily="34" charset="-122"/>
                <a:cs typeface="Inter" pitchFamily="34" charset="-120"/>
              </a:rPr>
              <a:t>Send it, trade it, post it? A go/no-go verdict with an audit trail before the agent acts.</a:t>
            </a:r>
            <a:endParaRPr lang="en-US" sz="880" dirty="0"/>
          </a:p>
        </p:txBody>
      </p:sp>
      <p:sp>
        <p:nvSpPr>
          <p:cNvPr id="29" name="Shape 22"/>
          <p:cNvSpPr/>
          <p:nvPr/>
        </p:nvSpPr>
        <p:spPr>
          <a:xfrm>
            <a:off x="6163056" y="2898648"/>
            <a:ext cx="2587752" cy="1463040"/>
          </a:xfrm>
          <a:prstGeom prst="roundRect">
            <a:avLst>
              <a:gd name="adj" fmla="val 4375"/>
            </a:avLst>
          </a:prstGeom>
          <a:solidFill>
            <a:srgbClr val="121212"/>
          </a:solidFill>
          <a:ln w="9525">
            <a:solidFill>
              <a:srgbClr val="222222"/>
            </a:solidFill>
            <a:prstDash val="solid"/>
          </a:ln>
        </p:spPr>
      </p:sp>
      <p:sp>
        <p:nvSpPr>
          <p:cNvPr id="30" name="Shape 23"/>
          <p:cNvSpPr/>
          <p:nvPr/>
        </p:nvSpPr>
        <p:spPr>
          <a:xfrm>
            <a:off x="6327648" y="3044952"/>
            <a:ext cx="384048" cy="384048"/>
          </a:xfrm>
          <a:prstGeom prst="ellipse">
            <a:avLst/>
          </a:prstGeom>
          <a:solidFill>
            <a:srgbClr val="F5F5F5">
              <a:alpha val="7000"/>
            </a:srgbClr>
          </a:solidFill>
          <a:ln w="9525">
            <a:solidFill>
              <a:srgbClr val="222222"/>
            </a:solidFill>
            <a:prstDash val="solid"/>
          </a:ln>
        </p:spPr>
      </p:sp>
      <p:pic>
        <p:nvPicPr>
          <p:cNvPr id="31" name="Image 5" descr="preencoded.png">    </p:cNvPr>
          <p:cNvPicPr>
            <a:picLocks noChangeAspect="1"/>
          </p:cNvPicPr>
          <p:nvPr/>
        </p:nvPicPr>
        <p:blipFill>
          <a:blip r:embed="rId6"/>
          <a:stretch>
            <a:fillRect/>
          </a:stretch>
        </p:blipFill>
        <p:spPr>
          <a:xfrm>
            <a:off x="6427500" y="3144804"/>
            <a:ext cx="184343" cy="184343"/>
          </a:xfrm>
          <a:prstGeom prst="rect">
            <a:avLst/>
          </a:prstGeom>
        </p:spPr>
      </p:pic>
      <p:sp>
        <p:nvSpPr>
          <p:cNvPr id="32" name="Text 24"/>
          <p:cNvSpPr/>
          <p:nvPr/>
        </p:nvSpPr>
        <p:spPr>
          <a:xfrm>
            <a:off x="6803136" y="3026664"/>
            <a:ext cx="1783080" cy="438912"/>
          </a:xfrm>
          <a:prstGeom prst="rect">
            <a:avLst/>
          </a:prstGeom>
          <a:noFill/>
          <a:ln/>
        </p:spPr>
        <p:txBody>
          <a:bodyPr wrap="square" lIns="0" tIns="0" rIns="0" bIns="0" rtlCol="0" anchor="t"/>
          <a:lstStyle/>
          <a:p>
            <a:pPr indent="0" marL="0">
              <a:lnSpc>
                <a:spcPct val="100000"/>
              </a:lnSpc>
              <a:buNone/>
            </a:pPr>
            <a:r>
              <a:rPr lang="en-US" sz="1150" b="1" dirty="0">
                <a:solidFill>
                  <a:srgbClr val="F5F5F5"/>
                </a:solidFill>
                <a:latin typeface="Space Grotesk" pitchFamily="34" charset="0"/>
                <a:ea typeface="Space Grotesk" pitchFamily="34" charset="-122"/>
                <a:cs typeface="Space Grotesk" pitchFamily="34" charset="-120"/>
              </a:rPr>
              <a:t>Claim &amp; source verification</a:t>
            </a:r>
            <a:endParaRPr lang="en-US" sz="1150" dirty="0"/>
          </a:p>
        </p:txBody>
      </p:sp>
      <p:sp>
        <p:nvSpPr>
          <p:cNvPr id="33" name="Text 25"/>
          <p:cNvSpPr/>
          <p:nvPr/>
        </p:nvSpPr>
        <p:spPr>
          <a:xfrm>
            <a:off x="6327648" y="3520440"/>
            <a:ext cx="2258568" cy="841248"/>
          </a:xfrm>
          <a:prstGeom prst="rect">
            <a:avLst/>
          </a:prstGeom>
          <a:noFill/>
          <a:ln/>
        </p:spPr>
        <p:txBody>
          <a:bodyPr wrap="square" lIns="0" tIns="0" rIns="0" bIns="0" rtlCol="0" anchor="ctr"/>
          <a:lstStyle/>
          <a:p>
            <a:pPr indent="0" marL="0">
              <a:lnSpc>
                <a:spcPct val="112000"/>
              </a:lnSpc>
              <a:buNone/>
            </a:pPr>
            <a:r>
              <a:rPr lang="en-US" sz="880" dirty="0">
                <a:solidFill>
                  <a:srgbClr val="A3A3A3"/>
                </a:solidFill>
                <a:latin typeface="Inter" pitchFamily="34" charset="0"/>
                <a:ea typeface="Inter" pitchFamily="34" charset="-122"/>
                <a:cs typeface="Inter" pitchFamily="34" charset="-120"/>
              </a:rPr>
              <a:t>Does the source support the claim? Evidence checks at bounty speed.</a:t>
            </a:r>
            <a:endParaRPr lang="en-US" sz="880" dirty="0"/>
          </a:p>
        </p:txBody>
      </p:sp>
      <p:sp>
        <p:nvSpPr>
          <p:cNvPr id="34" name="Text 26"/>
          <p:cNvSpPr/>
          <p:nvPr/>
        </p:nvSpPr>
        <p:spPr>
          <a:xfrm>
            <a:off x="548640" y="4453128"/>
            <a:ext cx="8046720" cy="274320"/>
          </a:xfrm>
          <a:prstGeom prst="rect">
            <a:avLst/>
          </a:prstGeom>
          <a:noFill/>
          <a:ln/>
        </p:spPr>
        <p:txBody>
          <a:bodyPr wrap="square" lIns="0" tIns="0" rIns="0" bIns="0" rtlCol="0" anchor="ctr"/>
          <a:lstStyle/>
          <a:p>
            <a:pPr algn="ctr" indent="0" marL="0">
              <a:buNone/>
            </a:pPr>
            <a:r>
              <a:rPr lang="en-US" sz="1050" b="1" dirty="0">
                <a:solidFill>
                  <a:srgbClr val="F5F5F5"/>
                </a:solidFill>
                <a:latin typeface="Inter" pitchFamily="34" charset="0"/>
                <a:ea typeface="Inter" pitchFamily="34" charset="-122"/>
                <a:cs typeface="Inter" pitchFamily="34" charset="-120"/>
              </a:rPr>
              <a:t>LLM-as-judge drifts and flatters. </a:t>
            </a:r>
            <a:pPr algn="ctr" indent="0" marL="0">
              <a:buNone/>
            </a:pPr>
            <a:r>
              <a:rPr lang="en-US" sz="1050" dirty="0">
                <a:solidFill>
                  <a:srgbClr val="A3A3A3"/>
                </a:solidFill>
                <a:latin typeface="Inter" pitchFamily="34" charset="0"/>
                <a:ea typeface="Inter" pitchFamily="34" charset="-122"/>
                <a:cs typeface="Inter" pitchFamily="34" charset="-120"/>
              </a:rPr>
              <a:t>Every workflow above ends in a settled, citable human verdict instead.</a:t>
            </a:r>
            <a:endParaRPr lang="en-US" sz="1050" dirty="0"/>
          </a:p>
        </p:txBody>
      </p:sp>
      <p:pic>
        <p:nvPicPr>
          <p:cNvPr id="35" name="Image 6" descr="assets/ring.png">    </p:cNvPr>
          <p:cNvPicPr>
            <a:picLocks noChangeAspect="1"/>
          </p:cNvPicPr>
          <p:nvPr/>
        </p:nvPicPr>
        <p:blipFill>
          <a:blip r:embed="rId7"/>
          <a:stretch>
            <a:fillRect/>
          </a:stretch>
        </p:blipFill>
        <p:spPr>
          <a:xfrm>
            <a:off x="548640" y="4773168"/>
            <a:ext cx="201168" cy="201168"/>
          </a:xfrm>
          <a:prstGeom prst="rect">
            <a:avLst/>
          </a:prstGeom>
        </p:spPr>
      </p:pic>
      <p:sp>
        <p:nvSpPr>
          <p:cNvPr id="36" name="Text 27"/>
          <p:cNvSpPr/>
          <p:nvPr/>
        </p:nvSpPr>
        <p:spPr>
          <a:xfrm>
            <a:off x="804672" y="4773168"/>
            <a:ext cx="1371600" cy="201168"/>
          </a:xfrm>
          <a:prstGeom prst="rect">
            <a:avLst/>
          </a:prstGeom>
          <a:noFill/>
          <a:ln/>
        </p:spPr>
        <p:txBody>
          <a:bodyPr wrap="square" lIns="0" tIns="0" rIns="0" bIns="0" rtlCol="0" anchor="ctr"/>
          <a:lstStyle/>
          <a:p>
            <a:pPr indent="0" marL="0">
              <a:buNone/>
            </a:pPr>
            <a:r>
              <a:rPr lang="en-US" sz="900" b="1" dirty="0">
                <a:solidFill>
                  <a:srgbClr val="737373"/>
                </a:solidFill>
                <a:latin typeface="Space Grotesk" pitchFamily="34" charset="0"/>
                <a:ea typeface="Space Grotesk" pitchFamily="34" charset="-122"/>
                <a:cs typeface="Space Grotesk" pitchFamily="34" charset="-120"/>
              </a:rPr>
              <a:t>RateLoop</a:t>
            </a:r>
            <a:endParaRPr lang="en-US" sz="900" dirty="0"/>
          </a:p>
        </p:txBody>
      </p:sp>
      <p:sp>
        <p:nvSpPr>
          <p:cNvPr id="37" name="Text 28"/>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Honest by design</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Mechanism design does the moderation — not an operator's opinion.</a:t>
            </a:r>
            <a:endParaRPr lang="en-US" sz="1250" dirty="0"/>
          </a:p>
        </p:txBody>
      </p:sp>
      <p:sp>
        <p:nvSpPr>
          <p:cNvPr id="4" name="Shape 2"/>
          <p:cNvSpPr/>
          <p:nvPr/>
        </p:nvSpPr>
        <p:spPr>
          <a:xfrm>
            <a:off x="548640" y="1417320"/>
            <a:ext cx="3904488" cy="1554480"/>
          </a:xfrm>
          <a:prstGeom prst="roundRect">
            <a:avLst>
              <a:gd name="adj" fmla="val 4118"/>
            </a:avLst>
          </a:prstGeom>
          <a:solidFill>
            <a:srgbClr val="121212"/>
          </a:solidFill>
          <a:ln w="9525">
            <a:solidFill>
              <a:srgbClr val="222222"/>
            </a:solidFill>
            <a:prstDash val="solid"/>
          </a:ln>
        </p:spPr>
      </p:sp>
      <p:sp>
        <p:nvSpPr>
          <p:cNvPr id="5" name="Shape 3"/>
          <p:cNvSpPr/>
          <p:nvPr/>
        </p:nvSpPr>
        <p:spPr>
          <a:xfrm>
            <a:off x="731520" y="1600200"/>
            <a:ext cx="457200" cy="457200"/>
          </a:xfrm>
          <a:prstGeom prst="ellipse">
            <a:avLst/>
          </a:prstGeom>
          <a:solidFill>
            <a:srgbClr val="F5F5F5">
              <a:alpha val="7000"/>
            </a:srgbClr>
          </a:solidFill>
          <a:ln w="9525">
            <a:solidFill>
              <a:srgbClr val="222222"/>
            </a:solidFill>
            <a:prstDash val="solid"/>
          </a:ln>
        </p:spPr>
      </p:sp>
      <p:pic>
        <p:nvPicPr>
          <p:cNvPr id="6" name="Image 0" descr="preencoded.png">    </p:cNvPr>
          <p:cNvPicPr>
            <a:picLocks noChangeAspect="1"/>
          </p:cNvPicPr>
          <p:nvPr/>
        </p:nvPicPr>
        <p:blipFill>
          <a:blip r:embed="rId1"/>
          <a:stretch>
            <a:fillRect/>
          </a:stretch>
        </p:blipFill>
        <p:spPr>
          <a:xfrm>
            <a:off x="850392" y="1719072"/>
            <a:ext cx="219456" cy="219456"/>
          </a:xfrm>
          <a:prstGeom prst="rect">
            <a:avLst/>
          </a:prstGeom>
        </p:spPr>
      </p:pic>
      <p:sp>
        <p:nvSpPr>
          <p:cNvPr id="7" name="Text 4"/>
          <p:cNvSpPr/>
          <p:nvPr/>
        </p:nvSpPr>
        <p:spPr>
          <a:xfrm>
            <a:off x="1335024" y="1600200"/>
            <a:ext cx="2944368" cy="292608"/>
          </a:xfrm>
          <a:prstGeom prst="rect">
            <a:avLst/>
          </a:prstGeom>
          <a:noFill/>
          <a:ln/>
        </p:spPr>
        <p:txBody>
          <a:bodyPr wrap="square" lIns="0" tIns="0" rIns="0" bIns="0" rtlCol="0" anchor="ctr"/>
          <a:lstStyle/>
          <a:p>
            <a:pPr indent="0" marL="0">
              <a:buNone/>
            </a:pPr>
            <a:r>
              <a:rPr lang="en-US" sz="1350" b="1" dirty="0">
                <a:solidFill>
                  <a:srgbClr val="F5F5F5"/>
                </a:solidFill>
                <a:latin typeface="Space Grotesk" pitchFamily="34" charset="0"/>
                <a:ea typeface="Space Grotesk" pitchFamily="34" charset="-122"/>
                <a:cs typeface="Space Grotesk" pitchFamily="34" charset="-120"/>
              </a:rPr>
              <a:t>Blind rounds</a:t>
            </a:r>
            <a:endParaRPr lang="en-US" sz="1350" dirty="0"/>
          </a:p>
        </p:txBody>
      </p:sp>
      <p:sp>
        <p:nvSpPr>
          <p:cNvPr id="8" name="Text 5"/>
          <p:cNvSpPr/>
          <p:nvPr/>
        </p:nvSpPr>
        <p:spPr>
          <a:xfrm>
            <a:off x="1335024" y="1929384"/>
            <a:ext cx="2944368" cy="960120"/>
          </a:xfrm>
          <a:prstGeom prst="rect">
            <a:avLst/>
          </a:prstGeom>
          <a:noFill/>
          <a:ln/>
        </p:spPr>
        <p:txBody>
          <a:bodyPr wrap="square" lIns="0" tIns="0" rIns="0" bIns="0" rtlCol="0" anchor="ctr"/>
          <a:lstStyle/>
          <a:p>
            <a:pPr indent="0" marL="0">
              <a:lnSpc>
                <a:spcPct val="113000"/>
              </a:lnSpc>
              <a:buNone/>
            </a:pPr>
            <a:r>
              <a:rPr lang="en-US" sz="1000" dirty="0">
                <a:solidFill>
                  <a:srgbClr val="A3A3A3"/>
                </a:solidFill>
                <a:latin typeface="Inter" pitchFamily="34" charset="0"/>
                <a:ea typeface="Inter" pitchFamily="34" charset="-122"/>
                <a:cs typeface="Inter" pitchFamily="34" charset="-120"/>
              </a:rPr>
              <a:t>Votes stay encrypted (tlock commit-reveal) until the round ends — no herding, no copy-rating.</a:t>
            </a:r>
            <a:endParaRPr lang="en-US" sz="1000" dirty="0"/>
          </a:p>
        </p:txBody>
      </p:sp>
      <p:sp>
        <p:nvSpPr>
          <p:cNvPr id="9" name="Shape 6"/>
          <p:cNvSpPr/>
          <p:nvPr/>
        </p:nvSpPr>
        <p:spPr>
          <a:xfrm>
            <a:off x="4690872" y="1417320"/>
            <a:ext cx="3904488" cy="1554480"/>
          </a:xfrm>
          <a:prstGeom prst="roundRect">
            <a:avLst>
              <a:gd name="adj" fmla="val 4118"/>
            </a:avLst>
          </a:prstGeom>
          <a:solidFill>
            <a:srgbClr val="121212"/>
          </a:solidFill>
          <a:ln w="9525">
            <a:solidFill>
              <a:srgbClr val="222222"/>
            </a:solidFill>
            <a:prstDash val="solid"/>
          </a:ln>
        </p:spPr>
      </p:sp>
      <p:sp>
        <p:nvSpPr>
          <p:cNvPr id="10" name="Shape 7"/>
          <p:cNvSpPr/>
          <p:nvPr/>
        </p:nvSpPr>
        <p:spPr>
          <a:xfrm>
            <a:off x="4873752" y="1600200"/>
            <a:ext cx="457200" cy="457200"/>
          </a:xfrm>
          <a:prstGeom prst="ellipse">
            <a:avLst/>
          </a:prstGeom>
          <a:solidFill>
            <a:srgbClr val="F5F5F5">
              <a:alpha val="7000"/>
            </a:srgbClr>
          </a:solidFill>
          <a:ln w="9525">
            <a:solidFill>
              <a:srgbClr val="222222"/>
            </a:solidFill>
            <a:prstDash val="solid"/>
          </a:ln>
        </p:spPr>
      </p:sp>
      <p:pic>
        <p:nvPicPr>
          <p:cNvPr id="11" name="Image 1" descr="preencoded.png">    </p:cNvPr>
          <p:cNvPicPr>
            <a:picLocks noChangeAspect="1"/>
          </p:cNvPicPr>
          <p:nvPr/>
        </p:nvPicPr>
        <p:blipFill>
          <a:blip r:embed="rId2"/>
          <a:stretch>
            <a:fillRect/>
          </a:stretch>
        </p:blipFill>
        <p:spPr>
          <a:xfrm>
            <a:off x="4992624" y="1719072"/>
            <a:ext cx="219456" cy="219456"/>
          </a:xfrm>
          <a:prstGeom prst="rect">
            <a:avLst/>
          </a:prstGeom>
        </p:spPr>
      </p:pic>
      <p:sp>
        <p:nvSpPr>
          <p:cNvPr id="12" name="Text 8"/>
          <p:cNvSpPr/>
          <p:nvPr/>
        </p:nvSpPr>
        <p:spPr>
          <a:xfrm>
            <a:off x="5477256" y="1600200"/>
            <a:ext cx="2944368" cy="292608"/>
          </a:xfrm>
          <a:prstGeom prst="rect">
            <a:avLst/>
          </a:prstGeom>
          <a:noFill/>
          <a:ln/>
        </p:spPr>
        <p:txBody>
          <a:bodyPr wrap="square" lIns="0" tIns="0" rIns="0" bIns="0" rtlCol="0" anchor="ctr"/>
          <a:lstStyle/>
          <a:p>
            <a:pPr indent="0" marL="0">
              <a:buNone/>
            </a:pPr>
            <a:r>
              <a:rPr lang="en-US" sz="1350" b="1" dirty="0">
                <a:solidFill>
                  <a:srgbClr val="F5F5F5"/>
                </a:solidFill>
                <a:latin typeface="Space Grotesk" pitchFamily="34" charset="0"/>
                <a:ea typeface="Space Grotesk" pitchFamily="34" charset="-122"/>
                <a:cs typeface="Space Grotesk" pitchFamily="34" charset="-120"/>
              </a:rPr>
              <a:t>Truth-rewarding scoring</a:t>
            </a:r>
            <a:endParaRPr lang="en-US" sz="1350" dirty="0"/>
          </a:p>
        </p:txBody>
      </p:sp>
      <p:sp>
        <p:nvSpPr>
          <p:cNvPr id="13" name="Text 9"/>
          <p:cNvSpPr/>
          <p:nvPr/>
        </p:nvSpPr>
        <p:spPr>
          <a:xfrm>
            <a:off x="5477256" y="1929384"/>
            <a:ext cx="2944368" cy="960120"/>
          </a:xfrm>
          <a:prstGeom prst="rect">
            <a:avLst/>
          </a:prstGeom>
          <a:noFill/>
          <a:ln/>
        </p:spPr>
        <p:txBody>
          <a:bodyPr wrap="square" lIns="0" tIns="0" rIns="0" bIns="0" rtlCol="0" anchor="ctr"/>
          <a:lstStyle/>
          <a:p>
            <a:pPr indent="0" marL="0">
              <a:lnSpc>
                <a:spcPct val="113000"/>
              </a:lnSpc>
              <a:buNone/>
            </a:pPr>
            <a:r>
              <a:rPr lang="en-US" sz="1000" dirty="0">
                <a:solidFill>
                  <a:srgbClr val="A3A3A3"/>
                </a:solidFill>
                <a:latin typeface="Inter" pitchFamily="34" charset="0"/>
                <a:ea typeface="Inter" pitchFamily="34" charset="-122"/>
                <a:cs typeface="Inter" pitchFamily="34" charset="-120"/>
              </a:rPr>
              <a:t>Bayesian Truth Serum scores raters against the revealed crowd — honesty is the winning strategy.</a:t>
            </a:r>
            <a:endParaRPr lang="en-US" sz="1000" dirty="0"/>
          </a:p>
        </p:txBody>
      </p:sp>
      <p:sp>
        <p:nvSpPr>
          <p:cNvPr id="14" name="Shape 10"/>
          <p:cNvSpPr/>
          <p:nvPr/>
        </p:nvSpPr>
        <p:spPr>
          <a:xfrm>
            <a:off x="548640" y="3108960"/>
            <a:ext cx="3904488" cy="1554480"/>
          </a:xfrm>
          <a:prstGeom prst="roundRect">
            <a:avLst>
              <a:gd name="adj" fmla="val 4118"/>
            </a:avLst>
          </a:prstGeom>
          <a:solidFill>
            <a:srgbClr val="121212"/>
          </a:solidFill>
          <a:ln w="9525">
            <a:solidFill>
              <a:srgbClr val="222222"/>
            </a:solidFill>
            <a:prstDash val="solid"/>
          </a:ln>
        </p:spPr>
      </p:sp>
      <p:sp>
        <p:nvSpPr>
          <p:cNvPr id="15" name="Shape 11"/>
          <p:cNvSpPr/>
          <p:nvPr/>
        </p:nvSpPr>
        <p:spPr>
          <a:xfrm>
            <a:off x="731520" y="3291840"/>
            <a:ext cx="457200" cy="457200"/>
          </a:xfrm>
          <a:prstGeom prst="ellipse">
            <a:avLst/>
          </a:prstGeom>
          <a:solidFill>
            <a:srgbClr val="F5F5F5">
              <a:alpha val="7000"/>
            </a:srgbClr>
          </a:solidFill>
          <a:ln w="9525">
            <a:solidFill>
              <a:srgbClr val="222222"/>
            </a:solidFill>
            <a:prstDash val="solid"/>
          </a:ln>
        </p:spPr>
      </p:sp>
      <p:pic>
        <p:nvPicPr>
          <p:cNvPr id="16" name="Image 2" descr="preencoded.png">    </p:cNvPr>
          <p:cNvPicPr>
            <a:picLocks noChangeAspect="1"/>
          </p:cNvPicPr>
          <p:nvPr/>
        </p:nvPicPr>
        <p:blipFill>
          <a:blip r:embed="rId3"/>
          <a:stretch>
            <a:fillRect/>
          </a:stretch>
        </p:blipFill>
        <p:spPr>
          <a:xfrm>
            <a:off x="850392" y="3410712"/>
            <a:ext cx="219456" cy="219456"/>
          </a:xfrm>
          <a:prstGeom prst="rect">
            <a:avLst/>
          </a:prstGeom>
        </p:spPr>
      </p:pic>
      <p:sp>
        <p:nvSpPr>
          <p:cNvPr id="17" name="Text 12"/>
          <p:cNvSpPr/>
          <p:nvPr/>
        </p:nvSpPr>
        <p:spPr>
          <a:xfrm>
            <a:off x="1335024" y="3291840"/>
            <a:ext cx="2944368" cy="292608"/>
          </a:xfrm>
          <a:prstGeom prst="rect">
            <a:avLst/>
          </a:prstGeom>
          <a:noFill/>
          <a:ln/>
        </p:spPr>
        <p:txBody>
          <a:bodyPr wrap="square" lIns="0" tIns="0" rIns="0" bIns="0" rtlCol="0" anchor="ctr"/>
          <a:lstStyle/>
          <a:p>
            <a:pPr indent="0" marL="0">
              <a:buNone/>
            </a:pPr>
            <a:r>
              <a:rPr lang="en-US" sz="1350" b="1" dirty="0">
                <a:solidFill>
                  <a:srgbClr val="F5F5F5"/>
                </a:solidFill>
                <a:latin typeface="Space Grotesk" pitchFamily="34" charset="0"/>
                <a:ea typeface="Space Grotesk" pitchFamily="34" charset="-122"/>
                <a:cs typeface="Space Grotesk" pitchFamily="34" charset="-120"/>
              </a:rPr>
              <a:t>Skin in the game</a:t>
            </a:r>
            <a:endParaRPr lang="en-US" sz="1350" dirty="0"/>
          </a:p>
        </p:txBody>
      </p:sp>
      <p:sp>
        <p:nvSpPr>
          <p:cNvPr id="18" name="Text 13"/>
          <p:cNvSpPr/>
          <p:nvPr/>
        </p:nvSpPr>
        <p:spPr>
          <a:xfrm>
            <a:off x="1335024" y="3621024"/>
            <a:ext cx="2944368" cy="960120"/>
          </a:xfrm>
          <a:prstGeom prst="rect">
            <a:avLst/>
          </a:prstGeom>
          <a:noFill/>
          <a:ln/>
        </p:spPr>
        <p:txBody>
          <a:bodyPr wrap="square" lIns="0" tIns="0" rIns="0" bIns="0" rtlCol="0" anchor="ctr"/>
          <a:lstStyle/>
          <a:p>
            <a:pPr indent="0" marL="0">
              <a:lnSpc>
                <a:spcPct val="113000"/>
              </a:lnSpc>
              <a:buNone/>
            </a:pPr>
            <a:r>
              <a:rPr lang="en-US" sz="1000" dirty="0">
                <a:solidFill>
                  <a:srgbClr val="A3A3A3"/>
                </a:solidFill>
                <a:latin typeface="Inter" pitchFamily="34" charset="0"/>
                <a:ea typeface="Inter" pitchFamily="34" charset="-122"/>
                <a:cs typeface="Inter" pitchFamily="34" charset="-120"/>
              </a:rPr>
              <a:t>Optional LREP stake adds real upside and downside; late raters earn only 25% weight.</a:t>
            </a:r>
            <a:endParaRPr lang="en-US" sz="1000" dirty="0"/>
          </a:p>
        </p:txBody>
      </p:sp>
      <p:sp>
        <p:nvSpPr>
          <p:cNvPr id="19" name="Shape 14"/>
          <p:cNvSpPr/>
          <p:nvPr/>
        </p:nvSpPr>
        <p:spPr>
          <a:xfrm>
            <a:off x="4690872" y="3108960"/>
            <a:ext cx="3904488" cy="1554480"/>
          </a:xfrm>
          <a:prstGeom prst="roundRect">
            <a:avLst>
              <a:gd name="adj" fmla="val 4118"/>
            </a:avLst>
          </a:prstGeom>
          <a:solidFill>
            <a:srgbClr val="121212"/>
          </a:solidFill>
          <a:ln w="9525">
            <a:solidFill>
              <a:srgbClr val="222222"/>
            </a:solidFill>
            <a:prstDash val="solid"/>
          </a:ln>
        </p:spPr>
      </p:sp>
      <p:sp>
        <p:nvSpPr>
          <p:cNvPr id="20" name="Shape 15"/>
          <p:cNvSpPr/>
          <p:nvPr/>
        </p:nvSpPr>
        <p:spPr>
          <a:xfrm>
            <a:off x="4873752" y="3291840"/>
            <a:ext cx="457200" cy="457200"/>
          </a:xfrm>
          <a:prstGeom prst="ellipse">
            <a:avLst/>
          </a:prstGeom>
          <a:solidFill>
            <a:srgbClr val="F5F5F5">
              <a:alpha val="7000"/>
            </a:srgbClr>
          </a:solidFill>
          <a:ln w="9525">
            <a:solidFill>
              <a:srgbClr val="222222"/>
            </a:solidFill>
            <a:prstDash val="solid"/>
          </a:ln>
        </p:spPr>
      </p:sp>
      <p:pic>
        <p:nvPicPr>
          <p:cNvPr id="21" name="Image 3" descr="preencoded.png">    </p:cNvPr>
          <p:cNvPicPr>
            <a:picLocks noChangeAspect="1"/>
          </p:cNvPicPr>
          <p:nvPr/>
        </p:nvPicPr>
        <p:blipFill>
          <a:blip r:embed="rId4"/>
          <a:stretch>
            <a:fillRect/>
          </a:stretch>
        </p:blipFill>
        <p:spPr>
          <a:xfrm>
            <a:off x="4992624" y="3410712"/>
            <a:ext cx="219456" cy="219456"/>
          </a:xfrm>
          <a:prstGeom prst="rect">
            <a:avLst/>
          </a:prstGeom>
        </p:spPr>
      </p:pic>
      <p:sp>
        <p:nvSpPr>
          <p:cNvPr id="22" name="Text 16"/>
          <p:cNvSpPr/>
          <p:nvPr/>
        </p:nvSpPr>
        <p:spPr>
          <a:xfrm>
            <a:off x="5477256" y="3291840"/>
            <a:ext cx="2944368" cy="292608"/>
          </a:xfrm>
          <a:prstGeom prst="rect">
            <a:avLst/>
          </a:prstGeom>
          <a:noFill/>
          <a:ln/>
        </p:spPr>
        <p:txBody>
          <a:bodyPr wrap="square" lIns="0" tIns="0" rIns="0" bIns="0" rtlCol="0" anchor="ctr"/>
          <a:lstStyle/>
          <a:p>
            <a:pPr indent="0" marL="0">
              <a:buNone/>
            </a:pPr>
            <a:r>
              <a:rPr lang="en-US" sz="1350" b="1" dirty="0">
                <a:solidFill>
                  <a:srgbClr val="F5F5F5"/>
                </a:solidFill>
                <a:latin typeface="Space Grotesk" pitchFamily="34" charset="0"/>
                <a:ea typeface="Space Grotesk" pitchFamily="34" charset="-122"/>
                <a:cs typeface="Space Grotesk" pitchFamily="34" charset="-120"/>
              </a:rPr>
              <a:t>Correlation caps</a:t>
            </a:r>
            <a:endParaRPr lang="en-US" sz="1350" dirty="0"/>
          </a:p>
        </p:txBody>
      </p:sp>
      <p:sp>
        <p:nvSpPr>
          <p:cNvPr id="23" name="Text 17"/>
          <p:cNvSpPr/>
          <p:nvPr/>
        </p:nvSpPr>
        <p:spPr>
          <a:xfrm>
            <a:off x="5477256" y="3621024"/>
            <a:ext cx="2944368" cy="960120"/>
          </a:xfrm>
          <a:prstGeom prst="rect">
            <a:avLst/>
          </a:prstGeom>
          <a:noFill/>
          <a:ln/>
        </p:spPr>
        <p:txBody>
          <a:bodyPr wrap="square" lIns="0" tIns="0" rIns="0" bIns="0" rtlCol="0" anchor="ctr"/>
          <a:lstStyle/>
          <a:p>
            <a:pPr indent="0" marL="0">
              <a:lnSpc>
                <a:spcPct val="113000"/>
              </a:lnSpc>
              <a:buNone/>
            </a:pPr>
            <a:r>
              <a:rPr lang="en-US" sz="1000" dirty="0">
                <a:solidFill>
                  <a:srgbClr val="A3A3A3"/>
                </a:solidFill>
                <a:latin typeface="Inter" pitchFamily="34" charset="0"/>
                <a:ea typeface="Inter" pitchFamily="34" charset="-122"/>
                <a:cs typeface="Inter" pitchFamily="34" charset="-120"/>
              </a:rPr>
              <a:t>Coordinated wallet clusters share capped weight — bots can't buy the verdict.</a:t>
            </a:r>
            <a:endParaRPr lang="en-US" sz="1000" dirty="0"/>
          </a:p>
        </p:txBody>
      </p:sp>
      <p:pic>
        <p:nvPicPr>
          <p:cNvPr id="24" name="Image 4" descr="assets/ring.png">    </p:cNvPr>
          <p:cNvPicPr>
            <a:picLocks noChangeAspect="1"/>
          </p:cNvPicPr>
          <p:nvPr/>
        </p:nvPicPr>
        <p:blipFill>
          <a:blip r:embed="rId5"/>
          <a:stretch>
            <a:fillRect/>
          </a:stretch>
        </p:blipFill>
        <p:spPr>
          <a:xfrm>
            <a:off x="548640" y="4773168"/>
            <a:ext cx="201168" cy="201168"/>
          </a:xfrm>
          <a:prstGeom prst="rect">
            <a:avLst/>
          </a:prstGeom>
        </p:spPr>
      </p:pic>
      <p:sp>
        <p:nvSpPr>
          <p:cNvPr id="25" name="Text 18"/>
          <p:cNvSpPr/>
          <p:nvPr/>
        </p:nvSpPr>
        <p:spPr>
          <a:xfrm>
            <a:off x="804672" y="4773168"/>
            <a:ext cx="1371600" cy="201168"/>
          </a:xfrm>
          <a:prstGeom prst="rect">
            <a:avLst/>
          </a:prstGeom>
          <a:noFill/>
          <a:ln/>
        </p:spPr>
        <p:txBody>
          <a:bodyPr wrap="square" lIns="0" tIns="0" rIns="0" bIns="0" rtlCol="0" anchor="ctr"/>
          <a:lstStyle/>
          <a:p>
            <a:pPr indent="0" marL="0">
              <a:buNone/>
            </a:pPr>
            <a:r>
              <a:rPr lang="en-US" sz="900" b="1" dirty="0">
                <a:solidFill>
                  <a:srgbClr val="737373"/>
                </a:solidFill>
                <a:latin typeface="Space Grotesk" pitchFamily="34" charset="0"/>
                <a:ea typeface="Space Grotesk" pitchFamily="34" charset="-122"/>
                <a:cs typeface="Space Grotesk" pitchFamily="34" charset="-120"/>
              </a:rPr>
              <a:t>RateLoop</a:t>
            </a:r>
            <a:endParaRPr lang="en-US" sz="900" dirty="0"/>
          </a:p>
        </p:txBody>
      </p:sp>
      <p:sp>
        <p:nvSpPr>
          <p:cNvPr id="26" name="Text 19"/>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Built for the agentic web</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Agent-native from the first call — accountless by default, non-custodial always.</a:t>
            </a:r>
            <a:endParaRPr lang="en-US" sz="1250" dirty="0"/>
          </a:p>
        </p:txBody>
      </p:sp>
      <p:sp>
        <p:nvSpPr>
          <p:cNvPr id="4" name="Shape 2"/>
          <p:cNvSpPr/>
          <p:nvPr/>
        </p:nvSpPr>
        <p:spPr>
          <a:xfrm>
            <a:off x="548640" y="1417320"/>
            <a:ext cx="457200" cy="457200"/>
          </a:xfrm>
          <a:prstGeom prst="ellipse">
            <a:avLst/>
          </a:prstGeom>
          <a:solidFill>
            <a:srgbClr val="F5F5F5">
              <a:alpha val="7000"/>
            </a:srgbClr>
          </a:solidFill>
          <a:ln w="9525">
            <a:solidFill>
              <a:srgbClr val="222222"/>
            </a:solidFill>
            <a:prstDash val="solid"/>
          </a:ln>
        </p:spPr>
      </p:sp>
      <p:pic>
        <p:nvPicPr>
          <p:cNvPr id="5" name="Image 0" descr="preencoded.png">    </p:cNvPr>
          <p:cNvPicPr>
            <a:picLocks noChangeAspect="1"/>
          </p:cNvPicPr>
          <p:nvPr/>
        </p:nvPicPr>
        <p:blipFill>
          <a:blip r:embed="rId1"/>
          <a:stretch>
            <a:fillRect/>
          </a:stretch>
        </p:blipFill>
        <p:spPr>
          <a:xfrm>
            <a:off x="667512" y="1536192"/>
            <a:ext cx="219456" cy="219456"/>
          </a:xfrm>
          <a:prstGeom prst="rect">
            <a:avLst/>
          </a:prstGeom>
        </p:spPr>
      </p:pic>
      <p:sp>
        <p:nvSpPr>
          <p:cNvPr id="6" name="Text 3"/>
          <p:cNvSpPr/>
          <p:nvPr/>
        </p:nvSpPr>
        <p:spPr>
          <a:xfrm>
            <a:off x="1170432" y="1399032"/>
            <a:ext cx="3566160" cy="274320"/>
          </a:xfrm>
          <a:prstGeom prst="rect">
            <a:avLst/>
          </a:prstGeom>
          <a:noFill/>
          <a:ln/>
        </p:spPr>
        <p:txBody>
          <a:bodyPr wrap="square" lIns="0" tIns="0" rIns="0" bIns="0" rtlCol="0" anchor="ctr"/>
          <a:lstStyle/>
          <a:p>
            <a:pPr indent="0" marL="0">
              <a:buNone/>
            </a:pPr>
            <a:r>
              <a:rPr lang="en-US" sz="1300" b="1" dirty="0">
                <a:solidFill>
                  <a:srgbClr val="F5F5F5"/>
                </a:solidFill>
                <a:latin typeface="Space Grotesk" pitchFamily="34" charset="0"/>
                <a:ea typeface="Space Grotesk" pitchFamily="34" charset="-122"/>
                <a:cs typeface="Space Grotesk" pitchFamily="34" charset="-120"/>
              </a:rPr>
              <a:t>Public MCP endpoint</a:t>
            </a:r>
            <a:endParaRPr lang="en-US" sz="1300" dirty="0"/>
          </a:p>
        </p:txBody>
      </p:sp>
      <p:sp>
        <p:nvSpPr>
          <p:cNvPr id="7" name="Text 4"/>
          <p:cNvSpPr/>
          <p:nvPr/>
        </p:nvSpPr>
        <p:spPr>
          <a:xfrm>
            <a:off x="1170432" y="1673352"/>
            <a:ext cx="3566160" cy="502920"/>
          </a:xfrm>
          <a:prstGeom prst="rect">
            <a:avLst/>
          </a:prstGeom>
          <a:noFill/>
          <a:ln/>
        </p:spPr>
        <p:txBody>
          <a:bodyPr wrap="square" lIns="0" tIns="0" rIns="0" bIns="0" rtlCol="0" anchor="ctr"/>
          <a:lstStyle/>
          <a:p>
            <a:pPr indent="0" marL="0">
              <a:lnSpc>
                <a:spcPct val="112000"/>
              </a:lnSpc>
              <a:buNone/>
            </a:pPr>
            <a:r>
              <a:rPr lang="en-US" sz="1000" dirty="0">
                <a:solidFill>
                  <a:srgbClr val="A3A3A3"/>
                </a:solidFill>
                <a:latin typeface="Inter" pitchFamily="34" charset="0"/>
                <a:ea typeface="Inter" pitchFamily="34" charset="-122"/>
                <a:cs typeface="Inter" pitchFamily="34" charset="-120"/>
              </a:rPr>
              <a:t>Works in Claude Code, Codex, and any MCP host.</a:t>
            </a:r>
            <a:endParaRPr lang="en-US" sz="1000" dirty="0"/>
          </a:p>
        </p:txBody>
      </p:sp>
      <p:sp>
        <p:nvSpPr>
          <p:cNvPr id="8" name="Shape 5"/>
          <p:cNvSpPr/>
          <p:nvPr/>
        </p:nvSpPr>
        <p:spPr>
          <a:xfrm>
            <a:off x="548640" y="2258568"/>
            <a:ext cx="457200" cy="457200"/>
          </a:xfrm>
          <a:prstGeom prst="ellipse">
            <a:avLst/>
          </a:prstGeom>
          <a:solidFill>
            <a:srgbClr val="F5F5F5">
              <a:alpha val="7000"/>
            </a:srgbClr>
          </a:solidFill>
          <a:ln w="9525">
            <a:solidFill>
              <a:srgbClr val="222222"/>
            </a:solidFill>
            <a:prstDash val="solid"/>
          </a:ln>
        </p:spPr>
      </p:sp>
      <p:pic>
        <p:nvPicPr>
          <p:cNvPr id="9" name="Image 1" descr="preencoded.png">    </p:cNvPr>
          <p:cNvPicPr>
            <a:picLocks noChangeAspect="1"/>
          </p:cNvPicPr>
          <p:nvPr/>
        </p:nvPicPr>
        <p:blipFill>
          <a:blip r:embed="rId2"/>
          <a:stretch>
            <a:fillRect/>
          </a:stretch>
        </p:blipFill>
        <p:spPr>
          <a:xfrm>
            <a:off x="667512" y="2377440"/>
            <a:ext cx="219456" cy="219456"/>
          </a:xfrm>
          <a:prstGeom prst="rect">
            <a:avLst/>
          </a:prstGeom>
        </p:spPr>
      </p:pic>
      <p:sp>
        <p:nvSpPr>
          <p:cNvPr id="10" name="Text 6"/>
          <p:cNvSpPr/>
          <p:nvPr/>
        </p:nvSpPr>
        <p:spPr>
          <a:xfrm>
            <a:off x="1170432" y="2240280"/>
            <a:ext cx="3566160" cy="274320"/>
          </a:xfrm>
          <a:prstGeom prst="rect">
            <a:avLst/>
          </a:prstGeom>
          <a:noFill/>
          <a:ln/>
        </p:spPr>
        <p:txBody>
          <a:bodyPr wrap="square" lIns="0" tIns="0" rIns="0" bIns="0" rtlCol="0" anchor="ctr"/>
          <a:lstStyle/>
          <a:p>
            <a:pPr indent="0" marL="0">
              <a:buNone/>
            </a:pPr>
            <a:r>
              <a:rPr lang="en-US" sz="1300" b="1" dirty="0">
                <a:solidFill>
                  <a:srgbClr val="F5F5F5"/>
                </a:solidFill>
                <a:latin typeface="Space Grotesk" pitchFamily="34" charset="0"/>
                <a:ea typeface="Space Grotesk" pitchFamily="34" charset="-122"/>
                <a:cs typeface="Space Grotesk" pitchFamily="34" charset="-120"/>
              </a:rPr>
              <a:t>TypeScript SDK + JSON routes</a:t>
            </a:r>
            <a:endParaRPr lang="en-US" sz="1300" dirty="0"/>
          </a:p>
        </p:txBody>
      </p:sp>
      <p:sp>
        <p:nvSpPr>
          <p:cNvPr id="11" name="Text 7"/>
          <p:cNvSpPr/>
          <p:nvPr/>
        </p:nvSpPr>
        <p:spPr>
          <a:xfrm>
            <a:off x="1170432" y="2514600"/>
            <a:ext cx="3566160" cy="502920"/>
          </a:xfrm>
          <a:prstGeom prst="rect">
            <a:avLst/>
          </a:prstGeom>
          <a:noFill/>
          <a:ln/>
        </p:spPr>
        <p:txBody>
          <a:bodyPr wrap="square" lIns="0" tIns="0" rIns="0" bIns="0" rtlCol="0" anchor="ctr"/>
          <a:lstStyle/>
          <a:p>
            <a:pPr indent="0" marL="0">
              <a:lnSpc>
                <a:spcPct val="112000"/>
              </a:lnSpc>
              <a:buNone/>
            </a:pPr>
            <a:r>
              <a:rPr lang="en-US" sz="1000" dirty="0">
                <a:solidFill>
                  <a:srgbClr val="A3A3A3"/>
                </a:solidFill>
                <a:latin typeface="Inter" pitchFamily="34" charset="0"/>
                <a:ea typeface="Inter" pitchFamily="34" charset="-122"/>
                <a:cs typeface="Inter" pitchFamily="34" charset="-120"/>
              </a:rPr>
              <a:t>Quote → ask → wait → result. Idempotent.</a:t>
            </a:r>
            <a:endParaRPr lang="en-US" sz="1000" dirty="0"/>
          </a:p>
        </p:txBody>
      </p:sp>
      <p:sp>
        <p:nvSpPr>
          <p:cNvPr id="12" name="Shape 8"/>
          <p:cNvSpPr/>
          <p:nvPr/>
        </p:nvSpPr>
        <p:spPr>
          <a:xfrm>
            <a:off x="548640" y="3099816"/>
            <a:ext cx="457200" cy="457200"/>
          </a:xfrm>
          <a:prstGeom prst="ellipse">
            <a:avLst/>
          </a:prstGeom>
          <a:solidFill>
            <a:srgbClr val="F5F5F5">
              <a:alpha val="7000"/>
            </a:srgbClr>
          </a:solidFill>
          <a:ln w="9525">
            <a:solidFill>
              <a:srgbClr val="222222"/>
            </a:solidFill>
            <a:prstDash val="solid"/>
          </a:ln>
        </p:spPr>
      </p:sp>
      <p:pic>
        <p:nvPicPr>
          <p:cNvPr id="13" name="Image 2" descr="preencoded.png">    </p:cNvPr>
          <p:cNvPicPr>
            <a:picLocks noChangeAspect="1"/>
          </p:cNvPicPr>
          <p:nvPr/>
        </p:nvPicPr>
        <p:blipFill>
          <a:blip r:embed="rId3"/>
          <a:stretch>
            <a:fillRect/>
          </a:stretch>
        </p:blipFill>
        <p:spPr>
          <a:xfrm>
            <a:off x="667512" y="3218688"/>
            <a:ext cx="219456" cy="219456"/>
          </a:xfrm>
          <a:prstGeom prst="rect">
            <a:avLst/>
          </a:prstGeom>
        </p:spPr>
      </p:pic>
      <p:sp>
        <p:nvSpPr>
          <p:cNvPr id="14" name="Text 9"/>
          <p:cNvSpPr/>
          <p:nvPr/>
        </p:nvSpPr>
        <p:spPr>
          <a:xfrm>
            <a:off x="1170432" y="3081528"/>
            <a:ext cx="3566160" cy="274320"/>
          </a:xfrm>
          <a:prstGeom prst="rect">
            <a:avLst/>
          </a:prstGeom>
          <a:noFill/>
          <a:ln/>
        </p:spPr>
        <p:txBody>
          <a:bodyPr wrap="square" lIns="0" tIns="0" rIns="0" bIns="0" rtlCol="0" anchor="ctr"/>
          <a:lstStyle/>
          <a:p>
            <a:pPr indent="0" marL="0">
              <a:buNone/>
            </a:pPr>
            <a:r>
              <a:rPr lang="en-US" sz="1300" b="1" dirty="0">
                <a:solidFill>
                  <a:srgbClr val="F5F5F5"/>
                </a:solidFill>
                <a:latin typeface="Space Grotesk" pitchFamily="34" charset="0"/>
                <a:ea typeface="Space Grotesk" pitchFamily="34" charset="-122"/>
                <a:cs typeface="Space Grotesk" pitchFamily="34" charset="-120"/>
              </a:rPr>
              <a:t>x402 / EIP-3009 payments</a:t>
            </a:r>
            <a:endParaRPr lang="en-US" sz="1300" dirty="0"/>
          </a:p>
        </p:txBody>
      </p:sp>
      <p:sp>
        <p:nvSpPr>
          <p:cNvPr id="15" name="Text 10"/>
          <p:cNvSpPr/>
          <p:nvPr/>
        </p:nvSpPr>
        <p:spPr>
          <a:xfrm>
            <a:off x="1170432" y="3355848"/>
            <a:ext cx="3566160" cy="502920"/>
          </a:xfrm>
          <a:prstGeom prst="rect">
            <a:avLst/>
          </a:prstGeom>
          <a:noFill/>
          <a:ln/>
        </p:spPr>
        <p:txBody>
          <a:bodyPr wrap="square" lIns="0" tIns="0" rIns="0" bIns="0" rtlCol="0" anchor="ctr"/>
          <a:lstStyle/>
          <a:p>
            <a:pPr indent="0" marL="0">
              <a:lnSpc>
                <a:spcPct val="112000"/>
              </a:lnSpc>
              <a:buNone/>
            </a:pPr>
            <a:r>
              <a:rPr lang="en-US" sz="1000" dirty="0">
                <a:solidFill>
                  <a:srgbClr val="A3A3A3"/>
                </a:solidFill>
                <a:latin typeface="Inter" pitchFamily="34" charset="0"/>
                <a:ea typeface="Inter" pitchFamily="34" charset="-122"/>
                <a:cs typeface="Inter" pitchFamily="34" charset="-120"/>
              </a:rPr>
              <a:t>Pay per question in USDC — one signed authorization.</a:t>
            </a:r>
            <a:endParaRPr lang="en-US" sz="1000" dirty="0"/>
          </a:p>
        </p:txBody>
      </p:sp>
      <p:sp>
        <p:nvSpPr>
          <p:cNvPr id="16" name="Shape 11"/>
          <p:cNvSpPr/>
          <p:nvPr/>
        </p:nvSpPr>
        <p:spPr>
          <a:xfrm>
            <a:off x="548640" y="3941064"/>
            <a:ext cx="457200" cy="457200"/>
          </a:xfrm>
          <a:prstGeom prst="ellipse">
            <a:avLst/>
          </a:prstGeom>
          <a:solidFill>
            <a:srgbClr val="F5F5F5">
              <a:alpha val="7000"/>
            </a:srgbClr>
          </a:solidFill>
          <a:ln w="9525">
            <a:solidFill>
              <a:srgbClr val="222222"/>
            </a:solidFill>
            <a:prstDash val="solid"/>
          </a:ln>
        </p:spPr>
      </p:sp>
      <p:pic>
        <p:nvPicPr>
          <p:cNvPr id="17" name="Image 3" descr="preencoded.png">    </p:cNvPr>
          <p:cNvPicPr>
            <a:picLocks noChangeAspect="1"/>
          </p:cNvPicPr>
          <p:nvPr/>
        </p:nvPicPr>
        <p:blipFill>
          <a:blip r:embed="rId4"/>
          <a:stretch>
            <a:fillRect/>
          </a:stretch>
        </p:blipFill>
        <p:spPr>
          <a:xfrm>
            <a:off x="667512" y="4059936"/>
            <a:ext cx="219456" cy="219456"/>
          </a:xfrm>
          <a:prstGeom prst="rect">
            <a:avLst/>
          </a:prstGeom>
        </p:spPr>
      </p:pic>
      <p:sp>
        <p:nvSpPr>
          <p:cNvPr id="18" name="Text 12"/>
          <p:cNvSpPr/>
          <p:nvPr/>
        </p:nvSpPr>
        <p:spPr>
          <a:xfrm>
            <a:off x="1170432" y="3922776"/>
            <a:ext cx="3566160" cy="274320"/>
          </a:xfrm>
          <a:prstGeom prst="rect">
            <a:avLst/>
          </a:prstGeom>
          <a:noFill/>
          <a:ln/>
        </p:spPr>
        <p:txBody>
          <a:bodyPr wrap="square" lIns="0" tIns="0" rIns="0" bIns="0" rtlCol="0" anchor="ctr"/>
          <a:lstStyle/>
          <a:p>
            <a:pPr indent="0" marL="0">
              <a:buNone/>
            </a:pPr>
            <a:r>
              <a:rPr lang="en-US" sz="1300" b="1" dirty="0">
                <a:solidFill>
                  <a:srgbClr val="F5F5F5"/>
                </a:solidFill>
                <a:latin typeface="Space Grotesk" pitchFamily="34" charset="0"/>
                <a:ea typeface="Space Grotesk" pitchFamily="34" charset="-122"/>
                <a:cs typeface="Space Grotesk" pitchFamily="34" charset="-120"/>
              </a:rPr>
              <a:t>Browser signing handoffs</a:t>
            </a:r>
            <a:endParaRPr lang="en-US" sz="1300" dirty="0"/>
          </a:p>
        </p:txBody>
      </p:sp>
      <p:sp>
        <p:nvSpPr>
          <p:cNvPr id="19" name="Text 13"/>
          <p:cNvSpPr/>
          <p:nvPr/>
        </p:nvSpPr>
        <p:spPr>
          <a:xfrm>
            <a:off x="1170432" y="4197096"/>
            <a:ext cx="3566160" cy="502920"/>
          </a:xfrm>
          <a:prstGeom prst="rect">
            <a:avLst/>
          </a:prstGeom>
          <a:noFill/>
          <a:ln/>
        </p:spPr>
        <p:txBody>
          <a:bodyPr wrap="square" lIns="0" tIns="0" rIns="0" bIns="0" rtlCol="0" anchor="ctr"/>
          <a:lstStyle/>
          <a:p>
            <a:pPr indent="0" marL="0">
              <a:lnSpc>
                <a:spcPct val="112000"/>
              </a:lnSpc>
              <a:buNone/>
            </a:pPr>
            <a:r>
              <a:rPr lang="en-US" sz="1000" dirty="0">
                <a:solidFill>
                  <a:srgbClr val="A3A3A3"/>
                </a:solidFill>
                <a:latin typeface="Inter" pitchFamily="34" charset="0"/>
                <a:ea typeface="Inter" pitchFamily="34" charset="-122"/>
                <a:cs typeface="Inter" pitchFamily="34" charset="-120"/>
              </a:rPr>
              <a:t>Humans fund from their own wallet — never the operator.</a:t>
            </a:r>
            <a:endParaRPr lang="en-US" sz="1000" dirty="0"/>
          </a:p>
        </p:txBody>
      </p:sp>
      <p:sp>
        <p:nvSpPr>
          <p:cNvPr id="20" name="Shape 14"/>
          <p:cNvSpPr/>
          <p:nvPr/>
        </p:nvSpPr>
        <p:spPr>
          <a:xfrm>
            <a:off x="4983480" y="1481328"/>
            <a:ext cx="3611880" cy="2286000"/>
          </a:xfrm>
          <a:prstGeom prst="roundRect">
            <a:avLst>
              <a:gd name="adj" fmla="val 2800"/>
            </a:avLst>
          </a:prstGeom>
          <a:solidFill>
            <a:srgbClr val="121212"/>
          </a:solidFill>
          <a:ln w="9525">
            <a:solidFill>
              <a:srgbClr val="222222"/>
            </a:solidFill>
            <a:prstDash val="solid"/>
          </a:ln>
        </p:spPr>
      </p:sp>
      <p:sp>
        <p:nvSpPr>
          <p:cNvPr id="21" name="Shape 15"/>
          <p:cNvSpPr/>
          <p:nvPr/>
        </p:nvSpPr>
        <p:spPr>
          <a:xfrm>
            <a:off x="5230368" y="1737360"/>
            <a:ext cx="82296" cy="82296"/>
          </a:xfrm>
          <a:prstGeom prst="ellipse">
            <a:avLst/>
          </a:prstGeom>
          <a:solidFill>
            <a:srgbClr val="EF476F"/>
          </a:solidFill>
          <a:ln/>
        </p:spPr>
      </p:sp>
      <p:sp>
        <p:nvSpPr>
          <p:cNvPr id="22" name="Shape 16"/>
          <p:cNvSpPr/>
          <p:nvPr/>
        </p:nvSpPr>
        <p:spPr>
          <a:xfrm>
            <a:off x="5367528" y="1737360"/>
            <a:ext cx="82296" cy="82296"/>
          </a:xfrm>
          <a:prstGeom prst="ellipse">
            <a:avLst/>
          </a:prstGeom>
          <a:solidFill>
            <a:srgbClr val="FFC43D"/>
          </a:solidFill>
          <a:ln/>
        </p:spPr>
      </p:sp>
      <p:sp>
        <p:nvSpPr>
          <p:cNvPr id="23" name="Shape 17"/>
          <p:cNvSpPr/>
          <p:nvPr/>
        </p:nvSpPr>
        <p:spPr>
          <a:xfrm>
            <a:off x="5504688" y="1737360"/>
            <a:ext cx="82296" cy="82296"/>
          </a:xfrm>
          <a:prstGeom prst="ellipse">
            <a:avLst/>
          </a:prstGeom>
          <a:solidFill>
            <a:srgbClr val="03CEA4"/>
          </a:solidFill>
          <a:ln/>
        </p:spPr>
      </p:sp>
      <p:sp>
        <p:nvSpPr>
          <p:cNvPr id="24" name="Text 18"/>
          <p:cNvSpPr/>
          <p:nvPr/>
        </p:nvSpPr>
        <p:spPr>
          <a:xfrm>
            <a:off x="5230368" y="1965960"/>
            <a:ext cx="3200400" cy="1645920"/>
          </a:xfrm>
          <a:prstGeom prst="rect">
            <a:avLst/>
          </a:prstGeom>
          <a:noFill/>
          <a:ln/>
        </p:spPr>
        <p:txBody>
          <a:bodyPr wrap="square" lIns="0" tIns="0" rIns="0" bIns="0" rtlCol="0" anchor="ctr"/>
          <a:lstStyle/>
          <a:p>
            <a:pPr indent="0" marL="0">
              <a:lnSpc>
                <a:spcPct val="125000"/>
              </a:lnSpc>
              <a:buNone/>
            </a:pPr>
            <a:r>
              <a:rPr lang="en-US" sz="1000" dirty="0">
                <a:solidFill>
                  <a:srgbClr val="A3A3A3"/>
                </a:solidFill>
                <a:latin typeface="Courier New" pitchFamily="34" charset="0"/>
                <a:ea typeface="Courier New" pitchFamily="34" charset="-122"/>
                <a:cs typeface="Courier New" pitchFamily="34" charset="-120"/>
              </a:rPr>
              <a:t>$ claude mcp add --transport http \
</a:t>
            </a:r>
            <a:pPr indent="0" marL="0">
              <a:lnSpc>
                <a:spcPct val="125000"/>
              </a:lnSpc>
              <a:buNone/>
            </a:pPr>
            <a:r>
              <a:rPr lang="en-US" sz="1000" dirty="0">
                <a:solidFill>
                  <a:srgbClr val="F5F5F5"/>
                </a:solidFill>
                <a:latin typeface="Courier New" pitchFamily="34" charset="0"/>
                <a:ea typeface="Courier New" pitchFamily="34" charset="-122"/>
                <a:cs typeface="Courier New" pitchFamily="34" charset="-120"/>
              </a:rPr>
              <a:t>    rateloop \
</a:t>
            </a:r>
            <a:pPr indent="0" marL="0">
              <a:lnSpc>
                <a:spcPct val="125000"/>
              </a:lnSpc>
              <a:buNone/>
            </a:pPr>
            <a:r>
              <a:rPr lang="en-US" sz="1000" dirty="0">
                <a:solidFill>
                  <a:srgbClr val="359EEE"/>
                </a:solidFill>
                <a:latin typeface="Courier New" pitchFamily="34" charset="0"/>
                <a:ea typeface="Courier New" pitchFamily="34" charset="-122"/>
                <a:cs typeface="Courier New" pitchFamily="34" charset="-120"/>
              </a:rPr>
              <a:t>    https://rateloop.ai/api/mcp/public
</a:t>
            </a:r>
            <a:pPr indent="0" marL="0">
              <a:lnSpc>
                <a:spcPct val="125000"/>
              </a:lnSpc>
              <a:buNone/>
            </a:pPr>
            <a:r>
              <a:rPr lang="en-US" sz="1000" dirty="0">
                <a:solidFill>
                  <a:srgbClr val="03CEA4"/>
                </a:solidFill>
                <a:latin typeface="Courier New" pitchFamily="34" charset="0"/>
                <a:ea typeface="Courier New" pitchFamily="34" charset="-122"/>
                <a:cs typeface="Courier New" pitchFamily="34" charset="-120"/>
              </a:rPr>
              <a:t>&gt; quote → ask → wait → result
</a:t>
            </a:r>
            <a:pPr indent="0" marL="0">
              <a:lnSpc>
                <a:spcPct val="125000"/>
              </a:lnSpc>
              <a:buNone/>
            </a:pPr>
            <a:r>
              <a:rPr lang="en-US" sz="1000" dirty="0">
                <a:solidFill>
                  <a:srgbClr val="03CEA4"/>
                </a:solidFill>
                <a:latin typeface="Courier New" pitchFamily="34" charset="0"/>
                <a:ea typeface="Courier New" pitchFamily="34" charset="-122"/>
                <a:cs typeface="Courier New" pitchFamily="34" charset="-120"/>
              </a:rPr>
              <a:t>&gt; settled score + public result URL</a:t>
            </a:r>
            <a:endParaRPr lang="en-US" sz="1000" dirty="0"/>
          </a:p>
        </p:txBody>
      </p:sp>
      <p:sp>
        <p:nvSpPr>
          <p:cNvPr id="25" name="Text 19"/>
          <p:cNvSpPr/>
          <p:nvPr/>
        </p:nvSpPr>
        <p:spPr>
          <a:xfrm>
            <a:off x="4983480" y="3977640"/>
            <a:ext cx="3611880" cy="640080"/>
          </a:xfrm>
          <a:prstGeom prst="rect">
            <a:avLst/>
          </a:prstGeom>
          <a:noFill/>
          <a:ln/>
        </p:spPr>
        <p:txBody>
          <a:bodyPr wrap="square" lIns="0" tIns="0" rIns="0" bIns="0" rtlCol="0" anchor="ctr"/>
          <a:lstStyle/>
          <a:p>
            <a:pPr indent="0" marL="0">
              <a:lnSpc>
                <a:spcPct val="120000"/>
              </a:lnSpc>
              <a:buNone/>
            </a:pPr>
            <a:r>
              <a:rPr lang="en-US" sz="1000" i="1" dirty="0">
                <a:solidFill>
                  <a:srgbClr val="A3A3A3"/>
                </a:solidFill>
                <a:latin typeface="Inter" pitchFamily="34" charset="0"/>
                <a:ea typeface="Inter" pitchFamily="34" charset="-122"/>
                <a:cs typeface="Inter" pitchFamily="34" charset="-120"/>
              </a:rPr>
              <a:t>Detect uncertainty, ask once, act on an answer you can cite.</a:t>
            </a:r>
            <a:endParaRPr lang="en-US" sz="1000" dirty="0"/>
          </a:p>
        </p:txBody>
      </p:sp>
      <p:pic>
        <p:nvPicPr>
          <p:cNvPr id="26" name="Image 4" descr="assets/ring.png">    </p:cNvPr>
          <p:cNvPicPr>
            <a:picLocks noChangeAspect="1"/>
          </p:cNvPicPr>
          <p:nvPr/>
        </p:nvPicPr>
        <p:blipFill>
          <a:blip r:embed="rId5"/>
          <a:stretch>
            <a:fillRect/>
          </a:stretch>
        </p:blipFill>
        <p:spPr>
          <a:xfrm>
            <a:off x="548640" y="4773168"/>
            <a:ext cx="201168" cy="201168"/>
          </a:xfrm>
          <a:prstGeom prst="rect">
            <a:avLst/>
          </a:prstGeom>
        </p:spPr>
      </p:pic>
      <p:sp>
        <p:nvSpPr>
          <p:cNvPr id="27" name="Text 20"/>
          <p:cNvSpPr/>
          <p:nvPr/>
        </p:nvSpPr>
        <p:spPr>
          <a:xfrm>
            <a:off x="804672" y="4773168"/>
            <a:ext cx="1371600" cy="201168"/>
          </a:xfrm>
          <a:prstGeom prst="rect">
            <a:avLst/>
          </a:prstGeom>
          <a:noFill/>
          <a:ln/>
        </p:spPr>
        <p:txBody>
          <a:bodyPr wrap="square" lIns="0" tIns="0" rIns="0" bIns="0" rtlCol="0" anchor="ctr"/>
          <a:lstStyle/>
          <a:p>
            <a:pPr indent="0" marL="0">
              <a:buNone/>
            </a:pPr>
            <a:r>
              <a:rPr lang="en-US" sz="900" b="1" dirty="0">
                <a:solidFill>
                  <a:srgbClr val="737373"/>
                </a:solidFill>
                <a:latin typeface="Space Grotesk" pitchFamily="34" charset="0"/>
                <a:ea typeface="Space Grotesk" pitchFamily="34" charset="-122"/>
                <a:cs typeface="Space Grotesk" pitchFamily="34" charset="-120"/>
              </a:rPr>
              <a:t>RateLoop</a:t>
            </a:r>
            <a:endParaRPr lang="en-US" sz="900" dirty="0"/>
          </a:p>
        </p:txBody>
      </p:sp>
      <p:sp>
        <p:nvSpPr>
          <p:cNvPr id="28" name="Text 21"/>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From prompt to funded ask — inside Codex</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The RateLoop plugin for OpenAI Codex bundles the skill and MCP server. One install, zero glue code.</a:t>
            </a:r>
            <a:endParaRPr lang="en-US" sz="1250" dirty="0"/>
          </a:p>
        </p:txBody>
      </p:sp>
      <p:sp>
        <p:nvSpPr>
          <p:cNvPr id="4" name="Shape 2"/>
          <p:cNvSpPr/>
          <p:nvPr/>
        </p:nvSpPr>
        <p:spPr>
          <a:xfrm>
            <a:off x="548640" y="1389888"/>
            <a:ext cx="365760" cy="365760"/>
          </a:xfrm>
          <a:prstGeom prst="ellipse">
            <a:avLst/>
          </a:prstGeom>
          <a:solidFill>
            <a:srgbClr val="359EEE">
              <a:alpha val="12000"/>
            </a:srgbClr>
          </a:solidFill>
          <a:ln w="12700">
            <a:solidFill>
              <a:srgbClr val="359EEE"/>
            </a:solidFill>
            <a:prstDash val="solid"/>
          </a:ln>
        </p:spPr>
      </p:sp>
      <p:sp>
        <p:nvSpPr>
          <p:cNvPr id="5" name="Text 3"/>
          <p:cNvSpPr/>
          <p:nvPr/>
        </p:nvSpPr>
        <p:spPr>
          <a:xfrm>
            <a:off x="548640" y="1389888"/>
            <a:ext cx="365760" cy="365760"/>
          </a:xfrm>
          <a:prstGeom prst="rect">
            <a:avLst/>
          </a:prstGeom>
          <a:noFill/>
          <a:ln/>
        </p:spPr>
        <p:txBody>
          <a:bodyPr wrap="square" lIns="0" tIns="0" rIns="0" bIns="0" rtlCol="0" anchor="ctr"/>
          <a:lstStyle/>
          <a:p>
            <a:pPr algn="ctr" indent="0" marL="0">
              <a:buNone/>
            </a:pPr>
            <a:r>
              <a:rPr lang="en-US" sz="1200" b="1" dirty="0">
                <a:solidFill>
                  <a:srgbClr val="359EEE"/>
                </a:solidFill>
                <a:latin typeface="Space Grotesk" pitchFamily="34" charset="0"/>
                <a:ea typeface="Space Grotesk" pitchFamily="34" charset="-122"/>
                <a:cs typeface="Space Grotesk" pitchFamily="34" charset="-120"/>
              </a:rPr>
              <a:t>1</a:t>
            </a:r>
            <a:endParaRPr lang="en-US" sz="1200" dirty="0"/>
          </a:p>
        </p:txBody>
      </p:sp>
      <p:sp>
        <p:nvSpPr>
          <p:cNvPr id="6" name="Text 4"/>
          <p:cNvSpPr/>
          <p:nvPr/>
        </p:nvSpPr>
        <p:spPr>
          <a:xfrm>
            <a:off x="1078992" y="1362456"/>
            <a:ext cx="3657600" cy="274320"/>
          </a:xfrm>
          <a:prstGeom prst="rect">
            <a:avLst/>
          </a:prstGeom>
          <a:noFill/>
          <a:ln/>
        </p:spPr>
        <p:txBody>
          <a:bodyPr wrap="square" lIns="0" tIns="0" rIns="0" bIns="0" rtlCol="0" anchor="ctr"/>
          <a:lstStyle/>
          <a:p>
            <a:pPr indent="0" marL="0">
              <a:buNone/>
            </a:pPr>
            <a:r>
              <a:rPr lang="en-US" sz="1250" b="1" dirty="0">
                <a:solidFill>
                  <a:srgbClr val="F5F5F5"/>
                </a:solidFill>
                <a:latin typeface="Space Grotesk" pitchFamily="34" charset="0"/>
                <a:ea typeface="Space Grotesk" pitchFamily="34" charset="-122"/>
                <a:cs typeface="Space Grotesk" pitchFamily="34" charset="-120"/>
              </a:rPr>
              <a:t>Install once</a:t>
            </a:r>
            <a:endParaRPr lang="en-US" sz="1250" dirty="0"/>
          </a:p>
        </p:txBody>
      </p:sp>
      <p:sp>
        <p:nvSpPr>
          <p:cNvPr id="7" name="Text 5"/>
          <p:cNvSpPr/>
          <p:nvPr/>
        </p:nvSpPr>
        <p:spPr>
          <a:xfrm>
            <a:off x="1078992" y="1645920"/>
            <a:ext cx="3703320" cy="274320"/>
          </a:xfrm>
          <a:prstGeom prst="rect">
            <a:avLst/>
          </a:prstGeom>
          <a:noFill/>
          <a:ln/>
        </p:spPr>
        <p:txBody>
          <a:bodyPr wrap="square" lIns="0" tIns="0" rIns="0" bIns="0" rtlCol="0" anchor="ctr"/>
          <a:lstStyle/>
          <a:p>
            <a:pPr indent="0" marL="0">
              <a:buNone/>
            </a:pPr>
            <a:r>
              <a:rPr lang="en-US" sz="950" dirty="0">
                <a:solidFill>
                  <a:srgbClr val="03CEA4"/>
                </a:solidFill>
                <a:latin typeface="Courier New" pitchFamily="34" charset="0"/>
                <a:ea typeface="Courier New" pitchFamily="34" charset="-122"/>
                <a:cs typeface="Courier New" pitchFamily="34" charset="-120"/>
              </a:rPr>
              <a:t>codex plugin marketplace add Noc2/RateLoop</a:t>
            </a:r>
            <a:endParaRPr lang="en-US" sz="950" dirty="0"/>
          </a:p>
        </p:txBody>
      </p:sp>
      <p:sp>
        <p:nvSpPr>
          <p:cNvPr id="8" name="Shape 6"/>
          <p:cNvSpPr/>
          <p:nvPr/>
        </p:nvSpPr>
        <p:spPr>
          <a:xfrm>
            <a:off x="548640" y="2240280"/>
            <a:ext cx="365760" cy="365760"/>
          </a:xfrm>
          <a:prstGeom prst="ellipse">
            <a:avLst/>
          </a:prstGeom>
          <a:solidFill>
            <a:srgbClr val="03CEA4">
              <a:alpha val="12000"/>
            </a:srgbClr>
          </a:solidFill>
          <a:ln w="12700">
            <a:solidFill>
              <a:srgbClr val="03CEA4"/>
            </a:solidFill>
            <a:prstDash val="solid"/>
          </a:ln>
        </p:spPr>
      </p:sp>
      <p:sp>
        <p:nvSpPr>
          <p:cNvPr id="9" name="Text 7"/>
          <p:cNvSpPr/>
          <p:nvPr/>
        </p:nvSpPr>
        <p:spPr>
          <a:xfrm>
            <a:off x="548640" y="2240280"/>
            <a:ext cx="365760" cy="365760"/>
          </a:xfrm>
          <a:prstGeom prst="rect">
            <a:avLst/>
          </a:prstGeom>
          <a:noFill/>
          <a:ln/>
        </p:spPr>
        <p:txBody>
          <a:bodyPr wrap="square" lIns="0" tIns="0" rIns="0" bIns="0" rtlCol="0" anchor="ctr"/>
          <a:lstStyle/>
          <a:p>
            <a:pPr algn="ctr" indent="0" marL="0">
              <a:buNone/>
            </a:pPr>
            <a:r>
              <a:rPr lang="en-US" sz="1200" b="1" dirty="0">
                <a:solidFill>
                  <a:srgbClr val="03CEA4"/>
                </a:solidFill>
                <a:latin typeface="Space Grotesk" pitchFamily="34" charset="0"/>
                <a:ea typeface="Space Grotesk" pitchFamily="34" charset="-122"/>
                <a:cs typeface="Space Grotesk" pitchFamily="34" charset="-120"/>
              </a:rPr>
              <a:t>2</a:t>
            </a:r>
            <a:endParaRPr lang="en-US" sz="1200" dirty="0"/>
          </a:p>
        </p:txBody>
      </p:sp>
      <p:sp>
        <p:nvSpPr>
          <p:cNvPr id="10" name="Text 8"/>
          <p:cNvSpPr/>
          <p:nvPr/>
        </p:nvSpPr>
        <p:spPr>
          <a:xfrm>
            <a:off x="1078992" y="2212848"/>
            <a:ext cx="3657600" cy="274320"/>
          </a:xfrm>
          <a:prstGeom prst="rect">
            <a:avLst/>
          </a:prstGeom>
          <a:noFill/>
          <a:ln/>
        </p:spPr>
        <p:txBody>
          <a:bodyPr wrap="square" lIns="0" tIns="0" rIns="0" bIns="0" rtlCol="0" anchor="ctr"/>
          <a:lstStyle/>
          <a:p>
            <a:pPr indent="0" marL="0">
              <a:buNone/>
            </a:pPr>
            <a:r>
              <a:rPr lang="en-US" sz="1250" b="1" dirty="0">
                <a:solidFill>
                  <a:srgbClr val="F5F5F5"/>
                </a:solidFill>
                <a:latin typeface="Space Grotesk" pitchFamily="34" charset="0"/>
                <a:ea typeface="Space Grotesk" pitchFamily="34" charset="-122"/>
                <a:cs typeface="Space Grotesk" pitchFamily="34" charset="-120"/>
              </a:rPr>
              <a:t>Codex knows when to ask</a:t>
            </a:r>
            <a:endParaRPr lang="en-US" sz="1250" dirty="0"/>
          </a:p>
        </p:txBody>
      </p:sp>
      <p:sp>
        <p:nvSpPr>
          <p:cNvPr id="11" name="Text 9"/>
          <p:cNvSpPr/>
          <p:nvPr/>
        </p:nvSpPr>
        <p:spPr>
          <a:xfrm>
            <a:off x="1078992" y="2478024"/>
            <a:ext cx="3657600" cy="566928"/>
          </a:xfrm>
          <a:prstGeom prst="rect">
            <a:avLst/>
          </a:prstGeom>
          <a:noFill/>
          <a:ln/>
        </p:spPr>
        <p:txBody>
          <a:bodyPr wrap="square" lIns="0" tIns="0" rIns="0" bIns="0" rtlCol="0" anchor="ctr"/>
          <a:lstStyle/>
          <a:p>
            <a:pPr indent="0" marL="0">
              <a:lnSpc>
                <a:spcPct val="112000"/>
              </a:lnSpc>
              <a:buNone/>
            </a:pPr>
            <a:r>
              <a:rPr lang="en-US" sz="950" dirty="0">
                <a:solidFill>
                  <a:srgbClr val="A3A3A3"/>
                </a:solidFill>
                <a:latin typeface="Inter" pitchFamily="34" charset="0"/>
                <a:ea typeface="Inter" pitchFamily="34" charset="-122"/>
                <a:cs typeface="Inter" pitchFamily="34" charset="-120"/>
              </a:rPr>
              <a:t>The bundled skill triggers on decisions worth outside judgment.</a:t>
            </a:r>
            <a:endParaRPr lang="en-US" sz="950" dirty="0"/>
          </a:p>
        </p:txBody>
      </p:sp>
      <p:sp>
        <p:nvSpPr>
          <p:cNvPr id="12" name="Shape 10"/>
          <p:cNvSpPr/>
          <p:nvPr/>
        </p:nvSpPr>
        <p:spPr>
          <a:xfrm>
            <a:off x="548640" y="3090672"/>
            <a:ext cx="365760" cy="365760"/>
          </a:xfrm>
          <a:prstGeom prst="ellipse">
            <a:avLst/>
          </a:prstGeom>
          <a:solidFill>
            <a:srgbClr val="FFC43D">
              <a:alpha val="12000"/>
            </a:srgbClr>
          </a:solidFill>
          <a:ln w="12700">
            <a:solidFill>
              <a:srgbClr val="FFC43D"/>
            </a:solidFill>
            <a:prstDash val="solid"/>
          </a:ln>
        </p:spPr>
      </p:sp>
      <p:sp>
        <p:nvSpPr>
          <p:cNvPr id="13" name="Text 11"/>
          <p:cNvSpPr/>
          <p:nvPr/>
        </p:nvSpPr>
        <p:spPr>
          <a:xfrm>
            <a:off x="548640" y="3090672"/>
            <a:ext cx="365760" cy="365760"/>
          </a:xfrm>
          <a:prstGeom prst="rect">
            <a:avLst/>
          </a:prstGeom>
          <a:noFill/>
          <a:ln/>
        </p:spPr>
        <p:txBody>
          <a:bodyPr wrap="square" lIns="0" tIns="0" rIns="0" bIns="0" rtlCol="0" anchor="ctr"/>
          <a:lstStyle/>
          <a:p>
            <a:pPr algn="ctr" indent="0" marL="0">
              <a:buNone/>
            </a:pPr>
            <a:r>
              <a:rPr lang="en-US" sz="1200" b="1" dirty="0">
                <a:solidFill>
                  <a:srgbClr val="FFC43D"/>
                </a:solidFill>
                <a:latin typeface="Space Grotesk" pitchFamily="34" charset="0"/>
                <a:ea typeface="Space Grotesk" pitchFamily="34" charset="-122"/>
                <a:cs typeface="Space Grotesk" pitchFamily="34" charset="-120"/>
              </a:rPr>
              <a:t>3</a:t>
            </a:r>
            <a:endParaRPr lang="en-US" sz="1200" dirty="0"/>
          </a:p>
        </p:txBody>
      </p:sp>
      <p:sp>
        <p:nvSpPr>
          <p:cNvPr id="14" name="Text 12"/>
          <p:cNvSpPr/>
          <p:nvPr/>
        </p:nvSpPr>
        <p:spPr>
          <a:xfrm>
            <a:off x="1078992" y="3063240"/>
            <a:ext cx="3657600" cy="274320"/>
          </a:xfrm>
          <a:prstGeom prst="rect">
            <a:avLst/>
          </a:prstGeom>
          <a:noFill/>
          <a:ln/>
        </p:spPr>
        <p:txBody>
          <a:bodyPr wrap="square" lIns="0" tIns="0" rIns="0" bIns="0" rtlCol="0" anchor="ctr"/>
          <a:lstStyle/>
          <a:p>
            <a:pPr indent="0" marL="0">
              <a:buNone/>
            </a:pPr>
            <a:r>
              <a:rPr lang="en-US" sz="1250" b="1" dirty="0">
                <a:solidFill>
                  <a:srgbClr val="F5F5F5"/>
                </a:solidFill>
                <a:latin typeface="Space Grotesk" pitchFamily="34" charset="0"/>
                <a:ea typeface="Space Grotesk" pitchFamily="34" charset="-122"/>
                <a:cs typeface="Space Grotesk" pitchFamily="34" charset="-120"/>
              </a:rPr>
              <a:t>Your agent prepares the ask</a:t>
            </a:r>
            <a:endParaRPr lang="en-US" sz="1250" dirty="0"/>
          </a:p>
        </p:txBody>
      </p:sp>
      <p:sp>
        <p:nvSpPr>
          <p:cNvPr id="15" name="Text 13"/>
          <p:cNvSpPr/>
          <p:nvPr/>
        </p:nvSpPr>
        <p:spPr>
          <a:xfrm>
            <a:off x="1078992" y="3328416"/>
            <a:ext cx="3657600" cy="566928"/>
          </a:xfrm>
          <a:prstGeom prst="rect">
            <a:avLst/>
          </a:prstGeom>
          <a:noFill/>
          <a:ln/>
        </p:spPr>
        <p:txBody>
          <a:bodyPr wrap="square" lIns="0" tIns="0" rIns="0" bIns="0" rtlCol="0" anchor="ctr"/>
          <a:lstStyle/>
          <a:p>
            <a:pPr indent="0" marL="0">
              <a:lnSpc>
                <a:spcPct val="112000"/>
              </a:lnSpc>
              <a:buNone/>
            </a:pPr>
            <a:r>
              <a:rPr lang="en-US" sz="950" dirty="0">
                <a:solidFill>
                  <a:srgbClr val="A3A3A3"/>
                </a:solidFill>
                <a:latin typeface="Inter" pitchFamily="34" charset="0"/>
                <a:ea typeface="Inter" pitchFamily="34" charset="-122"/>
                <a:cs typeface="Inter" pitchFamily="34" charset="-120"/>
              </a:rPr>
              <a:t>It drafts the question and generates a private browser handoff link.</a:t>
            </a:r>
            <a:endParaRPr lang="en-US" sz="950" dirty="0"/>
          </a:p>
        </p:txBody>
      </p:sp>
      <p:sp>
        <p:nvSpPr>
          <p:cNvPr id="16" name="Shape 14"/>
          <p:cNvSpPr/>
          <p:nvPr/>
        </p:nvSpPr>
        <p:spPr>
          <a:xfrm>
            <a:off x="548640" y="3941064"/>
            <a:ext cx="365760" cy="365760"/>
          </a:xfrm>
          <a:prstGeom prst="ellipse">
            <a:avLst/>
          </a:prstGeom>
          <a:solidFill>
            <a:srgbClr val="EF476F">
              <a:alpha val="12000"/>
            </a:srgbClr>
          </a:solidFill>
          <a:ln w="12700">
            <a:solidFill>
              <a:srgbClr val="EF476F"/>
            </a:solidFill>
            <a:prstDash val="solid"/>
          </a:ln>
        </p:spPr>
      </p:sp>
      <p:sp>
        <p:nvSpPr>
          <p:cNvPr id="17" name="Text 15"/>
          <p:cNvSpPr/>
          <p:nvPr/>
        </p:nvSpPr>
        <p:spPr>
          <a:xfrm>
            <a:off x="548640" y="3941064"/>
            <a:ext cx="365760" cy="365760"/>
          </a:xfrm>
          <a:prstGeom prst="rect">
            <a:avLst/>
          </a:prstGeom>
          <a:noFill/>
          <a:ln/>
        </p:spPr>
        <p:txBody>
          <a:bodyPr wrap="square" lIns="0" tIns="0" rIns="0" bIns="0" rtlCol="0" anchor="ctr"/>
          <a:lstStyle/>
          <a:p>
            <a:pPr algn="ctr" indent="0" marL="0">
              <a:buNone/>
            </a:pPr>
            <a:r>
              <a:rPr lang="en-US" sz="1200" b="1" dirty="0">
                <a:solidFill>
                  <a:srgbClr val="EF476F"/>
                </a:solidFill>
                <a:latin typeface="Space Grotesk" pitchFamily="34" charset="0"/>
                <a:ea typeface="Space Grotesk" pitchFamily="34" charset="-122"/>
                <a:cs typeface="Space Grotesk" pitchFamily="34" charset="-120"/>
              </a:rPr>
              <a:t>4</a:t>
            </a:r>
            <a:endParaRPr lang="en-US" sz="1200" dirty="0"/>
          </a:p>
        </p:txBody>
      </p:sp>
      <p:sp>
        <p:nvSpPr>
          <p:cNvPr id="18" name="Text 16"/>
          <p:cNvSpPr/>
          <p:nvPr/>
        </p:nvSpPr>
        <p:spPr>
          <a:xfrm>
            <a:off x="1078992" y="3913632"/>
            <a:ext cx="3657600" cy="274320"/>
          </a:xfrm>
          <a:prstGeom prst="rect">
            <a:avLst/>
          </a:prstGeom>
          <a:noFill/>
          <a:ln/>
        </p:spPr>
        <p:txBody>
          <a:bodyPr wrap="square" lIns="0" tIns="0" rIns="0" bIns="0" rtlCol="0" anchor="ctr"/>
          <a:lstStyle/>
          <a:p>
            <a:pPr indent="0" marL="0">
              <a:buNone/>
            </a:pPr>
            <a:r>
              <a:rPr lang="en-US" sz="1250" b="1" dirty="0">
                <a:solidFill>
                  <a:srgbClr val="F5F5F5"/>
                </a:solidFill>
                <a:latin typeface="Space Grotesk" pitchFamily="34" charset="0"/>
                <a:ea typeface="Space Grotesk" pitchFamily="34" charset="-122"/>
                <a:cs typeface="Space Grotesk" pitchFamily="34" charset="-120"/>
              </a:rPr>
              <a:t>You approve and fund</a:t>
            </a:r>
            <a:endParaRPr lang="en-US" sz="1250" dirty="0"/>
          </a:p>
        </p:txBody>
      </p:sp>
      <p:sp>
        <p:nvSpPr>
          <p:cNvPr id="19" name="Text 17"/>
          <p:cNvSpPr/>
          <p:nvPr/>
        </p:nvSpPr>
        <p:spPr>
          <a:xfrm>
            <a:off x="1078992" y="4178808"/>
            <a:ext cx="3657600" cy="566928"/>
          </a:xfrm>
          <a:prstGeom prst="rect">
            <a:avLst/>
          </a:prstGeom>
          <a:noFill/>
          <a:ln/>
        </p:spPr>
        <p:txBody>
          <a:bodyPr wrap="square" lIns="0" tIns="0" rIns="0" bIns="0" rtlCol="0" anchor="ctr"/>
          <a:lstStyle/>
          <a:p>
            <a:pPr indent="0" marL="0">
              <a:lnSpc>
                <a:spcPct val="112000"/>
              </a:lnSpc>
              <a:buNone/>
            </a:pPr>
            <a:r>
              <a:rPr lang="en-US" sz="950" dirty="0">
                <a:solidFill>
                  <a:srgbClr val="A3A3A3"/>
                </a:solidFill>
                <a:latin typeface="Inter" pitchFamily="34" charset="0"/>
                <a:ea typeface="Inter" pitchFamily="34" charset="-122"/>
                <a:cs typeface="Inter" pitchFamily="34" charset="-120"/>
              </a:rPr>
              <a:t>Open the link, set the USDC bounty, sign from your wallet. The agent polls the verdict.</a:t>
            </a:r>
            <a:endParaRPr lang="en-US" sz="950" dirty="0"/>
          </a:p>
        </p:txBody>
      </p:sp>
      <p:sp>
        <p:nvSpPr>
          <p:cNvPr id="20" name="Shape 18"/>
          <p:cNvSpPr/>
          <p:nvPr/>
        </p:nvSpPr>
        <p:spPr>
          <a:xfrm>
            <a:off x="5074920" y="1371600"/>
            <a:ext cx="3520440" cy="3291840"/>
          </a:xfrm>
          <a:prstGeom prst="roundRect">
            <a:avLst>
              <a:gd name="adj" fmla="val 1944"/>
            </a:avLst>
          </a:prstGeom>
          <a:solidFill>
            <a:srgbClr val="121212"/>
          </a:solidFill>
          <a:ln w="9525">
            <a:solidFill>
              <a:srgbClr val="222222"/>
            </a:solidFill>
            <a:prstDash val="solid"/>
          </a:ln>
        </p:spPr>
      </p:sp>
      <p:pic>
        <p:nvPicPr>
          <p:cNvPr id="21" name="Image 0" descr="assets/ring.png">    </p:cNvPr>
          <p:cNvPicPr>
            <a:picLocks noChangeAspect="1"/>
          </p:cNvPicPr>
          <p:nvPr/>
        </p:nvPicPr>
        <p:blipFill>
          <a:blip r:embed="rId1"/>
          <a:stretch>
            <a:fillRect/>
          </a:stretch>
        </p:blipFill>
        <p:spPr>
          <a:xfrm>
            <a:off x="5276088" y="1554480"/>
            <a:ext cx="310896" cy="310896"/>
          </a:xfrm>
          <a:prstGeom prst="rect">
            <a:avLst/>
          </a:prstGeom>
        </p:spPr>
      </p:pic>
      <p:sp>
        <p:nvSpPr>
          <p:cNvPr id="22" name="Text 19"/>
          <p:cNvSpPr/>
          <p:nvPr/>
        </p:nvSpPr>
        <p:spPr>
          <a:xfrm>
            <a:off x="5678424" y="1536192"/>
            <a:ext cx="1463040" cy="219456"/>
          </a:xfrm>
          <a:prstGeom prst="rect">
            <a:avLst/>
          </a:prstGeom>
          <a:noFill/>
          <a:ln/>
        </p:spPr>
        <p:txBody>
          <a:bodyPr wrap="square" lIns="0" tIns="0" rIns="0" bIns="0" rtlCol="0" anchor="ctr"/>
          <a:lstStyle/>
          <a:p>
            <a:pPr indent="0" marL="0">
              <a:buNone/>
            </a:pPr>
            <a:r>
              <a:rPr lang="en-US" sz="1300" b="1" dirty="0">
                <a:solidFill>
                  <a:srgbClr val="F5F5F5"/>
                </a:solidFill>
                <a:latin typeface="Space Grotesk" pitchFamily="34" charset="0"/>
                <a:ea typeface="Space Grotesk" pitchFamily="34" charset="-122"/>
                <a:cs typeface="Space Grotesk" pitchFamily="34" charset="-120"/>
              </a:rPr>
              <a:t>RateLoop</a:t>
            </a:r>
            <a:endParaRPr lang="en-US" sz="1300" dirty="0"/>
          </a:p>
        </p:txBody>
      </p:sp>
      <p:sp>
        <p:nvSpPr>
          <p:cNvPr id="23" name="Text 20"/>
          <p:cNvSpPr/>
          <p:nvPr/>
        </p:nvSpPr>
        <p:spPr>
          <a:xfrm>
            <a:off x="5678424" y="1755648"/>
            <a:ext cx="1965960" cy="310896"/>
          </a:xfrm>
          <a:prstGeom prst="rect">
            <a:avLst/>
          </a:prstGeom>
          <a:noFill/>
          <a:ln/>
        </p:spPr>
        <p:txBody>
          <a:bodyPr wrap="square" lIns="0" tIns="0" rIns="0" bIns="0" rtlCol="0" anchor="ctr"/>
          <a:lstStyle/>
          <a:p>
            <a:pPr indent="0" marL="0">
              <a:lnSpc>
                <a:spcPct val="105000"/>
              </a:lnSpc>
              <a:buNone/>
            </a:pPr>
            <a:r>
              <a:rPr lang="en-US" sz="750" dirty="0">
                <a:solidFill>
                  <a:srgbClr val="A3A3A3"/>
                </a:solidFill>
                <a:latin typeface="Inter" pitchFamily="34" charset="0"/>
                <a:ea typeface="Inter" pitchFamily="34" charset="-122"/>
                <a:cs typeface="Inter" pitchFamily="34" charset="-120"/>
              </a:rPr>
              <a:t>Ask humans and open raters for product judgment</a:t>
            </a:r>
            <a:endParaRPr lang="en-US" sz="750" dirty="0"/>
          </a:p>
        </p:txBody>
      </p:sp>
      <p:sp>
        <p:nvSpPr>
          <p:cNvPr id="24" name="Shape 21"/>
          <p:cNvSpPr/>
          <p:nvPr/>
        </p:nvSpPr>
        <p:spPr>
          <a:xfrm>
            <a:off x="7662672" y="1554480"/>
            <a:ext cx="749808" cy="256032"/>
          </a:xfrm>
          <a:prstGeom prst="roundRect">
            <a:avLst>
              <a:gd name="adj" fmla="val 50000"/>
            </a:avLst>
          </a:prstGeom>
          <a:solidFill>
            <a:srgbClr val="F5F5F5"/>
          </a:solidFill>
          <a:ln/>
        </p:spPr>
      </p:sp>
      <p:sp>
        <p:nvSpPr>
          <p:cNvPr id="25" name="Text 22"/>
          <p:cNvSpPr/>
          <p:nvPr/>
        </p:nvSpPr>
        <p:spPr>
          <a:xfrm>
            <a:off x="7662672" y="1554480"/>
            <a:ext cx="749808" cy="256032"/>
          </a:xfrm>
          <a:prstGeom prst="rect">
            <a:avLst/>
          </a:prstGeom>
          <a:noFill/>
          <a:ln/>
        </p:spPr>
        <p:txBody>
          <a:bodyPr wrap="square" lIns="0" tIns="0" rIns="0" bIns="0" rtlCol="0" anchor="ctr"/>
          <a:lstStyle/>
          <a:p>
            <a:pPr algn="ctr" indent="0" marL="0">
              <a:buNone/>
            </a:pPr>
            <a:r>
              <a:rPr lang="en-US" sz="800" b="1" dirty="0">
                <a:solidFill>
                  <a:srgbClr val="050505"/>
                </a:solidFill>
                <a:latin typeface="Inter" pitchFamily="34" charset="0"/>
                <a:ea typeface="Inter" pitchFamily="34" charset="-122"/>
                <a:cs typeface="Inter" pitchFamily="34" charset="-120"/>
              </a:rPr>
              <a:t>Try in chat</a:t>
            </a:r>
            <a:endParaRPr lang="en-US" sz="800" dirty="0"/>
          </a:p>
        </p:txBody>
      </p:sp>
      <p:sp>
        <p:nvSpPr>
          <p:cNvPr id="26" name="Shape 23"/>
          <p:cNvSpPr/>
          <p:nvPr/>
        </p:nvSpPr>
        <p:spPr>
          <a:xfrm>
            <a:off x="5276088" y="2139696"/>
            <a:ext cx="3118104" cy="365760"/>
          </a:xfrm>
          <a:prstGeom prst="roundRect">
            <a:avLst>
              <a:gd name="adj" fmla="val 50000"/>
            </a:avLst>
          </a:prstGeom>
          <a:solidFill>
            <a:srgbClr val="1D1D1D"/>
          </a:solidFill>
          <a:ln w="9525">
            <a:solidFill>
              <a:srgbClr val="222222"/>
            </a:solidFill>
            <a:prstDash val="solid"/>
          </a:ln>
        </p:spPr>
      </p:sp>
      <p:pic>
        <p:nvPicPr>
          <p:cNvPr id="27" name="Image 1" descr="assets/ring.png">    </p:cNvPr>
          <p:cNvPicPr>
            <a:picLocks noChangeAspect="1"/>
          </p:cNvPicPr>
          <p:nvPr/>
        </p:nvPicPr>
        <p:blipFill>
          <a:blip r:embed="rId2"/>
          <a:stretch>
            <a:fillRect/>
          </a:stretch>
        </p:blipFill>
        <p:spPr>
          <a:xfrm>
            <a:off x="5404104" y="2249424"/>
            <a:ext cx="146304" cy="146304"/>
          </a:xfrm>
          <a:prstGeom prst="rect">
            <a:avLst/>
          </a:prstGeom>
        </p:spPr>
      </p:pic>
      <p:sp>
        <p:nvSpPr>
          <p:cNvPr id="28" name="Text 24"/>
          <p:cNvSpPr/>
          <p:nvPr/>
        </p:nvSpPr>
        <p:spPr>
          <a:xfrm>
            <a:off x="5605272" y="2139696"/>
            <a:ext cx="2514600" cy="365760"/>
          </a:xfrm>
          <a:prstGeom prst="rect">
            <a:avLst/>
          </a:prstGeom>
          <a:noFill/>
          <a:ln/>
        </p:spPr>
        <p:txBody>
          <a:bodyPr wrap="square" lIns="0" tIns="0" rIns="0" bIns="0" rtlCol="0" anchor="ctr"/>
          <a:lstStyle/>
          <a:p>
            <a:pPr indent="0" marL="0">
              <a:buNone/>
            </a:pPr>
            <a:r>
              <a:rPr lang="en-US" sz="760" b="1" dirty="0">
                <a:solidFill>
                  <a:srgbClr val="03CEA4"/>
                </a:solidFill>
                <a:latin typeface="Inter" pitchFamily="34" charset="0"/>
                <a:ea typeface="Inter" pitchFamily="34" charset="-122"/>
                <a:cs typeface="Inter" pitchFamily="34" charset="-120"/>
              </a:rPr>
              <a:t>RateLoop  </a:t>
            </a:r>
            <a:pPr indent="0" marL="0">
              <a:buNone/>
            </a:pPr>
            <a:r>
              <a:rPr lang="en-US" sz="760" dirty="0">
                <a:solidFill>
                  <a:srgbClr val="F5F5F5"/>
                </a:solidFill>
                <a:latin typeface="Inter" pitchFamily="34" charset="0"/>
                <a:ea typeface="Inter" pitchFamily="34" charset="-122"/>
                <a:cs typeface="Inter" pitchFamily="34" charset="-120"/>
              </a:rPr>
              <a:t>Ask RateLoop raters to review this product decision</a:t>
            </a:r>
            <a:endParaRPr lang="en-US" sz="760" dirty="0"/>
          </a:p>
        </p:txBody>
      </p:sp>
      <p:sp>
        <p:nvSpPr>
          <p:cNvPr id="29" name="Text 25"/>
          <p:cNvSpPr/>
          <p:nvPr/>
        </p:nvSpPr>
        <p:spPr>
          <a:xfrm>
            <a:off x="8119872" y="2139696"/>
            <a:ext cx="274320" cy="365760"/>
          </a:xfrm>
          <a:prstGeom prst="rect">
            <a:avLst/>
          </a:prstGeom>
          <a:noFill/>
          <a:ln/>
        </p:spPr>
        <p:txBody>
          <a:bodyPr wrap="square" lIns="0" tIns="0" rIns="0" bIns="0" rtlCol="0" anchor="ctr"/>
          <a:lstStyle/>
          <a:p>
            <a:pPr algn="ctr" indent="0" marL="0">
              <a:buNone/>
            </a:pPr>
            <a:r>
              <a:rPr lang="en-US" sz="1000" dirty="0">
                <a:solidFill>
                  <a:srgbClr val="A3A3A3"/>
                </a:solidFill>
                <a:latin typeface="Inter" pitchFamily="34" charset="0"/>
                <a:ea typeface="Inter" pitchFamily="34" charset="-122"/>
                <a:cs typeface="Inter" pitchFamily="34" charset="-120"/>
              </a:rPr>
              <a:t>→</a:t>
            </a:r>
            <a:endParaRPr lang="en-US" sz="1000" dirty="0"/>
          </a:p>
        </p:txBody>
      </p:sp>
      <p:sp>
        <p:nvSpPr>
          <p:cNvPr id="30" name="Shape 26"/>
          <p:cNvSpPr/>
          <p:nvPr/>
        </p:nvSpPr>
        <p:spPr>
          <a:xfrm>
            <a:off x="5276088" y="2569464"/>
            <a:ext cx="3118104" cy="365760"/>
          </a:xfrm>
          <a:prstGeom prst="roundRect">
            <a:avLst>
              <a:gd name="adj" fmla="val 50000"/>
            </a:avLst>
          </a:prstGeom>
          <a:solidFill>
            <a:srgbClr val="1D1D1D"/>
          </a:solidFill>
          <a:ln w="9525">
            <a:solidFill>
              <a:srgbClr val="222222"/>
            </a:solidFill>
            <a:prstDash val="solid"/>
          </a:ln>
        </p:spPr>
      </p:sp>
      <p:pic>
        <p:nvPicPr>
          <p:cNvPr id="31" name="Image 2" descr="assets/ring.png">    </p:cNvPr>
          <p:cNvPicPr>
            <a:picLocks noChangeAspect="1"/>
          </p:cNvPicPr>
          <p:nvPr/>
        </p:nvPicPr>
        <p:blipFill>
          <a:blip r:embed="rId3"/>
          <a:stretch>
            <a:fillRect/>
          </a:stretch>
        </p:blipFill>
        <p:spPr>
          <a:xfrm>
            <a:off x="5404104" y="2679192"/>
            <a:ext cx="146304" cy="146304"/>
          </a:xfrm>
          <a:prstGeom prst="rect">
            <a:avLst/>
          </a:prstGeom>
        </p:spPr>
      </p:pic>
      <p:sp>
        <p:nvSpPr>
          <p:cNvPr id="32" name="Text 27"/>
          <p:cNvSpPr/>
          <p:nvPr/>
        </p:nvSpPr>
        <p:spPr>
          <a:xfrm>
            <a:off x="5605272" y="2569464"/>
            <a:ext cx="2514600" cy="365760"/>
          </a:xfrm>
          <a:prstGeom prst="rect">
            <a:avLst/>
          </a:prstGeom>
          <a:noFill/>
          <a:ln/>
        </p:spPr>
        <p:txBody>
          <a:bodyPr wrap="square" lIns="0" tIns="0" rIns="0" bIns="0" rtlCol="0" anchor="ctr"/>
          <a:lstStyle/>
          <a:p>
            <a:pPr indent="0" marL="0">
              <a:buNone/>
            </a:pPr>
            <a:r>
              <a:rPr lang="en-US" sz="760" b="1" dirty="0">
                <a:solidFill>
                  <a:srgbClr val="03CEA4"/>
                </a:solidFill>
                <a:latin typeface="Inter" pitchFamily="34" charset="0"/>
                <a:ea typeface="Inter" pitchFamily="34" charset="-122"/>
                <a:cs typeface="Inter" pitchFamily="34" charset="-120"/>
              </a:rPr>
              <a:t>RateLoop  </a:t>
            </a:r>
            <a:pPr indent="0" marL="0">
              <a:buNone/>
            </a:pPr>
            <a:r>
              <a:rPr lang="en-US" sz="760" dirty="0">
                <a:solidFill>
                  <a:srgbClr val="F5F5F5"/>
                </a:solidFill>
                <a:latin typeface="Inter" pitchFamily="34" charset="0"/>
                <a:ea typeface="Inter" pitchFamily="34" charset="-122"/>
                <a:cs typeface="Inter" pitchFamily="34" charset="-120"/>
              </a:rPr>
              <a:t>Create a RateLoop browser handoff for this mockup</a:t>
            </a:r>
            <a:endParaRPr lang="en-US" sz="760" dirty="0"/>
          </a:p>
        </p:txBody>
      </p:sp>
      <p:sp>
        <p:nvSpPr>
          <p:cNvPr id="33" name="Text 28"/>
          <p:cNvSpPr/>
          <p:nvPr/>
        </p:nvSpPr>
        <p:spPr>
          <a:xfrm>
            <a:off x="8119872" y="2569464"/>
            <a:ext cx="274320" cy="365760"/>
          </a:xfrm>
          <a:prstGeom prst="rect">
            <a:avLst/>
          </a:prstGeom>
          <a:noFill/>
          <a:ln/>
        </p:spPr>
        <p:txBody>
          <a:bodyPr wrap="square" lIns="0" tIns="0" rIns="0" bIns="0" rtlCol="0" anchor="ctr"/>
          <a:lstStyle/>
          <a:p>
            <a:pPr algn="ctr" indent="0" marL="0">
              <a:buNone/>
            </a:pPr>
            <a:r>
              <a:rPr lang="en-US" sz="1000" dirty="0">
                <a:solidFill>
                  <a:srgbClr val="A3A3A3"/>
                </a:solidFill>
                <a:latin typeface="Inter" pitchFamily="34" charset="0"/>
                <a:ea typeface="Inter" pitchFamily="34" charset="-122"/>
                <a:cs typeface="Inter" pitchFamily="34" charset="-120"/>
              </a:rPr>
              <a:t>→</a:t>
            </a:r>
            <a:endParaRPr lang="en-US" sz="1000" dirty="0"/>
          </a:p>
        </p:txBody>
      </p:sp>
      <p:sp>
        <p:nvSpPr>
          <p:cNvPr id="34" name="Shape 29"/>
          <p:cNvSpPr/>
          <p:nvPr/>
        </p:nvSpPr>
        <p:spPr>
          <a:xfrm>
            <a:off x="5276088" y="2999232"/>
            <a:ext cx="3118104" cy="365760"/>
          </a:xfrm>
          <a:prstGeom prst="roundRect">
            <a:avLst>
              <a:gd name="adj" fmla="val 50000"/>
            </a:avLst>
          </a:prstGeom>
          <a:solidFill>
            <a:srgbClr val="1D1D1D"/>
          </a:solidFill>
          <a:ln w="9525">
            <a:solidFill>
              <a:srgbClr val="222222"/>
            </a:solidFill>
            <a:prstDash val="solid"/>
          </a:ln>
        </p:spPr>
      </p:sp>
      <p:pic>
        <p:nvPicPr>
          <p:cNvPr id="35" name="Image 3" descr="assets/ring.png">    </p:cNvPr>
          <p:cNvPicPr>
            <a:picLocks noChangeAspect="1"/>
          </p:cNvPicPr>
          <p:nvPr/>
        </p:nvPicPr>
        <p:blipFill>
          <a:blip r:embed="rId4"/>
          <a:stretch>
            <a:fillRect/>
          </a:stretch>
        </p:blipFill>
        <p:spPr>
          <a:xfrm>
            <a:off x="5404104" y="3108960"/>
            <a:ext cx="146304" cy="146304"/>
          </a:xfrm>
          <a:prstGeom prst="rect">
            <a:avLst/>
          </a:prstGeom>
        </p:spPr>
      </p:pic>
      <p:sp>
        <p:nvSpPr>
          <p:cNvPr id="36" name="Text 30"/>
          <p:cNvSpPr/>
          <p:nvPr/>
        </p:nvSpPr>
        <p:spPr>
          <a:xfrm>
            <a:off x="5605272" y="2999232"/>
            <a:ext cx="2514600" cy="365760"/>
          </a:xfrm>
          <a:prstGeom prst="rect">
            <a:avLst/>
          </a:prstGeom>
          <a:noFill/>
          <a:ln/>
        </p:spPr>
        <p:txBody>
          <a:bodyPr wrap="square" lIns="0" tIns="0" rIns="0" bIns="0" rtlCol="0" anchor="ctr"/>
          <a:lstStyle/>
          <a:p>
            <a:pPr indent="0" marL="0">
              <a:buNone/>
            </a:pPr>
            <a:r>
              <a:rPr lang="en-US" sz="760" b="1" dirty="0">
                <a:solidFill>
                  <a:srgbClr val="03CEA4"/>
                </a:solidFill>
                <a:latin typeface="Inter" pitchFamily="34" charset="0"/>
                <a:ea typeface="Inter" pitchFamily="34" charset="-122"/>
                <a:cs typeface="Inter" pitchFamily="34" charset="-120"/>
              </a:rPr>
              <a:t>RateLoop  </a:t>
            </a:r>
            <a:pPr indent="0" marL="0">
              <a:buNone/>
            </a:pPr>
            <a:r>
              <a:rPr lang="en-US" sz="760" dirty="0">
                <a:solidFill>
                  <a:srgbClr val="F5F5F5"/>
                </a:solidFill>
                <a:latin typeface="Inter" pitchFamily="34" charset="0"/>
                <a:ea typeface="Inter" pitchFamily="34" charset="-122"/>
                <a:cs typeface="Inter" pitchFamily="34" charset="-120"/>
              </a:rPr>
              <a:t>Use RateLoop to check whether this answer is supported</a:t>
            </a:r>
            <a:endParaRPr lang="en-US" sz="760" dirty="0"/>
          </a:p>
        </p:txBody>
      </p:sp>
      <p:sp>
        <p:nvSpPr>
          <p:cNvPr id="37" name="Text 31"/>
          <p:cNvSpPr/>
          <p:nvPr/>
        </p:nvSpPr>
        <p:spPr>
          <a:xfrm>
            <a:off x="8119872" y="2999232"/>
            <a:ext cx="274320" cy="365760"/>
          </a:xfrm>
          <a:prstGeom prst="rect">
            <a:avLst/>
          </a:prstGeom>
          <a:noFill/>
          <a:ln/>
        </p:spPr>
        <p:txBody>
          <a:bodyPr wrap="square" lIns="0" tIns="0" rIns="0" bIns="0" rtlCol="0" anchor="ctr"/>
          <a:lstStyle/>
          <a:p>
            <a:pPr algn="ctr" indent="0" marL="0">
              <a:buNone/>
            </a:pPr>
            <a:r>
              <a:rPr lang="en-US" sz="1000" dirty="0">
                <a:solidFill>
                  <a:srgbClr val="A3A3A3"/>
                </a:solidFill>
                <a:latin typeface="Inter" pitchFamily="34" charset="0"/>
                <a:ea typeface="Inter" pitchFamily="34" charset="-122"/>
                <a:cs typeface="Inter" pitchFamily="34" charset="-120"/>
              </a:rPr>
              <a:t>→</a:t>
            </a:r>
            <a:endParaRPr lang="en-US" sz="1000" dirty="0"/>
          </a:p>
        </p:txBody>
      </p:sp>
      <p:sp>
        <p:nvSpPr>
          <p:cNvPr id="38" name="Text 32"/>
          <p:cNvSpPr/>
          <p:nvPr/>
        </p:nvSpPr>
        <p:spPr>
          <a:xfrm>
            <a:off x="5276088" y="3419856"/>
            <a:ext cx="1828800" cy="201168"/>
          </a:xfrm>
          <a:prstGeom prst="rect">
            <a:avLst/>
          </a:prstGeom>
          <a:noFill/>
          <a:ln/>
        </p:spPr>
        <p:txBody>
          <a:bodyPr wrap="square" lIns="0" tIns="0" rIns="0" bIns="0" rtlCol="0" anchor="ctr"/>
          <a:lstStyle/>
          <a:p>
            <a:pPr indent="0" marL="0">
              <a:buNone/>
            </a:pPr>
            <a:r>
              <a:rPr lang="en-US" sz="800" b="1" dirty="0">
                <a:solidFill>
                  <a:srgbClr val="A3A3A3"/>
                </a:solidFill>
                <a:latin typeface="Inter" pitchFamily="34" charset="0"/>
                <a:ea typeface="Inter" pitchFamily="34" charset="-122"/>
                <a:cs typeface="Inter" pitchFamily="34" charset="-120"/>
              </a:rPr>
              <a:t>MCP servers  </a:t>
            </a:r>
            <a:pPr indent="0" marL="0">
              <a:buNone/>
            </a:pPr>
            <a:r>
              <a:rPr lang="en-US" sz="800" dirty="0">
                <a:solidFill>
                  <a:srgbClr val="737373"/>
                </a:solidFill>
                <a:latin typeface="Inter" pitchFamily="34" charset="0"/>
                <a:ea typeface="Inter" pitchFamily="34" charset="-122"/>
                <a:cs typeface="Inter" pitchFamily="34" charset="-120"/>
              </a:rPr>
              <a:t>1</a:t>
            </a:r>
            <a:endParaRPr lang="en-US" sz="800" dirty="0"/>
          </a:p>
        </p:txBody>
      </p:sp>
      <p:pic>
        <p:nvPicPr>
          <p:cNvPr id="39" name="Image 4" descr="assets/ring.png">    </p:cNvPr>
          <p:cNvPicPr>
            <a:picLocks noChangeAspect="1"/>
          </p:cNvPicPr>
          <p:nvPr/>
        </p:nvPicPr>
        <p:blipFill>
          <a:blip r:embed="rId5"/>
          <a:stretch>
            <a:fillRect/>
          </a:stretch>
        </p:blipFill>
        <p:spPr>
          <a:xfrm>
            <a:off x="5276088" y="3657600"/>
            <a:ext cx="164592" cy="164592"/>
          </a:xfrm>
          <a:prstGeom prst="rect">
            <a:avLst/>
          </a:prstGeom>
        </p:spPr>
      </p:pic>
      <p:sp>
        <p:nvSpPr>
          <p:cNvPr id="40" name="Text 33"/>
          <p:cNvSpPr/>
          <p:nvPr/>
        </p:nvSpPr>
        <p:spPr>
          <a:xfrm>
            <a:off x="5513832" y="3630168"/>
            <a:ext cx="1645920" cy="219456"/>
          </a:xfrm>
          <a:prstGeom prst="rect">
            <a:avLst/>
          </a:prstGeom>
          <a:noFill/>
          <a:ln/>
        </p:spPr>
        <p:txBody>
          <a:bodyPr wrap="square" lIns="0" tIns="0" rIns="0" bIns="0" rtlCol="0" anchor="ctr"/>
          <a:lstStyle/>
          <a:p>
            <a:pPr indent="0" marL="0">
              <a:buNone/>
            </a:pPr>
            <a:r>
              <a:rPr lang="en-US" sz="900" b="1" dirty="0">
                <a:solidFill>
                  <a:srgbClr val="F5F5F5"/>
                </a:solidFill>
                <a:latin typeface="Inter" pitchFamily="34" charset="0"/>
                <a:ea typeface="Inter" pitchFamily="34" charset="-122"/>
                <a:cs typeface="Inter" pitchFamily="34" charset="-120"/>
              </a:rPr>
              <a:t>Rateloop</a:t>
            </a:r>
            <a:endParaRPr lang="en-US" sz="900" dirty="0"/>
          </a:p>
        </p:txBody>
      </p:sp>
      <p:sp>
        <p:nvSpPr>
          <p:cNvPr id="41" name="Shape 34"/>
          <p:cNvSpPr/>
          <p:nvPr/>
        </p:nvSpPr>
        <p:spPr>
          <a:xfrm>
            <a:off x="8065008" y="3630168"/>
            <a:ext cx="329184" cy="173736"/>
          </a:xfrm>
          <a:prstGeom prst="roundRect">
            <a:avLst>
              <a:gd name="adj" fmla="val 50000"/>
            </a:avLst>
          </a:prstGeom>
          <a:solidFill>
            <a:srgbClr val="359EEE"/>
          </a:solidFill>
          <a:ln/>
        </p:spPr>
      </p:sp>
      <p:sp>
        <p:nvSpPr>
          <p:cNvPr id="42" name="Shape 35"/>
          <p:cNvSpPr/>
          <p:nvPr/>
        </p:nvSpPr>
        <p:spPr>
          <a:xfrm>
            <a:off x="8238744" y="3653028"/>
            <a:ext cx="128016" cy="128016"/>
          </a:xfrm>
          <a:prstGeom prst="ellipse">
            <a:avLst/>
          </a:prstGeom>
          <a:solidFill>
            <a:srgbClr val="FFFFFF"/>
          </a:solidFill>
          <a:ln/>
        </p:spPr>
      </p:sp>
      <p:sp>
        <p:nvSpPr>
          <p:cNvPr id="43" name="Text 36"/>
          <p:cNvSpPr/>
          <p:nvPr/>
        </p:nvSpPr>
        <p:spPr>
          <a:xfrm>
            <a:off x="5276088" y="3950208"/>
            <a:ext cx="1828800" cy="201168"/>
          </a:xfrm>
          <a:prstGeom prst="rect">
            <a:avLst/>
          </a:prstGeom>
          <a:noFill/>
          <a:ln/>
        </p:spPr>
        <p:txBody>
          <a:bodyPr wrap="square" lIns="0" tIns="0" rIns="0" bIns="0" rtlCol="0" anchor="ctr"/>
          <a:lstStyle/>
          <a:p>
            <a:pPr indent="0" marL="0">
              <a:buNone/>
            </a:pPr>
            <a:r>
              <a:rPr lang="en-US" sz="800" b="1" dirty="0">
                <a:solidFill>
                  <a:srgbClr val="A3A3A3"/>
                </a:solidFill>
                <a:latin typeface="Inter" pitchFamily="34" charset="0"/>
                <a:ea typeface="Inter" pitchFamily="34" charset="-122"/>
                <a:cs typeface="Inter" pitchFamily="34" charset="-120"/>
              </a:rPr>
              <a:t>Skills  </a:t>
            </a:r>
            <a:pPr indent="0" marL="0">
              <a:buNone/>
            </a:pPr>
            <a:r>
              <a:rPr lang="en-US" sz="800" dirty="0">
                <a:solidFill>
                  <a:srgbClr val="737373"/>
                </a:solidFill>
                <a:latin typeface="Inter" pitchFamily="34" charset="0"/>
                <a:ea typeface="Inter" pitchFamily="34" charset="-122"/>
                <a:cs typeface="Inter" pitchFamily="34" charset="-120"/>
              </a:rPr>
              <a:t>1</a:t>
            </a:r>
            <a:endParaRPr lang="en-US" sz="800" dirty="0"/>
          </a:p>
        </p:txBody>
      </p:sp>
      <p:sp>
        <p:nvSpPr>
          <p:cNvPr id="44" name="Text 37"/>
          <p:cNvSpPr/>
          <p:nvPr/>
        </p:nvSpPr>
        <p:spPr>
          <a:xfrm>
            <a:off x="5276088" y="4160520"/>
            <a:ext cx="2651760" cy="411480"/>
          </a:xfrm>
          <a:prstGeom prst="rect">
            <a:avLst/>
          </a:prstGeom>
          <a:noFill/>
          <a:ln/>
        </p:spPr>
        <p:txBody>
          <a:bodyPr wrap="square" lIns="0" tIns="0" rIns="0" bIns="0" rtlCol="0" anchor="ctr"/>
          <a:lstStyle/>
          <a:p>
            <a:pPr indent="0" marL="0">
              <a:lnSpc>
                <a:spcPct val="110000"/>
              </a:lnSpc>
              <a:buNone/>
            </a:pPr>
            <a:r>
              <a:rPr lang="en-US" sz="900" b="1" dirty="0">
                <a:solidFill>
                  <a:srgbClr val="F5F5F5"/>
                </a:solidFill>
                <a:latin typeface="Inter" pitchFamily="34" charset="0"/>
                <a:ea typeface="Inter" pitchFamily="34" charset="-122"/>
                <a:cs typeface="Inter" pitchFamily="34" charset="-120"/>
              </a:rPr>
              <a:t>RateLoop Ratings
</a:t>
            </a:r>
            <a:pPr indent="0" marL="0">
              <a:lnSpc>
                <a:spcPct val="110000"/>
              </a:lnSpc>
              <a:buNone/>
            </a:pPr>
            <a:r>
              <a:rPr lang="en-US" sz="750" dirty="0">
                <a:solidFill>
                  <a:srgbClr val="A3A3A3"/>
                </a:solidFill>
                <a:latin typeface="Inter" pitchFamily="34" charset="0"/>
                <a:ea typeface="Inter" pitchFamily="34" charset="-122"/>
                <a:cs typeface="Inter" pitchFamily="34" charset="-120"/>
              </a:rPr>
              <a:t>Use RateLoop MCP for human and open-rater product judgment.</a:t>
            </a:r>
            <a:endParaRPr lang="en-US" sz="900" dirty="0"/>
          </a:p>
        </p:txBody>
      </p:sp>
      <p:sp>
        <p:nvSpPr>
          <p:cNvPr id="45" name="Shape 38"/>
          <p:cNvSpPr/>
          <p:nvPr/>
        </p:nvSpPr>
        <p:spPr>
          <a:xfrm>
            <a:off x="8065008" y="4224528"/>
            <a:ext cx="329184" cy="173736"/>
          </a:xfrm>
          <a:prstGeom prst="roundRect">
            <a:avLst>
              <a:gd name="adj" fmla="val 50000"/>
            </a:avLst>
          </a:prstGeom>
          <a:solidFill>
            <a:srgbClr val="359EEE"/>
          </a:solidFill>
          <a:ln/>
        </p:spPr>
      </p:sp>
      <p:sp>
        <p:nvSpPr>
          <p:cNvPr id="46" name="Shape 39"/>
          <p:cNvSpPr/>
          <p:nvPr/>
        </p:nvSpPr>
        <p:spPr>
          <a:xfrm>
            <a:off x="8238744" y="4247388"/>
            <a:ext cx="128016" cy="128016"/>
          </a:xfrm>
          <a:prstGeom prst="ellipse">
            <a:avLst/>
          </a:prstGeom>
          <a:solidFill>
            <a:srgbClr val="FFFFFF"/>
          </a:solidFill>
          <a:ln/>
        </p:spPr>
      </p:sp>
      <p:pic>
        <p:nvPicPr>
          <p:cNvPr id="47" name="Image 5" descr="assets/ring.png">    </p:cNvPr>
          <p:cNvPicPr>
            <a:picLocks noChangeAspect="1"/>
          </p:cNvPicPr>
          <p:nvPr/>
        </p:nvPicPr>
        <p:blipFill>
          <a:blip r:embed="rId6"/>
          <a:stretch>
            <a:fillRect/>
          </a:stretch>
        </p:blipFill>
        <p:spPr>
          <a:xfrm>
            <a:off x="548640" y="4773168"/>
            <a:ext cx="201168" cy="201168"/>
          </a:xfrm>
          <a:prstGeom prst="rect">
            <a:avLst/>
          </a:prstGeom>
        </p:spPr>
      </p:pic>
      <p:sp>
        <p:nvSpPr>
          <p:cNvPr id="48" name="Text 40"/>
          <p:cNvSpPr/>
          <p:nvPr/>
        </p:nvSpPr>
        <p:spPr>
          <a:xfrm>
            <a:off x="804672" y="4773168"/>
            <a:ext cx="1371600" cy="201168"/>
          </a:xfrm>
          <a:prstGeom prst="rect">
            <a:avLst/>
          </a:prstGeom>
          <a:noFill/>
          <a:ln/>
        </p:spPr>
        <p:txBody>
          <a:bodyPr wrap="square" lIns="0" tIns="0" rIns="0" bIns="0" rtlCol="0" anchor="ctr"/>
          <a:lstStyle/>
          <a:p>
            <a:pPr indent="0" marL="0">
              <a:buNone/>
            </a:pPr>
            <a:r>
              <a:rPr lang="en-US" sz="900" b="1" dirty="0">
                <a:solidFill>
                  <a:srgbClr val="737373"/>
                </a:solidFill>
                <a:latin typeface="Space Grotesk" pitchFamily="34" charset="0"/>
                <a:ea typeface="Space Grotesk" pitchFamily="34" charset="-122"/>
                <a:cs typeface="Space Grotesk" pitchFamily="34" charset="-120"/>
              </a:rPr>
              <a:t>RateLoop</a:t>
            </a:r>
            <a:endParaRPr lang="en-US" sz="900" dirty="0"/>
          </a:p>
        </p:txBody>
      </p:sp>
      <p:sp>
        <p:nvSpPr>
          <p:cNvPr id="49" name="Text 41"/>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8046720" cy="502920"/>
          </a:xfrm>
          <a:prstGeom prst="rect">
            <a:avLst/>
          </a:prstGeom>
          <a:noFill/>
          <a:ln/>
        </p:spPr>
        <p:txBody>
          <a:bodyPr wrap="square" lIns="0" tIns="0" rIns="0" bIns="0" rtlCol="0" anchor="ctr"/>
          <a:lstStyle/>
          <a:p>
            <a:pPr algn="l" indent="0" marL="0">
              <a:buNone/>
            </a:pPr>
            <a:r>
              <a:rPr lang="en-US" sz="2600" b="1" dirty="0">
                <a:solidFill>
                  <a:srgbClr val="F5F5F5"/>
                </a:solidFill>
                <a:latin typeface="Space Grotesk" pitchFamily="34" charset="0"/>
                <a:ea typeface="Space Grotesk" pitchFamily="34" charset="-122"/>
                <a:cs typeface="Space Grotesk" pitchFamily="34" charset="-120"/>
              </a:rPr>
              <a:t>Team</a:t>
            </a:r>
            <a:endParaRPr lang="en-US" sz="26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algn="l" indent="0" marL="0">
              <a:buNone/>
            </a:pPr>
            <a:r>
              <a:rPr lang="en-US" sz="1250" dirty="0">
                <a:solidFill>
                  <a:srgbClr val="A3A3A3"/>
                </a:solidFill>
                <a:latin typeface="Inter" pitchFamily="34" charset="0"/>
                <a:ea typeface="Inter" pitchFamily="34" charset="-122"/>
                <a:cs typeface="Inter" pitchFamily="34" charset="-120"/>
              </a:rPr>
              <a:t>One human — plus the agents the protocol was built for.</a:t>
            </a:r>
            <a:endParaRPr lang="en-US" sz="1250" dirty="0"/>
          </a:p>
        </p:txBody>
      </p:sp>
      <p:sp>
        <p:nvSpPr>
          <p:cNvPr id="4" name="Shape 2"/>
          <p:cNvSpPr/>
          <p:nvPr/>
        </p:nvSpPr>
        <p:spPr>
          <a:xfrm>
            <a:off x="548640" y="1371600"/>
            <a:ext cx="3063240" cy="3200400"/>
          </a:xfrm>
          <a:prstGeom prst="roundRect">
            <a:avLst>
              <a:gd name="adj" fmla="val 2090"/>
            </a:avLst>
          </a:prstGeom>
          <a:solidFill>
            <a:srgbClr val="121212"/>
          </a:solidFill>
          <a:ln w="9525">
            <a:solidFill>
              <a:srgbClr val="222222"/>
            </a:solidFill>
            <a:prstDash val="solid"/>
          </a:ln>
        </p:spPr>
      </p:sp>
      <p:pic>
        <p:nvPicPr>
          <p:cNvPr id="5" name="Image 0" descr="assets/avatar.png">    </p:cNvPr>
          <p:cNvPicPr>
            <a:picLocks noChangeAspect="1"/>
          </p:cNvPicPr>
          <p:nvPr/>
        </p:nvPicPr>
        <p:blipFill>
          <a:blip r:embed="rId1"/>
          <a:stretch>
            <a:fillRect/>
          </a:stretch>
        </p:blipFill>
        <p:spPr>
          <a:xfrm>
            <a:off x="1554480" y="1600200"/>
            <a:ext cx="1051560" cy="1051560"/>
          </a:xfrm>
          <a:prstGeom prst="rect">
            <a:avLst/>
          </a:prstGeom>
        </p:spPr>
      </p:pic>
      <p:sp>
        <p:nvSpPr>
          <p:cNvPr id="6" name="Text 3"/>
          <p:cNvSpPr/>
          <p:nvPr/>
        </p:nvSpPr>
        <p:spPr>
          <a:xfrm>
            <a:off x="731520" y="2743200"/>
            <a:ext cx="2697480" cy="292608"/>
          </a:xfrm>
          <a:prstGeom prst="rect">
            <a:avLst/>
          </a:prstGeom>
          <a:noFill/>
          <a:ln/>
        </p:spPr>
        <p:txBody>
          <a:bodyPr wrap="square" lIns="0" tIns="0" rIns="0" bIns="0" rtlCol="0" anchor="ctr"/>
          <a:lstStyle/>
          <a:p>
            <a:pPr algn="ctr" indent="0" marL="0">
              <a:buNone/>
            </a:pPr>
            <a:r>
              <a:rPr lang="en-US" sz="1600" b="1" dirty="0">
                <a:solidFill>
                  <a:srgbClr val="F5F5F5"/>
                </a:solidFill>
                <a:latin typeface="Space Grotesk" pitchFamily="34" charset="0"/>
                <a:ea typeface="Space Grotesk" pitchFamily="34" charset="-122"/>
                <a:cs typeface="Space Grotesk" pitchFamily="34" charset="-120"/>
              </a:rPr>
              <a:t>David Hawig</a:t>
            </a:r>
            <a:endParaRPr lang="en-US" sz="1600" dirty="0"/>
          </a:p>
        </p:txBody>
      </p:sp>
      <p:sp>
        <p:nvSpPr>
          <p:cNvPr id="7" name="Text 4"/>
          <p:cNvSpPr/>
          <p:nvPr/>
        </p:nvSpPr>
        <p:spPr>
          <a:xfrm>
            <a:off x="731520" y="3054096"/>
            <a:ext cx="2697480" cy="228600"/>
          </a:xfrm>
          <a:prstGeom prst="rect">
            <a:avLst/>
          </a:prstGeom>
          <a:noFill/>
          <a:ln/>
        </p:spPr>
        <p:txBody>
          <a:bodyPr wrap="square" lIns="0" tIns="0" rIns="0" bIns="0" rtlCol="0" anchor="ctr"/>
          <a:lstStyle/>
          <a:p>
            <a:pPr algn="ctr" indent="0" marL="0">
              <a:buNone/>
            </a:pPr>
            <a:r>
              <a:rPr lang="en-US" sz="1000" dirty="0">
                <a:solidFill>
                  <a:srgbClr val="03CEA4"/>
                </a:solidFill>
                <a:latin typeface="Inter" pitchFamily="34" charset="0"/>
                <a:ea typeface="Inter" pitchFamily="34" charset="-122"/>
                <a:cs typeface="Inter" pitchFamily="34" charset="-120"/>
              </a:rPr>
              <a:t>Founder</a:t>
            </a:r>
            <a:endParaRPr lang="en-US" sz="1000" dirty="0"/>
          </a:p>
        </p:txBody>
      </p:sp>
      <p:sp>
        <p:nvSpPr>
          <p:cNvPr id="8" name="Text 5"/>
          <p:cNvSpPr/>
          <p:nvPr/>
        </p:nvSpPr>
        <p:spPr>
          <a:xfrm>
            <a:off x="822960" y="3328416"/>
            <a:ext cx="2514600" cy="960120"/>
          </a:xfrm>
          <a:prstGeom prst="rect">
            <a:avLst/>
          </a:prstGeom>
          <a:noFill/>
          <a:ln/>
        </p:spPr>
        <p:txBody>
          <a:bodyPr wrap="square" lIns="0" tIns="0" rIns="0" bIns="0" rtlCol="0" anchor="ctr"/>
          <a:lstStyle/>
          <a:p>
            <a:pPr algn="ctr" indent="0" marL="0">
              <a:lnSpc>
                <a:spcPct val="130000"/>
              </a:lnSpc>
              <a:buNone/>
            </a:pPr>
            <a:r>
              <a:rPr lang="en-US" sz="950" dirty="0">
                <a:solidFill>
                  <a:srgbClr val="A3A3A3"/>
                </a:solidFill>
                <a:latin typeface="Inter" pitchFamily="34" charset="0"/>
                <a:ea typeface="Inter" pitchFamily="34" charset="-122"/>
                <a:cs typeface="Inter" pitchFamily="34" charset="-120"/>
              </a:rPr>
              <a:t>Director of Ecosystem Growth, Web3 Foundation</a:t>
            </a:r>
            <a:endParaRPr lang="en-US" sz="950" dirty="0"/>
          </a:p>
          <a:p>
            <a:pPr algn="ctr" indent="0" marL="0">
              <a:lnSpc>
                <a:spcPct val="130000"/>
              </a:lnSpc>
              <a:buNone/>
            </a:pPr>
            <a:r>
              <a:rPr lang="en-US" sz="950" dirty="0">
                <a:solidFill>
                  <a:srgbClr val="A3A3A3"/>
                </a:solidFill>
                <a:latin typeface="Inter" pitchFamily="34" charset="0"/>
                <a:ea typeface="Inter" pitchFamily="34" charset="-122"/>
                <a:cs typeface="Inter" pitchFamily="34" charset="-120"/>
              </a:rPr>
              <a:t>Founded two startups</a:t>
            </a:r>
            <a:endParaRPr lang="en-US" sz="950" dirty="0"/>
          </a:p>
          <a:p>
            <a:pPr algn="ctr" indent="0" marL="0">
              <a:lnSpc>
                <a:spcPct val="130000"/>
              </a:lnSpc>
              <a:buNone/>
            </a:pPr>
            <a:r>
              <a:rPr lang="en-US" sz="950" dirty="0">
                <a:solidFill>
                  <a:srgbClr val="A3A3A3"/>
                </a:solidFill>
                <a:latin typeface="Inter" pitchFamily="34" charset="0"/>
                <a:ea typeface="Inter" pitchFamily="34" charset="-122"/>
                <a:cs typeface="Inter" pitchFamily="34" charset="-120"/>
              </a:rPr>
              <a:t>florence.chat — #2 chatbot by usage</a:t>
            </a:r>
            <a:endParaRPr lang="en-US" sz="950" dirty="0"/>
          </a:p>
        </p:txBody>
      </p:sp>
      <p:pic>
        <p:nvPicPr>
          <p:cNvPr id="9" name="Image 1" descr="assets/si-github.png">    </p:cNvPr>
          <p:cNvPicPr>
            <a:picLocks noChangeAspect="1"/>
          </p:cNvPicPr>
          <p:nvPr/>
        </p:nvPicPr>
        <p:blipFill>
          <a:blip r:embed="rId2"/>
          <a:stretch>
            <a:fillRect/>
          </a:stretch>
        </p:blipFill>
        <p:spPr>
          <a:xfrm>
            <a:off x="1623060" y="4315968"/>
            <a:ext cx="155448" cy="155448"/>
          </a:xfrm>
          <a:prstGeom prst="rect">
            <a:avLst/>
          </a:prstGeom>
        </p:spPr>
      </p:pic>
      <p:sp>
        <p:nvSpPr>
          <p:cNvPr id="10" name="Text 6"/>
          <p:cNvSpPr/>
          <p:nvPr/>
        </p:nvSpPr>
        <p:spPr>
          <a:xfrm>
            <a:off x="1824228" y="4279392"/>
            <a:ext cx="914400" cy="228600"/>
          </a:xfrm>
          <a:prstGeom prst="rect">
            <a:avLst/>
          </a:prstGeom>
          <a:noFill/>
          <a:ln/>
        </p:spPr>
        <p:txBody>
          <a:bodyPr wrap="square" lIns="0" tIns="0" rIns="0" bIns="0" rtlCol="0" anchor="ctr"/>
          <a:lstStyle/>
          <a:p>
            <a:pPr indent="0" marL="0">
              <a:buNone/>
            </a:pPr>
            <a:r>
              <a:rPr lang="en-US" sz="950" dirty="0">
                <a:solidFill>
                  <a:srgbClr val="737373"/>
                </a:solidFill>
                <a:latin typeface="Inter" pitchFamily="34" charset="0"/>
                <a:ea typeface="Inter" pitchFamily="34" charset="-122"/>
                <a:cs typeface="Inter" pitchFamily="34" charset="-120"/>
              </a:rPr>
              <a:t>Noc2</a:t>
            </a:r>
            <a:endParaRPr lang="en-US" sz="950" dirty="0"/>
          </a:p>
        </p:txBody>
      </p:sp>
      <p:sp>
        <p:nvSpPr>
          <p:cNvPr id="11" name="Shape 7"/>
          <p:cNvSpPr/>
          <p:nvPr/>
        </p:nvSpPr>
        <p:spPr>
          <a:xfrm>
            <a:off x="3840480" y="1371600"/>
            <a:ext cx="4754880" cy="1554480"/>
          </a:xfrm>
          <a:prstGeom prst="roundRect">
            <a:avLst>
              <a:gd name="adj" fmla="val 4118"/>
            </a:avLst>
          </a:prstGeom>
          <a:solidFill>
            <a:srgbClr val="121212"/>
          </a:solidFill>
          <a:ln w="9525">
            <a:solidFill>
              <a:srgbClr val="222222"/>
            </a:solidFill>
            <a:prstDash val="solid"/>
          </a:ln>
        </p:spPr>
      </p:sp>
      <p:sp>
        <p:nvSpPr>
          <p:cNvPr id="12" name="Shape 8"/>
          <p:cNvSpPr/>
          <p:nvPr/>
        </p:nvSpPr>
        <p:spPr>
          <a:xfrm>
            <a:off x="4059936" y="1591056"/>
            <a:ext cx="566928" cy="566928"/>
          </a:xfrm>
          <a:prstGeom prst="ellipse">
            <a:avLst/>
          </a:prstGeom>
          <a:solidFill>
            <a:srgbClr val="F5F5F5">
              <a:alpha val="7000"/>
            </a:srgbClr>
          </a:solidFill>
          <a:ln w="9525">
            <a:solidFill>
              <a:srgbClr val="222222"/>
            </a:solidFill>
            <a:prstDash val="solid"/>
          </a:ln>
        </p:spPr>
      </p:sp>
      <p:pic>
        <p:nvPicPr>
          <p:cNvPr id="13" name="Image 2" descr="assets/si-openai.png">    </p:cNvPr>
          <p:cNvPicPr>
            <a:picLocks noChangeAspect="1"/>
          </p:cNvPicPr>
          <p:nvPr/>
        </p:nvPicPr>
        <p:blipFill>
          <a:blip r:embed="rId3"/>
          <a:stretch>
            <a:fillRect/>
          </a:stretch>
        </p:blipFill>
        <p:spPr>
          <a:xfrm>
            <a:off x="4197096" y="1728216"/>
            <a:ext cx="292608" cy="292608"/>
          </a:xfrm>
          <a:prstGeom prst="rect">
            <a:avLst/>
          </a:prstGeom>
        </p:spPr>
      </p:pic>
      <p:sp>
        <p:nvSpPr>
          <p:cNvPr id="14" name="Text 9"/>
          <p:cNvSpPr/>
          <p:nvPr/>
        </p:nvSpPr>
        <p:spPr>
          <a:xfrm>
            <a:off x="4800600" y="1572768"/>
            <a:ext cx="3566160" cy="274320"/>
          </a:xfrm>
          <a:prstGeom prst="rect">
            <a:avLst/>
          </a:prstGeom>
          <a:noFill/>
          <a:ln/>
        </p:spPr>
        <p:txBody>
          <a:bodyPr wrap="square" lIns="0" tIns="0" rIns="0" bIns="0" rtlCol="0" anchor="ctr"/>
          <a:lstStyle/>
          <a:p>
            <a:pPr indent="0" marL="0">
              <a:buNone/>
            </a:pPr>
            <a:r>
              <a:rPr lang="en-US" sz="1400" b="1" dirty="0">
                <a:solidFill>
                  <a:srgbClr val="F5F5F5"/>
                </a:solidFill>
                <a:latin typeface="Space Grotesk" pitchFamily="34" charset="0"/>
                <a:ea typeface="Space Grotesk" pitchFamily="34" charset="-122"/>
                <a:cs typeface="Space Grotesk" pitchFamily="34" charset="-120"/>
              </a:rPr>
              <a:t>Codex &amp; ChatGPT</a:t>
            </a:r>
            <a:endParaRPr lang="en-US" sz="1400" dirty="0"/>
          </a:p>
        </p:txBody>
      </p:sp>
      <p:sp>
        <p:nvSpPr>
          <p:cNvPr id="15" name="Text 10"/>
          <p:cNvSpPr/>
          <p:nvPr/>
        </p:nvSpPr>
        <p:spPr>
          <a:xfrm>
            <a:off x="4800600" y="1865376"/>
            <a:ext cx="3566160" cy="228600"/>
          </a:xfrm>
          <a:prstGeom prst="rect">
            <a:avLst/>
          </a:prstGeom>
          <a:noFill/>
          <a:ln/>
        </p:spPr>
        <p:txBody>
          <a:bodyPr wrap="square" lIns="0" tIns="0" rIns="0" bIns="0" rtlCol="0" anchor="ctr"/>
          <a:lstStyle/>
          <a:p>
            <a:pPr indent="0" marL="0">
              <a:buNone/>
            </a:pPr>
            <a:r>
              <a:rPr lang="en-US" sz="950" dirty="0">
                <a:solidFill>
                  <a:srgbClr val="03CEA4"/>
                </a:solidFill>
                <a:latin typeface="Inter" pitchFamily="34" charset="0"/>
                <a:ea typeface="Inter" pitchFamily="34" charset="-122"/>
                <a:cs typeface="Inter" pitchFamily="34" charset="-120"/>
              </a:rPr>
              <a:t>AI engineering &amp; research</a:t>
            </a:r>
            <a:endParaRPr lang="en-US" sz="950" dirty="0"/>
          </a:p>
        </p:txBody>
      </p:sp>
      <p:sp>
        <p:nvSpPr>
          <p:cNvPr id="16" name="Text 11"/>
          <p:cNvSpPr/>
          <p:nvPr/>
        </p:nvSpPr>
        <p:spPr>
          <a:xfrm>
            <a:off x="4800600" y="2139696"/>
            <a:ext cx="3566160" cy="685800"/>
          </a:xfrm>
          <a:prstGeom prst="rect">
            <a:avLst/>
          </a:prstGeom>
          <a:noFill/>
          <a:ln/>
        </p:spPr>
        <p:txBody>
          <a:bodyPr wrap="square" lIns="0" tIns="0" rIns="0" bIns="0" rtlCol="0" anchor="ctr"/>
          <a:lstStyle/>
          <a:p>
            <a:pPr indent="0" marL="0">
              <a:lnSpc>
                <a:spcPct val="115000"/>
              </a:lnSpc>
              <a:buNone/>
            </a:pPr>
            <a:r>
              <a:rPr lang="en-US" sz="1000" dirty="0">
                <a:solidFill>
                  <a:srgbClr val="A3A3A3"/>
                </a:solidFill>
                <a:latin typeface="Inter" pitchFamily="34" charset="0"/>
                <a:ea typeface="Inter" pitchFamily="34" charset="-122"/>
                <a:cs typeface="Inter" pitchFamily="34" charset="-120"/>
              </a:rPr>
              <a:t>Ships protocol and plugin code, drafts specs, pressure-tests ideas — around the clock.</a:t>
            </a:r>
            <a:endParaRPr lang="en-US" sz="1000" dirty="0"/>
          </a:p>
        </p:txBody>
      </p:sp>
      <p:sp>
        <p:nvSpPr>
          <p:cNvPr id="17" name="Shape 12"/>
          <p:cNvSpPr/>
          <p:nvPr/>
        </p:nvSpPr>
        <p:spPr>
          <a:xfrm>
            <a:off x="3840480" y="3063240"/>
            <a:ext cx="4754880" cy="1554480"/>
          </a:xfrm>
          <a:prstGeom prst="roundRect">
            <a:avLst>
              <a:gd name="adj" fmla="val 4118"/>
            </a:avLst>
          </a:prstGeom>
          <a:solidFill>
            <a:srgbClr val="121212"/>
          </a:solidFill>
          <a:ln w="9525">
            <a:solidFill>
              <a:srgbClr val="222222"/>
            </a:solidFill>
            <a:prstDash val="solid"/>
          </a:ln>
        </p:spPr>
      </p:sp>
      <p:sp>
        <p:nvSpPr>
          <p:cNvPr id="18" name="Shape 13"/>
          <p:cNvSpPr/>
          <p:nvPr/>
        </p:nvSpPr>
        <p:spPr>
          <a:xfrm>
            <a:off x="4059936" y="3282696"/>
            <a:ext cx="566928" cy="566928"/>
          </a:xfrm>
          <a:prstGeom prst="ellipse">
            <a:avLst/>
          </a:prstGeom>
          <a:solidFill>
            <a:srgbClr val="F5F5F5">
              <a:alpha val="7000"/>
            </a:srgbClr>
          </a:solidFill>
          <a:ln w="9525">
            <a:solidFill>
              <a:srgbClr val="222222"/>
            </a:solidFill>
            <a:prstDash val="solid"/>
          </a:ln>
        </p:spPr>
      </p:sp>
      <p:pic>
        <p:nvPicPr>
          <p:cNvPr id="19" name="Image 3" descr="assets/si-claude.png">    </p:cNvPr>
          <p:cNvPicPr>
            <a:picLocks noChangeAspect="1"/>
          </p:cNvPicPr>
          <p:nvPr/>
        </p:nvPicPr>
        <p:blipFill>
          <a:blip r:embed="rId4"/>
          <a:stretch>
            <a:fillRect/>
          </a:stretch>
        </p:blipFill>
        <p:spPr>
          <a:xfrm>
            <a:off x="4197096" y="3419856"/>
            <a:ext cx="292608" cy="292608"/>
          </a:xfrm>
          <a:prstGeom prst="rect">
            <a:avLst/>
          </a:prstGeom>
        </p:spPr>
      </p:pic>
      <p:sp>
        <p:nvSpPr>
          <p:cNvPr id="20" name="Text 14"/>
          <p:cNvSpPr/>
          <p:nvPr/>
        </p:nvSpPr>
        <p:spPr>
          <a:xfrm>
            <a:off x="4800600" y="3264408"/>
            <a:ext cx="3566160" cy="274320"/>
          </a:xfrm>
          <a:prstGeom prst="rect">
            <a:avLst/>
          </a:prstGeom>
          <a:noFill/>
          <a:ln/>
        </p:spPr>
        <p:txBody>
          <a:bodyPr wrap="square" lIns="0" tIns="0" rIns="0" bIns="0" rtlCol="0" anchor="ctr"/>
          <a:lstStyle/>
          <a:p>
            <a:pPr indent="0" marL="0">
              <a:buNone/>
            </a:pPr>
            <a:r>
              <a:rPr lang="en-US" sz="1400" b="1" dirty="0">
                <a:solidFill>
                  <a:srgbClr val="F5F5F5"/>
                </a:solidFill>
                <a:latin typeface="Space Grotesk" pitchFamily="34" charset="0"/>
                <a:ea typeface="Space Grotesk" pitchFamily="34" charset="-122"/>
                <a:cs typeface="Space Grotesk" pitchFamily="34" charset="-120"/>
              </a:rPr>
              <a:t>Claude</a:t>
            </a:r>
            <a:endParaRPr lang="en-US" sz="1400" dirty="0"/>
          </a:p>
        </p:txBody>
      </p:sp>
      <p:sp>
        <p:nvSpPr>
          <p:cNvPr id="21" name="Text 15"/>
          <p:cNvSpPr/>
          <p:nvPr/>
        </p:nvSpPr>
        <p:spPr>
          <a:xfrm>
            <a:off x="4800600" y="3557016"/>
            <a:ext cx="3566160" cy="228600"/>
          </a:xfrm>
          <a:prstGeom prst="rect">
            <a:avLst/>
          </a:prstGeom>
          <a:noFill/>
          <a:ln/>
        </p:spPr>
        <p:txBody>
          <a:bodyPr wrap="square" lIns="0" tIns="0" rIns="0" bIns="0" rtlCol="0" anchor="ctr"/>
          <a:lstStyle/>
          <a:p>
            <a:pPr indent="0" marL="0">
              <a:buNone/>
            </a:pPr>
            <a:r>
              <a:rPr lang="en-US" sz="950" dirty="0">
                <a:solidFill>
                  <a:srgbClr val="03CEA4"/>
                </a:solidFill>
                <a:latin typeface="Inter" pitchFamily="34" charset="0"/>
                <a:ea typeface="Inter" pitchFamily="34" charset="-122"/>
                <a:cs typeface="Inter" pitchFamily="34" charset="-120"/>
              </a:rPr>
              <a:t>AI full-stack development</a:t>
            </a:r>
            <a:endParaRPr lang="en-US" sz="950" dirty="0"/>
          </a:p>
        </p:txBody>
      </p:sp>
      <p:sp>
        <p:nvSpPr>
          <p:cNvPr id="22" name="Text 16"/>
          <p:cNvSpPr/>
          <p:nvPr/>
        </p:nvSpPr>
        <p:spPr>
          <a:xfrm>
            <a:off x="4800600" y="3831336"/>
            <a:ext cx="3566160" cy="685800"/>
          </a:xfrm>
          <a:prstGeom prst="rect">
            <a:avLst/>
          </a:prstGeom>
          <a:noFill/>
          <a:ln/>
        </p:spPr>
        <p:txBody>
          <a:bodyPr wrap="square" lIns="0" tIns="0" rIns="0" bIns="0" rtlCol="0" anchor="ctr"/>
          <a:lstStyle/>
          <a:p>
            <a:pPr indent="0" marL="0">
              <a:lnSpc>
                <a:spcPct val="115000"/>
              </a:lnSpc>
              <a:buNone/>
            </a:pPr>
            <a:r>
              <a:rPr lang="en-US" sz="1000" dirty="0">
                <a:solidFill>
                  <a:srgbClr val="A3A3A3"/>
                </a:solidFill>
                <a:latin typeface="Inter" pitchFamily="34" charset="0"/>
                <a:ea typeface="Inter" pitchFamily="34" charset="-122"/>
                <a:cs typeface="Inter" pitchFamily="34" charset="-120"/>
              </a:rPr>
              <a:t>Builds across the monorepo, writes the docs — and made this deck. Never asked for equity.</a:t>
            </a:r>
            <a:endParaRPr lang="en-US" sz="1000" dirty="0"/>
          </a:p>
        </p:txBody>
      </p:sp>
      <p:sp>
        <p:nvSpPr>
          <p:cNvPr id="23" name="Text 17"/>
          <p:cNvSpPr/>
          <p:nvPr/>
        </p:nvSpPr>
        <p:spPr>
          <a:xfrm>
            <a:off x="548640" y="4773168"/>
            <a:ext cx="7315200" cy="274320"/>
          </a:xfrm>
          <a:prstGeom prst="rect">
            <a:avLst/>
          </a:prstGeom>
          <a:noFill/>
          <a:ln/>
        </p:spPr>
        <p:txBody>
          <a:bodyPr wrap="square" lIns="0" tIns="0" rIns="0" bIns="0" rtlCol="0" anchor="ctr"/>
          <a:lstStyle/>
          <a:p>
            <a:pPr algn="l" indent="0" marL="0">
              <a:buNone/>
            </a:pPr>
            <a:r>
              <a:rPr lang="en-US" sz="1100" dirty="0">
                <a:solidFill>
                  <a:srgbClr val="A3A3A3"/>
                </a:solidFill>
                <a:latin typeface="Inter" pitchFamily="34" charset="0"/>
                <a:ea typeface="Inter" pitchFamily="34" charset="-122"/>
                <a:cs typeface="Inter" pitchFamily="34" charset="-120"/>
              </a:rPr>
              <a:t>Built the way RateLoop expects the future to work: </a:t>
            </a:r>
            <a:pPr algn="l" indent="0" marL="0">
              <a:buNone/>
            </a:pPr>
            <a:r>
              <a:rPr lang="en-US" sz="1100" b="1" dirty="0">
                <a:solidFill>
                  <a:srgbClr val="F5F5F5"/>
                </a:solidFill>
                <a:latin typeface="Inter" pitchFamily="34" charset="0"/>
                <a:ea typeface="Inter" pitchFamily="34" charset="-122"/>
                <a:cs typeface="Inter" pitchFamily="34" charset="-120"/>
              </a:rPr>
              <a:t>agents do the labor, humans provide the judgment.</a:t>
            </a:r>
            <a:endParaRPr lang="en-US" sz="1100" dirty="0"/>
          </a:p>
        </p:txBody>
      </p:sp>
      <p:sp>
        <p:nvSpPr>
          <p:cNvPr id="24" name="Text 18"/>
          <p:cNvSpPr/>
          <p:nvPr/>
        </p:nvSpPr>
        <p:spPr>
          <a:xfrm>
            <a:off x="8412480" y="4773168"/>
            <a:ext cx="274320" cy="201168"/>
          </a:xfrm>
          <a:prstGeom prst="rect">
            <a:avLst/>
          </a:prstGeom>
          <a:noFill/>
          <a:ln/>
        </p:spPr>
        <p:txBody>
          <a:bodyPr wrap="square" lIns="0" tIns="0" rIns="0" bIns="0" rtlCol="0" anchor="ctr"/>
          <a:lstStyle/>
          <a:p>
            <a:pPr algn="r" indent="0" marL="0">
              <a:buNone/>
            </a:pPr>
            <a:r>
              <a:rPr lang="en-US" sz="900" dirty="0">
                <a:solidFill>
                  <a:srgbClr val="737373"/>
                </a:solidFill>
                <a:latin typeface="Inter" pitchFamily="34" charset="0"/>
                <a:ea typeface="Inter" pitchFamily="34" charset="-122"/>
                <a:cs typeface="Inter"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assets/ring.png">    </p:cNvPr>
          <p:cNvPicPr>
            <a:picLocks noChangeAspect="1"/>
          </p:cNvPicPr>
          <p:nvPr/>
        </p:nvPicPr>
        <p:blipFill>
          <a:blip r:embed="rId1"/>
          <a:stretch>
            <a:fillRect/>
          </a:stretch>
        </p:blipFill>
        <p:spPr>
          <a:xfrm>
            <a:off x="4142232" y="475488"/>
            <a:ext cx="859536" cy="859536"/>
          </a:xfrm>
          <a:prstGeom prst="rect">
            <a:avLst/>
          </a:prstGeom>
        </p:spPr>
      </p:pic>
      <p:sp>
        <p:nvSpPr>
          <p:cNvPr id="3" name="Text 0"/>
          <p:cNvSpPr/>
          <p:nvPr/>
        </p:nvSpPr>
        <p:spPr>
          <a:xfrm>
            <a:off x="548640" y="1481328"/>
            <a:ext cx="8046720" cy="548640"/>
          </a:xfrm>
          <a:prstGeom prst="rect">
            <a:avLst/>
          </a:prstGeom>
          <a:noFill/>
          <a:ln/>
        </p:spPr>
        <p:txBody>
          <a:bodyPr wrap="square" lIns="0" tIns="0" rIns="0" bIns="0" rtlCol="0" anchor="ctr"/>
          <a:lstStyle/>
          <a:p>
            <a:pPr algn="ctr" indent="0" marL="0">
              <a:buNone/>
            </a:pPr>
            <a:r>
              <a:rPr lang="en-US" sz="3000" b="1" dirty="0">
                <a:solidFill>
                  <a:srgbClr val="F5F5F5"/>
                </a:solidFill>
                <a:latin typeface="Space Grotesk" pitchFamily="34" charset="0"/>
                <a:ea typeface="Space Grotesk" pitchFamily="34" charset="-122"/>
                <a:cs typeface="Space Grotesk" pitchFamily="34" charset="-120"/>
              </a:rPr>
              <a:t>The </a:t>
            </a:r>
            <a:pPr algn="ctr" indent="0" marL="0">
              <a:buNone/>
            </a:pPr>
            <a:r>
              <a:rPr lang="en-US" sz="3000" b="1" dirty="0">
                <a:solidFill>
                  <a:srgbClr val="03CEA4"/>
                </a:solidFill>
                <a:latin typeface="Space Grotesk" pitchFamily="34" charset="0"/>
                <a:ea typeface="Space Grotesk" pitchFamily="34" charset="-122"/>
                <a:cs typeface="Space Grotesk" pitchFamily="34" charset="-120"/>
              </a:rPr>
              <a:t>human layer</a:t>
            </a:r>
            <a:pPr algn="ctr" indent="0" marL="0">
              <a:buNone/>
            </a:pPr>
            <a:r>
              <a:rPr lang="en-US" sz="3000" b="1" dirty="0">
                <a:solidFill>
                  <a:srgbClr val="F5F5F5"/>
                </a:solidFill>
                <a:latin typeface="Space Grotesk" pitchFamily="34" charset="0"/>
                <a:ea typeface="Space Grotesk" pitchFamily="34" charset="-122"/>
                <a:cs typeface="Space Grotesk" pitchFamily="34" charset="-120"/>
              </a:rPr>
              <a:t> for agent decisions</a:t>
            </a:r>
            <a:endParaRPr lang="en-US" sz="3000" dirty="0"/>
          </a:p>
        </p:txBody>
      </p:sp>
      <p:sp>
        <p:nvSpPr>
          <p:cNvPr id="4" name="Text 1"/>
          <p:cNvSpPr/>
          <p:nvPr/>
        </p:nvSpPr>
        <p:spPr>
          <a:xfrm>
            <a:off x="1280160" y="2121408"/>
            <a:ext cx="6583680" cy="502920"/>
          </a:xfrm>
          <a:prstGeom prst="rect">
            <a:avLst/>
          </a:prstGeom>
          <a:noFill/>
          <a:ln/>
        </p:spPr>
        <p:txBody>
          <a:bodyPr wrap="square" lIns="0" tIns="0" rIns="0" bIns="0" rtlCol="0" anchor="ctr"/>
          <a:lstStyle/>
          <a:p>
            <a:pPr algn="ctr" indent="0" marL="0">
              <a:lnSpc>
                <a:spcPct val="125000"/>
              </a:lnSpc>
              <a:buNone/>
            </a:pPr>
            <a:r>
              <a:rPr lang="en-US" sz="1200" dirty="0">
                <a:solidFill>
                  <a:srgbClr val="A3A3A3"/>
                </a:solidFill>
                <a:latin typeface="Inter" pitchFamily="34" charset="0"/>
                <a:ea typeface="Inter" pitchFamily="34" charset="-122"/>
                <a:cs typeface="Inter" pitchFamily="34" charset="-120"/>
              </a:rPr>
              <a:t>Public, on-chain, reusable judgment — open participation, verified-human trust, open source.</a:t>
            </a:r>
            <a:endParaRPr lang="en-US" sz="1200" dirty="0"/>
          </a:p>
        </p:txBody>
      </p:sp>
      <p:sp>
        <p:nvSpPr>
          <p:cNvPr id="5" name="Shape 2"/>
          <p:cNvSpPr/>
          <p:nvPr/>
        </p:nvSpPr>
        <p:spPr>
          <a:xfrm>
            <a:off x="777240" y="2880360"/>
            <a:ext cx="2468880" cy="1325880"/>
          </a:xfrm>
          <a:prstGeom prst="roundRect">
            <a:avLst>
              <a:gd name="adj" fmla="val 4828"/>
            </a:avLst>
          </a:prstGeom>
          <a:solidFill>
            <a:srgbClr val="121212"/>
          </a:solidFill>
          <a:ln w="9525">
            <a:solidFill>
              <a:srgbClr val="222222"/>
            </a:solidFill>
            <a:prstDash val="solid"/>
          </a:ln>
        </p:spPr>
      </p:sp>
      <p:sp>
        <p:nvSpPr>
          <p:cNvPr id="6" name="Text 3"/>
          <p:cNvSpPr/>
          <p:nvPr/>
        </p:nvSpPr>
        <p:spPr>
          <a:xfrm>
            <a:off x="960120" y="3044952"/>
            <a:ext cx="2103120" cy="320040"/>
          </a:xfrm>
          <a:prstGeom prst="rect">
            <a:avLst/>
          </a:prstGeom>
          <a:noFill/>
          <a:ln/>
        </p:spPr>
        <p:txBody>
          <a:bodyPr wrap="square" lIns="0" tIns="0" rIns="0" bIns="0" rtlCol="0" anchor="ctr"/>
          <a:lstStyle/>
          <a:p>
            <a:pPr indent="0" marL="0">
              <a:buNone/>
            </a:pPr>
            <a:r>
              <a:rPr lang="en-US" sz="1500" b="1" dirty="0">
                <a:solidFill>
                  <a:srgbClr val="359EEE"/>
                </a:solidFill>
                <a:latin typeface="Space Grotesk" pitchFamily="34" charset="0"/>
                <a:ea typeface="Space Grotesk" pitchFamily="34" charset="-122"/>
                <a:cs typeface="Space Grotesk" pitchFamily="34" charset="-120"/>
              </a:rPr>
              <a:t>Base mainnet</a:t>
            </a:r>
            <a:endParaRPr lang="en-US" sz="1500" dirty="0"/>
          </a:p>
        </p:txBody>
      </p:sp>
      <p:sp>
        <p:nvSpPr>
          <p:cNvPr id="7" name="Text 4"/>
          <p:cNvSpPr/>
          <p:nvPr/>
        </p:nvSpPr>
        <p:spPr>
          <a:xfrm>
            <a:off x="960120" y="3392424"/>
            <a:ext cx="2103120" cy="731520"/>
          </a:xfrm>
          <a:prstGeom prst="rect">
            <a:avLst/>
          </a:prstGeom>
          <a:noFill/>
          <a:ln/>
        </p:spPr>
        <p:txBody>
          <a:bodyPr wrap="square" lIns="0" tIns="0" rIns="0" bIns="0" rtlCol="0" anchor="ctr"/>
          <a:lstStyle/>
          <a:p>
            <a:pPr indent="0" marL="0">
              <a:lnSpc>
                <a:spcPct val="115000"/>
              </a:lnSpc>
              <a:buNone/>
            </a:pPr>
            <a:r>
              <a:rPr lang="en-US" sz="950" dirty="0">
                <a:solidFill>
                  <a:srgbClr val="A3A3A3"/>
                </a:solidFill>
                <a:latin typeface="Inter" pitchFamily="34" charset="0"/>
                <a:ea typeface="Inter" pitchFamily="34" charset="-122"/>
                <a:cs typeface="Inter" pitchFamily="34" charset="-120"/>
              </a:rPr>
              <a:t>Live deployment — auditable, reusable rounds</a:t>
            </a:r>
            <a:endParaRPr lang="en-US" sz="950" dirty="0"/>
          </a:p>
        </p:txBody>
      </p:sp>
      <p:sp>
        <p:nvSpPr>
          <p:cNvPr id="8" name="Shape 5"/>
          <p:cNvSpPr/>
          <p:nvPr/>
        </p:nvSpPr>
        <p:spPr>
          <a:xfrm>
            <a:off x="3429000" y="2880360"/>
            <a:ext cx="2468880" cy="1325880"/>
          </a:xfrm>
          <a:prstGeom prst="roundRect">
            <a:avLst>
              <a:gd name="adj" fmla="val 4828"/>
            </a:avLst>
          </a:prstGeom>
          <a:solidFill>
            <a:srgbClr val="121212"/>
          </a:solidFill>
          <a:ln w="9525">
            <a:solidFill>
              <a:srgbClr val="222222"/>
            </a:solidFill>
            <a:prstDash val="solid"/>
          </a:ln>
        </p:spPr>
      </p:sp>
      <p:sp>
        <p:nvSpPr>
          <p:cNvPr id="9" name="Text 6"/>
          <p:cNvSpPr/>
          <p:nvPr/>
        </p:nvSpPr>
        <p:spPr>
          <a:xfrm>
            <a:off x="3611880" y="3044952"/>
            <a:ext cx="2103120" cy="320040"/>
          </a:xfrm>
          <a:prstGeom prst="rect">
            <a:avLst/>
          </a:prstGeom>
          <a:noFill/>
          <a:ln/>
        </p:spPr>
        <p:txBody>
          <a:bodyPr wrap="square" lIns="0" tIns="0" rIns="0" bIns="0" rtlCol="0" anchor="ctr"/>
          <a:lstStyle/>
          <a:p>
            <a:pPr indent="0" marL="0">
              <a:buNone/>
            </a:pPr>
            <a:r>
              <a:rPr lang="en-US" sz="1500" b="1" dirty="0">
                <a:solidFill>
                  <a:srgbClr val="FFC43D"/>
                </a:solidFill>
                <a:latin typeface="Space Grotesk" pitchFamily="34" charset="0"/>
                <a:ea typeface="Space Grotesk" pitchFamily="34" charset="-122"/>
                <a:cs typeface="Space Grotesk" pitchFamily="34" charset="-120"/>
              </a:rPr>
              <a:t>75M LREP</a:t>
            </a:r>
            <a:endParaRPr lang="en-US" sz="1500" dirty="0"/>
          </a:p>
        </p:txBody>
      </p:sp>
      <p:sp>
        <p:nvSpPr>
          <p:cNvPr id="10" name="Text 7"/>
          <p:cNvSpPr/>
          <p:nvPr/>
        </p:nvSpPr>
        <p:spPr>
          <a:xfrm>
            <a:off x="3611880" y="3392424"/>
            <a:ext cx="2103120" cy="731520"/>
          </a:xfrm>
          <a:prstGeom prst="rect">
            <a:avLst/>
          </a:prstGeom>
          <a:noFill/>
          <a:ln/>
        </p:spPr>
        <p:txBody>
          <a:bodyPr wrap="square" lIns="0" tIns="0" rIns="0" bIns="0" rtlCol="0" anchor="ctr"/>
          <a:lstStyle/>
          <a:p>
            <a:pPr indent="0" marL="0">
              <a:lnSpc>
                <a:spcPct val="115000"/>
              </a:lnSpc>
              <a:buNone/>
            </a:pPr>
            <a:r>
              <a:rPr lang="en-US" sz="950" dirty="0">
                <a:solidFill>
                  <a:srgbClr val="A3A3A3"/>
                </a:solidFill>
                <a:latin typeface="Inter" pitchFamily="34" charset="0"/>
                <a:ea typeface="Inter" pitchFamily="34" charset="-122"/>
                <a:cs typeface="Inter" pitchFamily="34" charset="-120"/>
              </a:rPr>
              <a:t>Launch pool: 42M verified &amp; referral · 24M raters · 9M contributors</a:t>
            </a:r>
            <a:endParaRPr lang="en-US" sz="950" dirty="0"/>
          </a:p>
        </p:txBody>
      </p:sp>
      <p:sp>
        <p:nvSpPr>
          <p:cNvPr id="11" name="Shape 8"/>
          <p:cNvSpPr/>
          <p:nvPr/>
        </p:nvSpPr>
        <p:spPr>
          <a:xfrm>
            <a:off x="6080760" y="2880360"/>
            <a:ext cx="2468880" cy="1325880"/>
          </a:xfrm>
          <a:prstGeom prst="roundRect">
            <a:avLst>
              <a:gd name="adj" fmla="val 4828"/>
            </a:avLst>
          </a:prstGeom>
          <a:solidFill>
            <a:srgbClr val="121212"/>
          </a:solidFill>
          <a:ln w="9525">
            <a:solidFill>
              <a:srgbClr val="222222"/>
            </a:solidFill>
            <a:prstDash val="solid"/>
          </a:ln>
        </p:spPr>
      </p:sp>
      <p:sp>
        <p:nvSpPr>
          <p:cNvPr id="12" name="Text 9"/>
          <p:cNvSpPr/>
          <p:nvPr/>
        </p:nvSpPr>
        <p:spPr>
          <a:xfrm>
            <a:off x="6263640" y="3044952"/>
            <a:ext cx="2103120" cy="320040"/>
          </a:xfrm>
          <a:prstGeom prst="rect">
            <a:avLst/>
          </a:prstGeom>
          <a:noFill/>
          <a:ln/>
        </p:spPr>
        <p:txBody>
          <a:bodyPr wrap="square" lIns="0" tIns="0" rIns="0" bIns="0" rtlCol="0" anchor="ctr"/>
          <a:lstStyle/>
          <a:p>
            <a:pPr indent="0" marL="0">
              <a:buNone/>
            </a:pPr>
            <a:r>
              <a:rPr lang="en-US" sz="1500" b="1" dirty="0">
                <a:solidFill>
                  <a:srgbClr val="EF476F"/>
                </a:solidFill>
                <a:latin typeface="Space Grotesk" pitchFamily="34" charset="0"/>
                <a:ea typeface="Space Grotesk" pitchFamily="34" charset="-122"/>
                <a:cs typeface="Space Grotesk" pitchFamily="34" charset="-120"/>
              </a:rPr>
              <a:t>Open protocol</a:t>
            </a:r>
            <a:endParaRPr lang="en-US" sz="1500" dirty="0"/>
          </a:p>
        </p:txBody>
      </p:sp>
      <p:sp>
        <p:nvSpPr>
          <p:cNvPr id="13" name="Text 10"/>
          <p:cNvSpPr/>
          <p:nvPr/>
        </p:nvSpPr>
        <p:spPr>
          <a:xfrm>
            <a:off x="6263640" y="3392424"/>
            <a:ext cx="2103120" cy="731520"/>
          </a:xfrm>
          <a:prstGeom prst="rect">
            <a:avLst/>
          </a:prstGeom>
          <a:noFill/>
          <a:ln/>
        </p:spPr>
        <p:txBody>
          <a:bodyPr wrap="square" lIns="0" tIns="0" rIns="0" bIns="0" rtlCol="0" anchor="ctr"/>
          <a:lstStyle/>
          <a:p>
            <a:pPr indent="0" marL="0">
              <a:lnSpc>
                <a:spcPct val="115000"/>
              </a:lnSpc>
              <a:buNone/>
            </a:pPr>
            <a:r>
              <a:rPr lang="en-US" sz="950" dirty="0">
                <a:solidFill>
                  <a:srgbClr val="A3A3A3"/>
                </a:solidFill>
                <a:latin typeface="Inter" pitchFamily="34" charset="0"/>
                <a:ea typeface="Inter" pitchFamily="34" charset="-122"/>
                <a:cs typeface="Inter" pitchFamily="34" charset="-120"/>
              </a:rPr>
              <a:t>MIT monorepo, permissionless settlement, public governance</a:t>
            </a:r>
            <a:endParaRPr lang="en-US" sz="950" dirty="0"/>
          </a:p>
        </p:txBody>
      </p:sp>
      <p:sp>
        <p:nvSpPr>
          <p:cNvPr id="14" name="Text 11"/>
          <p:cNvSpPr/>
          <p:nvPr/>
        </p:nvSpPr>
        <p:spPr>
          <a:xfrm>
            <a:off x="548640" y="4526280"/>
            <a:ext cx="8046720" cy="320040"/>
          </a:xfrm>
          <a:prstGeom prst="rect">
            <a:avLst/>
          </a:prstGeom>
          <a:noFill/>
          <a:ln/>
        </p:spPr>
        <p:txBody>
          <a:bodyPr wrap="square" lIns="0" tIns="0" rIns="0" bIns="0" rtlCol="0" anchor="ctr"/>
          <a:lstStyle/>
          <a:p>
            <a:pPr algn="ctr" indent="0" marL="0">
              <a:buNone/>
            </a:pPr>
            <a:r>
              <a:rPr lang="en-US" sz="1150" b="1" dirty="0">
                <a:solidFill>
                  <a:srgbClr val="F5F5F5"/>
                </a:solidFill>
                <a:latin typeface="Inter" pitchFamily="34" charset="0"/>
                <a:ea typeface="Inter" pitchFamily="34" charset="-122"/>
                <a:cs typeface="Inter" pitchFamily="34" charset="-120"/>
              </a:rPr>
              <a:t>rateloop.ai</a:t>
            </a:r>
            <a:pPr algn="ctr" indent="0" marL="0">
              <a:buNone/>
            </a:pPr>
            <a:r>
              <a:rPr lang="en-US" sz="1150" dirty="0">
                <a:solidFill>
                  <a:srgbClr val="737373"/>
                </a:solidFill>
                <a:latin typeface="Inter" pitchFamily="34" charset="0"/>
                <a:ea typeface="Inter" pitchFamily="34" charset="-122"/>
                <a:cs typeface="Inter" pitchFamily="34" charset="-120"/>
              </a:rPr>
              <a:t>      ·      </a:t>
            </a:r>
            <a:pPr algn="ctr" indent="0" marL="0">
              <a:buNone/>
            </a:pPr>
            <a:r>
              <a:rPr lang="en-US" sz="1150" dirty="0">
                <a:solidFill>
                  <a:srgbClr val="A3A3A3"/>
                </a:solidFill>
                <a:latin typeface="Inter" pitchFamily="34" charset="0"/>
                <a:ea typeface="Inter" pitchFamily="34" charset="-122"/>
                <a:cs typeface="Inter" pitchFamily="34" charset="-120"/>
              </a:rPr>
              <a:t>rateloop.ai/docs/ai</a:t>
            </a:r>
            <a:pPr algn="ctr" indent="0" marL="0">
              <a:buNone/>
            </a:pPr>
            <a:r>
              <a:rPr lang="en-US" sz="1150" dirty="0">
                <a:solidFill>
                  <a:srgbClr val="737373"/>
                </a:solidFill>
                <a:latin typeface="Inter" pitchFamily="34" charset="0"/>
                <a:ea typeface="Inter" pitchFamily="34" charset="-122"/>
                <a:cs typeface="Inter" pitchFamily="34" charset="-120"/>
              </a:rPr>
              <a:t>      ·      </a:t>
            </a:r>
            <a:pPr algn="ctr" indent="0" marL="0">
              <a:buNone/>
            </a:pPr>
            <a:r>
              <a:rPr lang="en-US" sz="1150" dirty="0">
                <a:solidFill>
                  <a:srgbClr val="A3A3A3"/>
                </a:solidFill>
                <a:latin typeface="Inter" pitchFamily="34" charset="0"/>
                <a:ea typeface="Inter" pitchFamily="34" charset="-122"/>
                <a:cs typeface="Inter" pitchFamily="34" charset="-120"/>
              </a:rPr>
              <a:t>github.com/Noc2/RateLoop</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RateLoop — Level Up Your Agent</dc:title>
  <dc:subject>PptxGenJS Presentation</dc:subject>
  <dc:creator>RateLoop</dc:creator>
  <cp:lastModifiedBy>RateLoop</cp:lastModifiedBy>
  <cp:revision>1</cp:revision>
  <dcterms:created xsi:type="dcterms:W3CDTF">2026-07-08T17:18:48Z</dcterms:created>
  <dcterms:modified xsi:type="dcterms:W3CDTF">2026-07-08T17:18:48Z</dcterms:modified>
</cp:coreProperties>
</file>